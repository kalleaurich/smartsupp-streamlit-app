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60" r:id="rId5"/>
    <p:sldId id="261" r:id="rId6"/>
    <p:sldId id="263" r:id="rId7"/>
    <p:sldId id="264" r:id="rId8"/>
    <p:sldId id="265" r:id="rId9"/>
    <p:sldId id="266" r:id="rId10"/>
    <p:sldId id="267" r:id="rId11"/>
    <p:sldId id="268" r:id="rId12"/>
    <p:sldId id="269" r:id="rId13"/>
    <p:sldId id="277" r:id="rId14"/>
    <p:sldId id="270" r:id="rId15"/>
    <p:sldId id="278" r:id="rId16"/>
    <p:sldId id="271" r:id="rId17"/>
    <p:sldId id="272" r:id="rId18"/>
    <p:sldId id="273" r:id="rId19"/>
    <p:sldId id="279" r:id="rId20"/>
    <p:sldId id="274" r:id="rId21"/>
    <p:sldId id="280" r:id="rId22"/>
    <p:sldId id="275" r:id="rId23"/>
    <p:sldId id="276" r:id="rId2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83"/>
    <p:restoredTop sz="75194"/>
  </p:normalViewPr>
  <p:slideViewPr>
    <p:cSldViewPr snapToGrid="0">
      <p:cViewPr varScale="1">
        <p:scale>
          <a:sx n="82" d="100"/>
          <a:sy n="82" d="100"/>
        </p:scale>
        <p:origin x="89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dirty="0"/>
          </a:p>
        </p:txBody>
      </p:sp>
      <p:sp>
        <p:nvSpPr>
          <p:cNvPr id="3" name="Date Placeholder"/>
          <p:cNvSpPr>
            <a:spLocks noGrp="1"/>
          </p:cNvSpPr>
          <p:nvPr>
            <p:ph type="dt" sz="quarter" idx="1"/>
          </p:nvPr>
        </p:nvSpPr>
        <p:spPr>
          <a:prstGeom prst="rect">
            <a:avLst/>
          </a:prstGeom>
        </p:spPr>
        <p:txBody>
          <a:bodyPr/>
          <a:lstStyle/>
          <a:p>
            <a:endParaRPr dirty="0"/>
          </a:p>
        </p:txBody>
      </p:sp>
      <p:sp>
        <p:nvSpPr>
          <p:cNvPr id="4" name="Slide Image Placeholder"/>
          <p:cNvSpPr>
            <a:spLocks noGrp="1" noRot="1" noChangeAspect="1"/>
          </p:cNvSpPr>
          <p:nvPr>
            <p:ph type="sldImg" idx="2"/>
          </p:nvPr>
        </p:nvSpPr>
        <p:spPr>
          <a:prstGeom prst="rect">
            <a:avLst/>
          </a:prstGeom>
        </p:spPr>
        <p:txBody>
          <a:bodyPr/>
          <a:lstStyle/>
          <a:p>
            <a:endParaRPr dirty="0"/>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dirty="0"/>
          </a:p>
        </p:txBody>
      </p:sp>
      <p:sp>
        <p:nvSpPr>
          <p:cNvPr id="7" name="Slide Number Placeholder"/>
          <p:cNvSpPr>
            <a:spLocks noGrp="1"/>
          </p:cNvSpPr>
          <p:nvPr>
            <p:ph type="sldNum" sz="quarter" idx="5"/>
          </p:nvPr>
        </p:nvSpPr>
        <p:spPr>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panose="020B0004020202020204" pitchFamily="34" charset="0"/>
                <a:ea typeface="Aptos" panose="020B0004020202020204" pitchFamily="34" charset="0"/>
                <a:cs typeface="Times New Roman" panose="02020603050405020304" pitchFamily="18" charset="0"/>
              </a:rPr>
              <a:t>Herzlich Willkommen zur Präsentation meines Projekts </a:t>
            </a:r>
            <a:r>
              <a:rPr lang="de-DE" sz="1800" b="1" dirty="0" err="1">
                <a:effectLst/>
                <a:latin typeface="Aptos" panose="020B0004020202020204" pitchFamily="34" charset="0"/>
                <a:ea typeface="Aptos" panose="020B0004020202020204" pitchFamily="34" charset="0"/>
                <a:cs typeface="Times New Roman" panose="02020603050405020304" pitchFamily="18" charset="0"/>
              </a:rPr>
              <a:t>SmartSupp</a:t>
            </a:r>
            <a:r>
              <a:rPr lang="de-DE" sz="2800" dirty="0">
                <a:effectLst/>
              </a:rPr>
              <a:t> </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dirty="0">
                <a:effectLst/>
                <a:latin typeface="Aptos" panose="020B0004020202020204" pitchFamily="34" charset="0"/>
                <a:ea typeface="Aptos" panose="020B000402020202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err="1">
                <a:effectLst/>
                <a:latin typeface="Aptos" panose="020B0004020202020204" pitchFamily="34" charset="0"/>
                <a:ea typeface="Aptos" panose="020B0004020202020204" pitchFamily="34" charset="0"/>
                <a:cs typeface="Times New Roman" panose="02020603050405020304" pitchFamily="18" charset="0"/>
              </a:rPr>
              <a:t>SmartSupp</a:t>
            </a:r>
            <a:r>
              <a:rPr lang="de-DE" sz="1800" dirty="0">
                <a:effectLst/>
                <a:latin typeface="Aptos" panose="020B0004020202020204" pitchFamily="34" charset="0"/>
                <a:ea typeface="Aptos" panose="020B0004020202020204" pitchFamily="34" charset="0"/>
                <a:cs typeface="Times New Roman" panose="02020603050405020304" pitchFamily="18" charset="0"/>
              </a:rPr>
              <a:t> ist ein KI-gestützter Coach für Leute, die Supplements nehmen und ihren Trainingsfortschritt tracken wollen.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Aptos" panose="020B0004020202020204" pitchFamily="34" charset="0"/>
                <a:ea typeface="Aptos" panose="020B0004020202020204" pitchFamily="34" charset="0"/>
                <a:cs typeface="Times New Roman" panose="02020603050405020304" pitchFamily="18" charset="0"/>
              </a:rPr>
              <a:t>Umgesetzt habe ich das Ganze nach dem QUA³CK-Prozessmodell, das wir in diesem Modul kennengelernt haben.</a:t>
            </a:r>
            <a:r>
              <a:rPr lang="de-DE" sz="2800" dirty="0">
                <a:effectLst/>
              </a:rPr>
              <a:t> </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Kurz zum Ablauf: Ich gehe entlang der fünf QUA³CK-Phasen durch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Erst sag ich was zur Problemstellung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Dann gehe ich die Datenbasis und die Modellierung durch und bespreche anschließend die fertigen Anwendung.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Am Ende zeige ich euch die App live und spreche auch offen über die Grenzen des Projekts. </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Los geht's mit der Frage: Welches Problem lösen wir hier eigentlich?</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Ausgangslage: Der Supplement-Markt ist riesig und extrem marketing-getrieben. Viele Leute geben Geld für Produkte aus, deren Wirkung kaum belegt ist - ein Beispiel hierfür ist BCAA </a:t>
            </a:r>
            <a:r>
              <a:rPr lang="de-DE" sz="2800" b="0" i="0" dirty="0">
                <a:solidFill>
                  <a:srgbClr val="EEF0FF"/>
                </a:solidFill>
                <a:effectLst/>
                <a:latin typeface="Google Sans"/>
              </a:rPr>
              <a:t>verzweigtkettige Aminosäuren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dazu komme ich später nochmal.</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Zweites Problem: Standard-Dosierungsempfehlungen ignorieren komplett, wer die Person eigentlich ist, Alter, Gewicht, Trainingsstand spielen also kaum eine Rolle.</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Und drittens fehlt der Rückkopplungs-Effekt: Man nimmt ein Supplement und trainiert —ob die Einnahme am Ende wirklich etwas gebracht hat, bleibt meistens Bauchgefühl.</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Lücke, die ich schließen will: eine Plattform, die Modell-Prognosen nicht blind ausgibt, sondern mit echter Evidenz absichert.</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Damit sind wir in der Datenverständnis-Phase. Ich arbeite bewusst mit drei getrennten Datensätzen.</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Datensatz eins ist mein Klassifikator-Datensatz — der enthält Nutzerprofile und wie zufrieden sie mit ihrem jeweiligen Supplement waren. Daraus lernt das Modell später, was es empfehlen soll.</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Datensatz zwei ist mein Regressor-Datensatz — Dieser stellt Gewichtsverläufe über 200 Tage dar. Daraus soll das Modell lernen, wie sich Gewicht über Zeit entwickelt.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Und Datensatz drei dient als didaktische Brücke — er liefert zusätzliche Stammdaten wie Alter oder BMI, die ich mit dem zweiten Datensatz verknüpft habe, weil dort kein gemeinsamer Schlüssel vorhanden war.</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Diese saubere Trennung war mir wichtig, damit sich die beiden Modelle später nicht gegenseitig verwässern.</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beiden Haupt-Datensätze sind auch inhaltlich sehr unterschiedlich. </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Daten für die Produkt-Empfehlung bestehen hauptsächlich aus Text-Kategorien — Ernährungsform, Trainingsziel, Fitness-Level. Auffällig war hier: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Whey</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Protein und Kreatin dominieren den Datensatz massiv gegenüber allen anderen Supplements.</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Regressor-Daten dagegen sind numerische Zeitreihen — tägliche Kalorien, Schritte und so weiter. </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Kommen wir jetzt zur Skalierung:</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 numerischen Merkmale meines Datensatzes besitzen unterschiedliche Größenordnungen. Kalorienwerte bewegen sich zum Beispiel im Tausenderbereich, Trainingserfahrung nur zwischen eins und drei. Ohne Skalierung könnten Merkmale mit großen Zahlenwerten das Modell stärker beeinflussen, obwohl sie nicht automatisch wichtiger sind. Deshalb wurden alle numerischen Werte per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StandardScaler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auf eine vergleichbare Skala gebracht.</a:t>
            </a:r>
          </a:p>
          <a:p>
            <a:r>
              <a:rPr lang="de-DE" sz="1800" dirty="0">
                <a:effectLst/>
                <a:latin typeface="Aptos" panose="020B0004020202020204" pitchFamily="34" charset="0"/>
                <a:ea typeface="Aptos" panose="020B0004020202020204" pitchFamily="34" charset="0"/>
                <a:cs typeface="Times New Roman" panose="02020603050405020304" pitchFamily="18" charset="0"/>
              </a:rPr>
              <a:t>Wichtig ist dabei: Der </a:t>
            </a:r>
            <a:r>
              <a:rPr lang="de-DE" sz="1800" dirty="0" err="1">
                <a:effectLst/>
                <a:latin typeface="Aptos" panose="020B0004020202020204" pitchFamily="34" charset="0"/>
                <a:ea typeface="Aptos" panose="020B0004020202020204" pitchFamily="34" charset="0"/>
                <a:cs typeface="Times New Roman" panose="02020603050405020304" pitchFamily="18" charset="0"/>
              </a:rPr>
              <a:t>StandardScaler</a:t>
            </a:r>
            <a:r>
              <a:rPr lang="de-DE" sz="1800" dirty="0">
                <a:effectLst/>
                <a:latin typeface="Aptos" panose="020B0004020202020204" pitchFamily="34" charset="0"/>
                <a:ea typeface="Aptos" panose="020B0004020202020204" pitchFamily="34" charset="0"/>
                <a:cs typeface="Times New Roman" panose="02020603050405020304" pitchFamily="18" charset="0"/>
              </a:rPr>
              <a:t> wird ausschließlich auf den </a:t>
            </a:r>
            <a:r>
              <a:rPr lang="de-DE" sz="1800" b="1" dirty="0">
                <a:effectLst/>
                <a:latin typeface="Aptos" panose="020B0004020202020204" pitchFamily="34" charset="0"/>
                <a:ea typeface="Aptos" panose="020B0004020202020204" pitchFamily="34" charset="0"/>
                <a:cs typeface="Times New Roman" panose="02020603050405020304" pitchFamily="18" charset="0"/>
              </a:rPr>
              <a:t>Trainingsdaten</a:t>
            </a:r>
            <a:r>
              <a:rPr lang="de-DE" sz="1800" dirty="0">
                <a:effectLst/>
                <a:latin typeface="Aptos" panose="020B0004020202020204" pitchFamily="34" charset="0"/>
                <a:ea typeface="Aptos" panose="020B0004020202020204" pitchFamily="34" charset="0"/>
                <a:cs typeface="Times New Roman" panose="02020603050405020304" pitchFamily="18" charset="0"/>
              </a:rPr>
              <a:t> angepasst. Die dabei ermittelten Umrechnungsregeln werden anschließend unverändert auf die Testdaten angewendet. So verhindert man sogenanntes </a:t>
            </a:r>
            <a:r>
              <a:rPr lang="de-DE" sz="1800" b="1" dirty="0">
                <a:effectLst/>
                <a:latin typeface="Aptos" panose="020B0004020202020204" pitchFamily="34" charset="0"/>
                <a:ea typeface="Aptos" panose="020B0004020202020204" pitchFamily="34" charset="0"/>
                <a:cs typeface="Times New Roman" panose="02020603050405020304" pitchFamily="18" charset="0"/>
              </a:rPr>
              <a:t>Data </a:t>
            </a:r>
            <a:r>
              <a:rPr lang="de-DE" sz="1800" b="1" dirty="0" err="1">
                <a:effectLst/>
                <a:latin typeface="Aptos" panose="020B0004020202020204" pitchFamily="34" charset="0"/>
                <a:ea typeface="Aptos" panose="020B0004020202020204" pitchFamily="34" charset="0"/>
                <a:cs typeface="Times New Roman" panose="02020603050405020304" pitchFamily="18" charset="0"/>
              </a:rPr>
              <a:t>Leakage</a:t>
            </a:r>
            <a:r>
              <a:rPr lang="de-DE" sz="1800" dirty="0">
                <a:effectLst/>
                <a:latin typeface="Aptos" panose="020B0004020202020204" pitchFamily="34" charset="0"/>
                <a:ea typeface="Aptos" panose="020B0004020202020204" pitchFamily="34" charset="0"/>
                <a:cs typeface="Times New Roman" panose="02020603050405020304" pitchFamily="18" charset="0"/>
              </a:rPr>
              <a:t> – also, dass Informationen aus den Testdaten bereits während des Trainings genutzt werden. Dadurch bleibt die spätere Modellbewertung aussagekräftig.</a:t>
            </a:r>
            <a:r>
              <a:rPr lang="de-DE" sz="2800" dirty="0">
                <a:effectLst/>
              </a:rPr>
              <a:t> </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Feature-Auswahl:</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Für den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Klassifikator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verwende ich demografische und biometrische Merkmale wie Alter, Geschlecht, Größe, Gewicht, Körperfettanteil und Trainingstyp.</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Der </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Regressor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erhält dagegen Verhaltensdaten wie Kalorienzufuhr, Schritte, Trainingsdauer und Ermüdung.</a:t>
            </a:r>
          </a:p>
          <a:p>
            <a:r>
              <a:rPr lang="de-DE" sz="1800" dirty="0">
                <a:effectLst/>
                <a:latin typeface="Aptos" panose="020B0004020202020204" pitchFamily="34" charset="0"/>
                <a:ea typeface="Aptos" panose="020B0004020202020204" pitchFamily="34" charset="0"/>
                <a:cs typeface="Times New Roman" panose="02020603050405020304" pitchFamily="18" charset="0"/>
              </a:rPr>
              <a:t>Gleichzeitig wurden bewusst Merkmale ausgeschlossen, die erst </a:t>
            </a:r>
            <a:r>
              <a:rPr lang="de-DE" sz="1800" b="1" dirty="0">
                <a:effectLst/>
                <a:latin typeface="Aptos" panose="020B0004020202020204" pitchFamily="34" charset="0"/>
                <a:ea typeface="Aptos" panose="020B0004020202020204" pitchFamily="34" charset="0"/>
                <a:cs typeface="Times New Roman" panose="02020603050405020304" pitchFamily="18" charset="0"/>
              </a:rPr>
              <a:t>nach</a:t>
            </a:r>
            <a:r>
              <a:rPr lang="de-DE" sz="1800" dirty="0">
                <a:effectLst/>
                <a:latin typeface="Aptos" panose="020B0004020202020204" pitchFamily="34" charset="0"/>
                <a:ea typeface="Aptos" panose="020B0004020202020204" pitchFamily="34" charset="0"/>
                <a:cs typeface="Times New Roman" panose="02020603050405020304" pitchFamily="18" charset="0"/>
              </a:rPr>
              <a:t> der Supplement-Einnahme bekannt wären – beispielsweise eine tatsächliche Leistungssteigerung. Solche Informationen dürfte das Modell bei einer echten Vorhersage noch gar nicht kennen. Würden sie trotzdem verwendet, entstünde Data </a:t>
            </a:r>
            <a:r>
              <a:rPr lang="de-DE" sz="1800" dirty="0" err="1">
                <a:effectLst/>
                <a:latin typeface="Aptos" panose="020B0004020202020204" pitchFamily="34" charset="0"/>
                <a:ea typeface="Aptos" panose="020B0004020202020204" pitchFamily="34" charset="0"/>
                <a:cs typeface="Times New Roman" panose="02020603050405020304" pitchFamily="18" charset="0"/>
              </a:rPr>
              <a:t>Leakage</a:t>
            </a:r>
            <a:r>
              <a:rPr lang="de-DE" sz="1800" dirty="0">
                <a:effectLst/>
                <a:latin typeface="Aptos" panose="020B0004020202020204" pitchFamily="34" charset="0"/>
                <a:ea typeface="Aptos" panose="020B0004020202020204" pitchFamily="34" charset="0"/>
                <a:cs typeface="Times New Roman" panose="02020603050405020304" pitchFamily="18" charset="0"/>
              </a:rPr>
              <a:t> und die Modellleistung würde künstlich besser erscheinen.</a:t>
            </a:r>
            <a:r>
              <a:rPr lang="de-DE" sz="2800" dirty="0">
                <a:effectLst/>
              </a:rPr>
              <a:t> </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Alle Vorverarbeitungsschritte wurden in einer </a:t>
            </a:r>
            <a:r>
              <a:rPr lang="de-DE" sz="1800" b="1" kern="100" dirty="0" err="1">
                <a:effectLst/>
                <a:latin typeface="Aptos" panose="020B0004020202020204" pitchFamily="34" charset="0"/>
                <a:ea typeface="Aptos" panose="020B0004020202020204" pitchFamily="34" charset="0"/>
                <a:cs typeface="Times New Roman" panose="02020603050405020304" pitchFamily="18" charset="0"/>
              </a:rPr>
              <a:t>Preprocessing</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-Pipeline</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zusammengefasst.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Innerhalb dieser Pipeline verarbeitet ein </a:t>
            </a:r>
            <a:r>
              <a:rPr lang="de-DE" sz="1800" b="1" kern="100" dirty="0" err="1">
                <a:effectLst/>
                <a:latin typeface="Aptos" panose="020B0004020202020204" pitchFamily="34" charset="0"/>
                <a:ea typeface="Aptos" panose="020B0004020202020204" pitchFamily="34" charset="0"/>
                <a:cs typeface="Times New Roman" panose="02020603050405020304" pitchFamily="18" charset="0"/>
              </a:rPr>
              <a:t>ColumnTransformer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unterschiedliche Datentypen parallel.</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Kategoriale Merkmale werden mit dem </a:t>
            </a:r>
            <a:r>
              <a:rPr lang="de-DE" sz="1800" b="1" kern="100" dirty="0" err="1">
                <a:effectLst/>
                <a:latin typeface="Aptos" panose="020B0004020202020204" pitchFamily="34" charset="0"/>
                <a:ea typeface="Aptos" panose="020B0004020202020204" pitchFamily="34" charset="0"/>
                <a:cs typeface="Times New Roman" panose="02020603050405020304" pitchFamily="18" charset="0"/>
              </a:rPr>
              <a:t>OneHotEncoder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in numerische Werte umgewandelt, numerische Merkmale werden zunächst fehlertolerant ergänzt und anschließend mit dem </a:t>
            </a:r>
            <a:r>
              <a:rPr lang="de-DE" sz="1800" b="1" kern="100" dirty="0" err="1">
                <a:effectLst/>
                <a:latin typeface="Aptos" panose="020B0004020202020204" pitchFamily="34" charset="0"/>
                <a:ea typeface="Aptos" panose="020B0004020202020204" pitchFamily="34" charset="0"/>
                <a:cs typeface="Times New Roman" panose="02020603050405020304" pitchFamily="18" charset="0"/>
              </a:rPr>
              <a:t>StandardScaler</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skaliert.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Der Vorteil ist, dass dieselben Verarbeitungsschritte sowohl beim Training als auch später bei neuen Eingaben in der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Streamlit</a:t>
            </a:r>
            <a:r>
              <a:rPr lang="de-DE" sz="1800" kern="100">
                <a:effectLst/>
                <a:latin typeface="Aptos" panose="020B0004020202020204" pitchFamily="34" charset="0"/>
                <a:ea typeface="Aptos" panose="020B0004020202020204" pitchFamily="34" charset="0"/>
                <a:cs typeface="Times New Roman" panose="02020603050405020304" pitchFamily="18" charset="0"/>
              </a:rPr>
              <a:t>-App automatisch und in derselben Reihenfolge ausgeführt werden.</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Für die Supplement-Empfehlung wurden drei Klassifikationsalgorithmen verglichen: Random Forest, Support Vector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Machine</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und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Decision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Tree</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In der App wird standardmäßig der Random Forest verwendet da er sich gut für gemischte Datentypen wie numerische und kategoriale Merkmale eignet.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Er besteht aus 300 Entscheidungsbäumen, die unabhängig voneinander abstimmen. Dadurch entstehen robuste Vorhersagen und das Risiko von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Overfitting</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wird reduziert.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Das Modell erkennt also Muster anstatt auswendig </a:t>
            </a:r>
            <a:r>
              <a:rPr lang="de-DE" sz="1800" kern="100">
                <a:effectLst/>
                <a:latin typeface="Aptos" panose="020B0004020202020204" pitchFamily="34" charset="0"/>
                <a:ea typeface="Aptos" panose="020B0004020202020204" pitchFamily="34" charset="0"/>
                <a:cs typeface="Times New Roman" panose="02020603050405020304" pitchFamily="18" charset="0"/>
              </a:rPr>
              <a:t>zu lernen.</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de-DE" sz="1800" dirty="0">
                <a:effectLst/>
                <a:latin typeface="Aptos" panose="020B0004020202020204" pitchFamily="34" charset="0"/>
                <a:ea typeface="Aptos" panose="020B0004020202020204" pitchFamily="34" charset="0"/>
                <a:cs typeface="Times New Roman" panose="02020603050405020304" pitchFamily="18" charset="0"/>
              </a:rPr>
              <a:t>Über </a:t>
            </a:r>
            <a:r>
              <a:rPr lang="de-DE" sz="1800" dirty="0" err="1">
                <a:effectLst/>
                <a:latin typeface="Aptos" panose="020B0004020202020204" pitchFamily="34" charset="0"/>
                <a:ea typeface="Aptos" panose="020B0004020202020204" pitchFamily="34" charset="0"/>
                <a:cs typeface="Times New Roman" panose="02020603050405020304" pitchFamily="18" charset="0"/>
              </a:rPr>
              <a:t>predict_proba</a:t>
            </a:r>
            <a:r>
              <a:rPr lang="de-DE" sz="1800" dirty="0">
                <a:effectLst/>
                <a:latin typeface="Aptos" panose="020B0004020202020204" pitchFamily="34" charset="0"/>
                <a:ea typeface="Aptos" panose="020B0004020202020204" pitchFamily="34" charset="0"/>
                <a:cs typeface="Times New Roman" panose="02020603050405020304" pitchFamily="18" charset="0"/>
              </a:rPr>
              <a:t>() berechnet das Modell schließlich eine Wahrscheinlichkeitsverteilung über alle acht Supplement-Klassen. Genau diese Wahrscheinlichkeiten werden später als Prozentwerte in der App angezeigt.</a:t>
            </a:r>
            <a:r>
              <a:rPr lang="de-DE" sz="2800" dirty="0">
                <a:effectLst/>
              </a:rPr>
              <a:t> </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Nach demselben Prinzip funktioniert der zweite Baustein — ein Random Forest Regressor, der aus den vorhandenen Verhaltensdaten einen modellbasierten Referenzwert für das Gewicht berechnet.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Dieser Wert bildet die Grundlage für den Soll-Ist-Vergleich, den ich euch gleich in der App zeige. Dabei wird der vom Modell erwartete Wert mit dem tatsächlichen Gewicht verglichen. </a:t>
            </a:r>
            <a:r>
              <a:rPr lang="de-DE" sz="1800" kern="100">
                <a:effectLst/>
                <a:latin typeface="Aptos" panose="020B0004020202020204" pitchFamily="34" charset="0"/>
                <a:ea typeface="Aptos" panose="020B0004020202020204" pitchFamily="34" charset="0"/>
                <a:cs typeface="Times New Roman" panose="02020603050405020304" pitchFamily="18" charset="0"/>
              </a:rPr>
              <a:t>Größere Abweichungen können Hinweise auf eine unerwartete Entwicklung im Gewichtsverlauf geben und helfen dabei, Veränderungen frühzeitig einzuordnen.</a:t>
            </a:r>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Jetzt zur ehrlichen Bewertung. Bei acht möglichen Supplements läge reines Raten bei 12,5 Prozent Trefferquote. Mein Modell erreicht 28,5 Prozent auf ungesehenen Testdaten — also gut doppelt so gut wie der Zufall, aber weit weg von perfekt.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Das ist mir wichtig zu betonen: </a:t>
            </a:r>
            <a:r>
              <a:rPr lang="de-DE" sz="2800" dirty="0"/>
              <a:t>Die verfügbaren Trainingsdaten sind vergleichsweise klein und enthalten nur begrenzte Informationen über das tatsächliche Entscheidungsverhalten. Deshalb ist die Vorhersageaufgabe sehr anspruchsvoll.</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Beim Regressor sieht es ähnlich kritisch aus: Der R²-Wert liegt niedrig bis negativ auf den Validierungsdaten. Das heißt, dass tägliche Gewichtsschwankungen sehr viel Rauschen enthalten und sich aus Kalorien und Schritten allein kaum vorhersagen lassen. </a:t>
            </a:r>
          </a:p>
          <a:p>
            <a:r>
              <a:rPr lang="de-DE" sz="1800" dirty="0">
                <a:effectLst/>
                <a:latin typeface="Aptos" panose="020B0004020202020204" pitchFamily="34" charset="0"/>
                <a:ea typeface="Aptos" panose="020B0004020202020204" pitchFamily="34" charset="0"/>
                <a:cs typeface="Times New Roman" panose="02020603050405020304" pitchFamily="18" charset="0"/>
              </a:rPr>
              <a:t>Dabei ist es wichtig zu sagen, dass der Datensatz, den ich von </a:t>
            </a:r>
            <a:r>
              <a:rPr lang="de-DE" sz="1800" dirty="0" err="1">
                <a:effectLst/>
                <a:latin typeface="Aptos" panose="020B0004020202020204" pitchFamily="34" charset="0"/>
                <a:ea typeface="Aptos" panose="020B0004020202020204" pitchFamily="34" charset="0"/>
                <a:cs typeface="Times New Roman" panose="02020603050405020304" pitchFamily="18" charset="0"/>
              </a:rPr>
              <a:t>Kaggle</a:t>
            </a:r>
            <a:r>
              <a:rPr lang="de-DE" sz="1800" dirty="0">
                <a:effectLst/>
                <a:latin typeface="Aptos" panose="020B0004020202020204" pitchFamily="34" charset="0"/>
                <a:ea typeface="Aptos" panose="020B0004020202020204" pitchFamily="34" charset="0"/>
                <a:cs typeface="Times New Roman" panose="02020603050405020304" pitchFamily="18" charset="0"/>
              </a:rPr>
              <a:t> habe sehr ungenau ist, da dort das Gewicht zwischen einzelnen Tagen um bis zu 10 Kilo schwankt was natürlich kein Sinn macht. </a:t>
            </a:r>
          </a:p>
          <a:p>
            <a:r>
              <a:rPr lang="de-DE" sz="1800" dirty="0">
                <a:effectLst/>
                <a:latin typeface="Aptos" panose="020B0004020202020204" pitchFamily="34" charset="0"/>
                <a:ea typeface="Aptos" panose="020B0004020202020204" pitchFamily="34" charset="0"/>
                <a:cs typeface="Times New Roman" panose="02020603050405020304" pitchFamily="18" charset="0"/>
              </a:rPr>
              <a:t>Das deutet stark darauf hin, </a:t>
            </a:r>
            <a:r>
              <a:rPr lang="de-DE" sz="2800" dirty="0"/>
              <a:t>dass die Daten keine realistischen Trainingsverläufe widerspiegeln</a:t>
            </a:r>
            <a:r>
              <a:rPr lang="de-DE" sz="1800" dirty="0">
                <a:effectLst/>
                <a:latin typeface="Aptos" panose="020B0004020202020204" pitchFamily="34" charset="0"/>
                <a:ea typeface="Aptos" panose="020B0004020202020204" pitchFamily="34" charset="0"/>
                <a:cs typeface="Times New Roman" panose="02020603050405020304" pitchFamily="18" charset="0"/>
              </a:rPr>
              <a:t>. Das ist kein Implementierungsfehler meinerseits, sondern eine ehrliche Eigenschaft der Daten selbst. </a:t>
            </a:r>
            <a:r>
              <a:rPr lang="de-DE" sz="2800"/>
              <a:t>Genau deshalb betrachten wir das Modell nicht als absolute Wahrheit, sondern als unterstützenden Indikator, der zusammen mit weiteren Komponenten der App eine bessere Einschätzung ermöglicht.</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Um das nochmal greifbarer zu machen, hier zwei Visualisierungen. Links seht ihr den Vergleich von drei Algorithmen — Random Forest, SVM und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Decision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Tree</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 alle liegen klar über der Zufalls-Baseline von 12,5 Prozent, aber auch klar unter dem, was man sich wünschen würde.</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Rechts seht ihr Ist- gegen Prognose-Gewicht. Läge jeder Punkt exakt auf der roten Diagonale, wäre die Vorhersage perfekt. Die Streuung, die ihr hier seht, spiegelt den niedrigen R²-Wert wider.</a:t>
            </a:r>
          </a:p>
          <a:p>
            <a:endParaRPr lang="de-DE" dirty="0"/>
          </a:p>
        </p:txBody>
      </p:sp>
      <p:sp>
        <p:nvSpPr>
          <p:cNvPr id="4" name="Foliennummernplatzhalter 3"/>
          <p:cNvSpPr>
            <a:spLocks noGrp="1"/>
          </p:cNvSpPr>
          <p:nvPr>
            <p:ph type="sldNum" sz="quarter" idx="5"/>
          </p:nvPr>
        </p:nvSpPr>
        <p:spPr/>
        <p:txBody>
          <a:bodyPr/>
          <a:lstStyle/>
          <a:p>
            <a:endParaRPr lang="de-DE" dirty="0"/>
          </a:p>
        </p:txBody>
      </p:sp>
    </p:spTree>
    <p:extLst>
      <p:ext uri="{BB962C8B-B14F-4D97-AF65-F5344CB8AC3E}">
        <p14:creationId xmlns:p14="http://schemas.microsoft.com/office/powerpoint/2010/main" val="35668330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Und damit kommen wir zur Hybrid-Architektur meines Projekts. </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Weil das Modell allein nicht zuverlässig genug ist, habe ich es mit einem festen Regelwerk kombiniert.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Das Prinzip: Die KI liefert eine statistische Einschätzung, ein Regelwerk mit evidenzbasierten Heuristiken prüft diese Einschätzung nochmal — und erst daraus entsteht die eigentliche Handlungsempfehlung. </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Konkret heißt das: Eine Warnung wird nur ausgelöst, wenn sowohl die Modell-Sicherheit als auch die historische Wirksamkeit niedrig sind. Das verhindert, dass das System vorschnell und übervorsichtig warnt.</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Ein konkretes Beispiel dafür ist BCAA. Schaut euch diese Verteilung an: Kreatin erzielt im Datensatz die höchste mediane Leistungssteigerung, rund 9 Prozent. Proteinpulver liegt im Mittelfeld bei etwa 5 Prozent. BCAA dagegen bleibt bei nur rund 4 Prozent — obwohl es im Datensatz extrem beliebt ist.</a:t>
            </a:r>
          </a:p>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Das ist genau das Muster, das die BCAA-Sonderregel im Geld-Spar-Warnsystem aufgreift: hohe Beliebtheit heißt eben nicht automatisch hohe Wirksamkeit.</a:t>
            </a:r>
          </a:p>
          <a:p>
            <a:endParaRPr lang="de-DE" dirty="0"/>
          </a:p>
        </p:txBody>
      </p:sp>
      <p:sp>
        <p:nvSpPr>
          <p:cNvPr id="4" name="Foliennummernplatzhalter 3"/>
          <p:cNvSpPr>
            <a:spLocks noGrp="1"/>
          </p:cNvSpPr>
          <p:nvPr>
            <p:ph type="sldNum" sz="quarter" idx="5"/>
          </p:nvPr>
        </p:nvSpPr>
        <p:spPr/>
        <p:txBody>
          <a:bodyPr/>
          <a:lstStyle/>
          <a:p>
            <a:endParaRPr lang="de-DE" dirty="0"/>
          </a:p>
        </p:txBody>
      </p:sp>
    </p:spTree>
    <p:extLst>
      <p:ext uri="{BB962C8B-B14F-4D97-AF65-F5344CB8AC3E}">
        <p14:creationId xmlns:p14="http://schemas.microsoft.com/office/powerpoint/2010/main" val="3162571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Neben der Supplement-Auswahl selbst gibt die App auch Hinweise zu Dosierung und Timing — aber nicht aus dem Modell heraus, sondern aus festen, sportwissenschaftlich üblichen Richtwerten. </a:t>
            </a:r>
            <a:r>
              <a:rPr lang="de-DE" sz="2800" b="1" dirty="0"/>
              <a:t>Die App vergleicht die Kreatin-Dosierung mit dem empfohlenen Bereich von 3 bis 5 Gramm pro Tag. Die Proteinzufuhr wird anhand der sportwissenschaftlichen Empfehlung von 1,6 bis 2,2 Gramm pro Kilogramm Körpergewicht eingeordnet.</a:t>
            </a:r>
            <a:endParaRPr lang="de-DE"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Dazu kommen einfache Heuristiken zu Schlaf und Muskelkater fürs Timing — jeweils mit einem klaren Disclaimer, dass das allgemeine Richtwerte sind und keine individuelle Beratung ersetzen.</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800" dirty="0">
                <a:effectLst/>
                <a:latin typeface="Aptos" panose="020B0004020202020204" pitchFamily="34" charset="0"/>
                <a:ea typeface="Aptos" panose="020B0004020202020204" pitchFamily="34" charset="0"/>
                <a:cs typeface="Times New Roman" panose="02020603050405020304" pitchFamily="18" charset="0"/>
              </a:rPr>
              <a:t>Damit sind wir bei der letzten Phase: dem Wissenstransfer. Die trainierten Modelle werden </a:t>
            </a:r>
            <a:r>
              <a:rPr lang="de-DE" sz="2800" dirty="0"/>
              <a:t>als .</a:t>
            </a:r>
            <a:r>
              <a:rPr lang="de-DE" sz="2800" dirty="0" err="1"/>
              <a:t>pkl</a:t>
            </a:r>
            <a:r>
              <a:rPr lang="de-DE" sz="2800" dirty="0"/>
              <a:t>-Dateien gespeichert und anschließend in der </a:t>
            </a:r>
            <a:r>
              <a:rPr lang="de-DE" sz="2800" dirty="0" err="1"/>
              <a:t>Streamlit</a:t>
            </a:r>
            <a:r>
              <a:rPr lang="de-DE" sz="2800" dirty="0"/>
              <a:t>-App wieder geladen</a:t>
            </a:r>
            <a:r>
              <a:rPr lang="de-DE" sz="1800" dirty="0">
                <a:effectLst/>
                <a:latin typeface="Aptos" panose="020B0004020202020204" pitchFamily="34" charset="0"/>
                <a:ea typeface="Aptos" panose="020B0004020202020204" pitchFamily="34" charset="0"/>
                <a:cs typeface="Times New Roman" panose="02020603050405020304" pitchFamily="18" charset="0"/>
              </a:rPr>
              <a:t>. Das Frontend läuft über </a:t>
            </a:r>
            <a:r>
              <a:rPr lang="de-DE" sz="1800" dirty="0" err="1">
                <a:effectLst/>
                <a:latin typeface="Aptos" panose="020B0004020202020204" pitchFamily="34" charset="0"/>
                <a:ea typeface="Aptos" panose="020B0004020202020204" pitchFamily="34" charset="0"/>
                <a:cs typeface="Times New Roman" panose="02020603050405020304" pitchFamily="18" charset="0"/>
              </a:rPr>
              <a:t>Streamlit</a:t>
            </a:r>
            <a:r>
              <a:rPr lang="de-DE" sz="1800" dirty="0">
                <a:effectLst/>
                <a:latin typeface="Aptos" panose="020B0004020202020204" pitchFamily="34" charset="0"/>
                <a:ea typeface="Aptos" panose="020B0004020202020204" pitchFamily="34" charset="0"/>
                <a:cs typeface="Times New Roman" panose="02020603050405020304" pitchFamily="18" charset="0"/>
              </a:rPr>
              <a:t> als responsive Anwendung, und die Antwortzeit liegt im laufenden Betrieb bei unter 500 Millisekunden</a:t>
            </a:r>
            <a:r>
              <a:rPr lang="de-DE" dirty="0">
                <a:effectLst/>
              </a:rPr>
              <a:t> </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Kurz zur Bedienung, bevor ich es live zeige: Links steuert man über eine feste Sidebar das komplette Nutzerprofil, rechts reagiert die App sofort auf jede Änderung — ganz ohne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Neuladen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der Seite.</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lnSpc>
                <a:spcPct val="115000"/>
              </a:lnSpc>
              <a:spcAft>
                <a:spcPts val="800"/>
              </a:spcAft>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Hier seht ihr die Sidebar im Detail. Die Sidebar steuert Profil &amp; Modellwahl live.</a:t>
            </a:r>
            <a:r>
              <a:rPr lang="de-DE" sz="1800" b="1"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Links das Nutzerprofil — Alter, Körpergröße, Fitness-Level und so weiter, alles live editierbar. Und eine Funktion mit der man live zwischen Random Forest, SVM und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Decision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Tree</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wechseln kann und sofort die echte Test-Genauigkeit auf den ungesehenen Daten sieht. </a:t>
            </a:r>
            <a:r>
              <a:rPr lang="de-DE" sz="2800" dirty="0"/>
              <a:t>Dadurch lässt sich unmittelbar vergleichen, wie sich unterschiedliche Algorithmen auf die Modellgüte auswirken.</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de-DE" dirty="0"/>
          </a:p>
        </p:txBody>
      </p:sp>
      <p:sp>
        <p:nvSpPr>
          <p:cNvPr id="4" name="Foliennummernplatzhalter 3"/>
          <p:cNvSpPr>
            <a:spLocks noGrp="1"/>
          </p:cNvSpPr>
          <p:nvPr>
            <p:ph type="sldNum" sz="quarter" idx="5"/>
          </p:nvPr>
        </p:nvSpPr>
        <p:spPr/>
        <p:txBody>
          <a:bodyPr/>
          <a:lstStyle/>
          <a:p>
            <a:endParaRPr lang="de-DE" dirty="0"/>
          </a:p>
        </p:txBody>
      </p:sp>
    </p:spTree>
    <p:extLst>
      <p:ext uri="{BB962C8B-B14F-4D97-AF65-F5344CB8AC3E}">
        <p14:creationId xmlns:p14="http://schemas.microsoft.com/office/powerpoint/2010/main" val="30383866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Die App selbst ist in zwei Tabs aufgeteilt: Ein Einstiegs-Rechner für die Supplement-Empfehlung und ein Fortschritts-Tracker, der das aktuelle Gewicht mit einem modellbasierten Soll-Wert vergleicht. Schauen wir uns beides direkt an der echten App an.</a:t>
            </a:r>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kern="100" dirty="0">
                <a:effectLst/>
                <a:latin typeface="Aptos" panose="020B0004020202020204" pitchFamily="34" charset="0"/>
                <a:ea typeface="Aptos" panose="020B0004020202020204" pitchFamily="34" charset="0"/>
                <a:cs typeface="Times New Roman" panose="02020603050405020304" pitchFamily="18" charset="0"/>
              </a:rPr>
              <a:t>Zum Schluss die Zusammenfassung. Drei Dinge waren mir besonders wichtig: Erstens Transparenz — ich zeige die 28,5 Prozent </a:t>
            </a:r>
            <a:r>
              <a:rPr lang="de-DE" sz="1800" kern="100" dirty="0" err="1">
                <a:effectLst/>
                <a:latin typeface="Aptos" panose="020B0004020202020204" pitchFamily="34" charset="0"/>
                <a:ea typeface="Aptos" panose="020B0004020202020204" pitchFamily="34" charset="0"/>
                <a:cs typeface="Times New Roman" panose="02020603050405020304" pitchFamily="18" charset="0"/>
              </a:rPr>
              <a:t>Accuracy</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und das negative R² offen, statt sie zu verstecken. Zweitens Korrektur — das Hybrid-System aus Modell und Regeln fängt genau die Verzerrungen ab, die in den Trainingsdaten stecken. Und drittens der Mehrwert: Am Ende steht ein Prototyp, der methodisch sauber ist und trotzdem praktisch nutzbar bleibt.</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de-DE" sz="1800" i="1" kern="100" dirty="0">
                <a:effectLst/>
                <a:latin typeface="Aptos" panose="020B0004020202020204" pitchFamily="34" charset="0"/>
                <a:ea typeface="Aptos" panose="020B0004020202020204" pitchFamily="34" charset="0"/>
                <a:cs typeface="Times New Roman" panose="02020603050405020304" pitchFamily="18" charset="0"/>
              </a:rPr>
              <a:t>Zum Abschluss werfen wir einen Blick auf die Zukunft von </a:t>
            </a:r>
            <a:r>
              <a:rPr lang="de-DE" sz="1800" i="1" kern="100" dirty="0" err="1">
                <a:effectLst/>
                <a:latin typeface="Aptos" panose="020B0004020202020204" pitchFamily="34" charset="0"/>
                <a:ea typeface="Aptos" panose="020B0004020202020204" pitchFamily="34" charset="0"/>
                <a:cs typeface="Times New Roman" panose="02020603050405020304" pitchFamily="18" charset="0"/>
              </a:rPr>
              <a:t>SmartSupp</a:t>
            </a:r>
            <a:r>
              <a:rPr lang="de-DE" sz="1800" i="1" kern="100" dirty="0">
                <a:effectLst/>
                <a:latin typeface="Aptos" panose="020B0004020202020204" pitchFamily="34" charset="0"/>
                <a:ea typeface="Aptos" panose="020B0004020202020204" pitchFamily="34" charset="0"/>
                <a:cs typeface="Times New Roman" panose="02020603050405020304" pitchFamily="18" charset="0"/>
              </a:rPr>
              <a:t>:</a:t>
            </a:r>
            <a:endParaRPr lang="de-DE"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itchFamily="2" charset="2"/>
              <a:buChar char=""/>
              <a:tabLst>
                <a:tab pos="457200" algn="l"/>
              </a:tabLst>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Erstens die Datenbank-Persistenz:</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Aktuell ist die App vergesslich. Sobald das Browser-Tab schließt, sind die Daten weg. Eine SQL- oder NoSQL-Datenbank im Hintergrund wird dafür sorgen, dass Nutzer Konten anlegen und ihre Fortschritte über Monate speichern können.*</a:t>
            </a:r>
          </a:p>
          <a:p>
            <a:pPr marL="342900" lvl="0" indent="-342900">
              <a:lnSpc>
                <a:spcPct val="115000"/>
              </a:lnSpc>
              <a:spcAft>
                <a:spcPts val="800"/>
              </a:spcAft>
              <a:buSzPts val="1000"/>
              <a:buFont typeface="Symbol" pitchFamily="2" charset="2"/>
              <a:buChar char=""/>
              <a:tabLst>
                <a:tab pos="457200" algn="l"/>
              </a:tabLst>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Zweitens die Datenbasis:</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Anstatt nur zu tracken, was andere Sportler </a:t>
            </a:r>
            <a:r>
              <a:rPr lang="de-DE" sz="1800" i="1" kern="100" dirty="0">
                <a:effectLst/>
                <a:latin typeface="Aptos" panose="020B0004020202020204" pitchFamily="34" charset="0"/>
                <a:ea typeface="Aptos" panose="020B0004020202020204" pitchFamily="34" charset="0"/>
                <a:cs typeface="Times New Roman" panose="02020603050405020304" pitchFamily="18" charset="0"/>
              </a:rPr>
              <a:t>glauben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was hilft, wollen wir die Profile mit echten, verifizierten klinischen Studiendaten verknüpfen, um die KI-Empfehlungen medizinisch abzusichern.*</a:t>
            </a:r>
          </a:p>
          <a:p>
            <a:pPr marL="342900" lvl="0" indent="-342900">
              <a:lnSpc>
                <a:spcPct val="115000"/>
              </a:lnSpc>
              <a:spcAft>
                <a:spcPts val="800"/>
              </a:spcAft>
              <a:buSzPts val="1000"/>
              <a:buFont typeface="Symbol" pitchFamily="2" charset="2"/>
              <a:buChar char=""/>
              <a:tabLst>
                <a:tab pos="457200" algn="l"/>
              </a:tabLst>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Drittens die Wearable-Integration:</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Niemand tippt im Alltag gerne händisch seine Schritte oder Kalorien ein. Über automatische Schnittstellen zu Apple Health oder Garmin soll sich die App diese Daten in Zukunft vollautomatisch im Hintergrund ziehen.*</a:t>
            </a:r>
          </a:p>
          <a:p>
            <a:pPr marL="342900" lvl="0" indent="-342900">
              <a:lnSpc>
                <a:spcPct val="115000"/>
              </a:lnSpc>
              <a:spcAft>
                <a:spcPts val="800"/>
              </a:spcAft>
              <a:buSzPts val="1000"/>
              <a:buFont typeface="Symbol" pitchFamily="2" charset="2"/>
              <a:buChar char=""/>
              <a:tabLst>
                <a:tab pos="457200" algn="l"/>
              </a:tabLst>
            </a:pPr>
            <a:r>
              <a:rPr lang="de-DE" sz="1800" b="1" kern="100" dirty="0">
                <a:effectLst/>
                <a:latin typeface="Aptos" panose="020B0004020202020204" pitchFamily="34" charset="0"/>
                <a:ea typeface="Aptos" panose="020B0004020202020204" pitchFamily="34" charset="0"/>
                <a:cs typeface="Times New Roman" panose="02020603050405020304" pitchFamily="18" charset="0"/>
              </a:rPr>
              <a:t>Und viertens eine echte Feedback-Schleife:</a:t>
            </a:r>
            <a:r>
              <a:rPr lang="de-DE" sz="1800" kern="100" dirty="0">
                <a:effectLst/>
                <a:latin typeface="Aptos" panose="020B0004020202020204" pitchFamily="34" charset="0"/>
                <a:ea typeface="Aptos" panose="020B0004020202020204" pitchFamily="34" charset="0"/>
                <a:cs typeface="Times New Roman" panose="02020603050405020304" pitchFamily="18" charset="0"/>
              </a:rPr>
              <a:t> Wir wollen das Modell zu einem lernenden System machen. Wenn ein Athlet durch unsere Empfehlungen nachweislich stärker wird, muss dieser Erfolg zurück an die KI gefüttert werden, damit das Modell von Woche zu Woche intelligenter wird.</a:t>
            </a:r>
          </a:p>
          <a:p>
            <a:endParaRPr dirty="0"/>
          </a:p>
        </p:txBody>
      </p:sp>
      <p:sp>
        <p:nvSpPr>
          <p:cNvPr id="4" name="Slide Number Placeholder 3"/>
          <p:cNvSpPr>
            <a:spLocks noGrp="1"/>
          </p:cNvSpPr>
          <p:nvPr>
            <p:ph type="sldNum" idx="5"/>
          </p:nvPr>
        </p:nvSpPr>
        <p:spPr/>
        <p:txBody>
          <a:bodyPr/>
          <a:lstStyle/>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9EE13E5D-1A57-4AC2-9163-81282B22A8C9}"/>
              </a:ext>
            </a:extLst>
          </p:cNvPr>
          <p:cNvSpPr>
            <a:spLocks noGrp="1"/>
          </p:cNvSpPr>
          <p:nvPr/>
        </p:nvSpPr>
        <p:spPr>
          <a:xfrm>
            <a:off x="685800" y="723900"/>
            <a:ext cx="3429000" cy="323850"/>
          </a:xfrm>
          <a:prstGeom prst="rect">
            <a:avLst/>
          </a:prstGeom>
          <a:noFill/>
          <a:ln w="0">
            <a:noFill/>
            <a:prstDash val="solid"/>
          </a:ln>
        </p:spPr>
        <p:txBody>
          <a:bodyPr/>
          <a:lstStyle/>
          <a:p>
            <a:pPr>
              <a:defRPr sz="1350" b="1">
                <a:solidFill>
                  <a:srgbClr val="2980B9"/>
                </a:solidFill>
              </a:defRPr>
            </a:pPr>
            <a:r>
              <a:rPr sz="1350" b="1" dirty="0">
                <a:solidFill>
                  <a:srgbClr val="2980B9"/>
                </a:solidFill>
              </a:rPr>
              <a:t>SMARTSUPP</a:t>
            </a:r>
          </a:p>
        </p:txBody>
      </p:sp>
      <p:sp>
        <p:nvSpPr>
          <p:cNvPr id="2" name="Rechteck 1">
            <a:extLst>
              <a:ext uri="{FF2B5EF4-FFF2-40B4-BE49-F238E27FC236}">
                <a16:creationId xmlns:a16="http://schemas.microsoft.com/office/drawing/2014/main" id="{F4AFCF00-A222-4948-B18D-20634DA26E5A}"/>
              </a:ext>
            </a:extLst>
          </p:cNvPr>
          <p:cNvSpPr>
            <a:spLocks noGrp="1"/>
          </p:cNvSpPr>
          <p:nvPr/>
        </p:nvSpPr>
        <p:spPr>
          <a:xfrm>
            <a:off x="685800" y="1181100"/>
            <a:ext cx="1257300" cy="28575"/>
          </a:xfrm>
          <a:prstGeom prst="rect">
            <a:avLst/>
          </a:prstGeom>
          <a:solidFill>
            <a:srgbClr val="2980B9"/>
          </a:solidFill>
          <a:ln w="0">
            <a:noFill/>
            <a:prstDash val="solid"/>
          </a:ln>
        </p:spPr>
        <p:txBody>
          <a:bodyPr/>
          <a:lstStyle/>
          <a:p>
            <a:endParaRPr lang="de-DE" dirty="0"/>
          </a:p>
        </p:txBody>
      </p:sp>
      <p:sp>
        <p:nvSpPr>
          <p:cNvPr id="3" name="title">
            <a:extLst>
              <a:ext uri="{FF2B5EF4-FFF2-40B4-BE49-F238E27FC236}">
                <a16:creationId xmlns:a16="http://schemas.microsoft.com/office/drawing/2014/main" id="{6AC0C52D-4789-4CB2-890F-89D49463D089}"/>
              </a:ext>
            </a:extLst>
          </p:cNvPr>
          <p:cNvSpPr>
            <a:spLocks noGrp="1"/>
          </p:cNvSpPr>
          <p:nvPr/>
        </p:nvSpPr>
        <p:spPr>
          <a:xfrm>
            <a:off x="685800" y="1790700"/>
            <a:ext cx="8763000" cy="1714500"/>
          </a:xfrm>
          <a:prstGeom prst="rect">
            <a:avLst/>
          </a:prstGeom>
          <a:noFill/>
          <a:ln w="0">
            <a:noFill/>
            <a:prstDash val="solid"/>
          </a:ln>
        </p:spPr>
        <p:txBody>
          <a:bodyPr/>
          <a:lstStyle/>
          <a:p>
            <a:pPr>
              <a:defRPr sz="4500" b="1">
                <a:solidFill>
                  <a:srgbClr val="26323B"/>
                </a:solidFill>
              </a:defRPr>
            </a:pPr>
            <a:r>
              <a:rPr sz="4500" b="1" dirty="0">
                <a:solidFill>
                  <a:srgbClr val="26323B"/>
                </a:solidFill>
              </a:rPr>
              <a:t>KI-</a:t>
            </a:r>
            <a:r>
              <a:rPr sz="4500" b="1" dirty="0" err="1">
                <a:solidFill>
                  <a:srgbClr val="26323B"/>
                </a:solidFill>
              </a:rPr>
              <a:t>gestützte</a:t>
            </a:r>
            <a:endParaRPr sz="4500" b="1" dirty="0">
              <a:solidFill>
                <a:srgbClr val="26323B"/>
              </a:solidFill>
            </a:endParaRPr>
          </a:p>
          <a:p>
            <a:pPr>
              <a:defRPr sz="4500" b="1">
                <a:solidFill>
                  <a:srgbClr val="26323B"/>
                </a:solidFill>
              </a:defRPr>
            </a:pPr>
            <a:r>
              <a:rPr sz="4500" b="1" dirty="0">
                <a:solidFill>
                  <a:srgbClr val="26323B"/>
                </a:solidFill>
              </a:rPr>
              <a:t>Supplement-</a:t>
            </a:r>
            <a:r>
              <a:rPr sz="4500" b="1" dirty="0" err="1">
                <a:solidFill>
                  <a:srgbClr val="26323B"/>
                </a:solidFill>
              </a:rPr>
              <a:t>Optimierung</a:t>
            </a:r>
            <a:endParaRPr sz="4500" b="1" dirty="0">
              <a:solidFill>
                <a:srgbClr val="26323B"/>
              </a:solidFill>
            </a:endParaRPr>
          </a:p>
          <a:p>
            <a:pPr>
              <a:defRPr sz="4500" b="1">
                <a:solidFill>
                  <a:srgbClr val="26323B"/>
                </a:solidFill>
              </a:defRPr>
            </a:pPr>
            <a:r>
              <a:rPr sz="4500" b="1" dirty="0">
                <a:solidFill>
                  <a:srgbClr val="26323B"/>
                </a:solidFill>
              </a:rPr>
              <a:t>&amp; Tracking</a:t>
            </a:r>
          </a:p>
        </p:txBody>
      </p:sp>
      <p:sp>
        <p:nvSpPr>
          <p:cNvPr id="4" name="Rechteck 3">
            <a:extLst>
              <a:ext uri="{FF2B5EF4-FFF2-40B4-BE49-F238E27FC236}">
                <a16:creationId xmlns:a16="http://schemas.microsoft.com/office/drawing/2014/main" id="{CCBF44CE-BDA8-4607-9A27-09D16D592B35}"/>
              </a:ext>
            </a:extLst>
          </p:cNvPr>
          <p:cNvSpPr>
            <a:spLocks noGrp="1"/>
          </p:cNvSpPr>
          <p:nvPr/>
        </p:nvSpPr>
        <p:spPr>
          <a:xfrm>
            <a:off x="723900" y="3924300"/>
            <a:ext cx="6477000" cy="323850"/>
          </a:xfrm>
          <a:prstGeom prst="rect">
            <a:avLst/>
          </a:prstGeom>
          <a:noFill/>
          <a:ln w="0">
            <a:noFill/>
            <a:prstDash val="solid"/>
          </a:ln>
        </p:spPr>
        <p:txBody>
          <a:bodyPr/>
          <a:lstStyle/>
          <a:p>
            <a:pPr>
              <a:defRPr sz="1800" b="0">
                <a:solidFill>
                  <a:srgbClr val="69747D"/>
                </a:solidFill>
              </a:defRPr>
            </a:pPr>
            <a:r>
              <a:rPr sz="1800" b="0" dirty="0">
                <a:solidFill>
                  <a:srgbClr val="69747D"/>
                </a:solidFill>
              </a:rPr>
              <a:t>Ein </a:t>
            </a:r>
            <a:r>
              <a:rPr sz="1800" b="0" dirty="0" err="1">
                <a:solidFill>
                  <a:srgbClr val="69747D"/>
                </a:solidFill>
              </a:rPr>
              <a:t>hybrider</a:t>
            </a:r>
            <a:r>
              <a:rPr sz="1800" b="0" dirty="0">
                <a:solidFill>
                  <a:srgbClr val="69747D"/>
                </a:solidFill>
              </a:rPr>
              <a:t> Coach für </a:t>
            </a:r>
            <a:r>
              <a:rPr sz="1800" b="0" dirty="0" err="1">
                <a:solidFill>
                  <a:srgbClr val="69747D"/>
                </a:solidFill>
              </a:rPr>
              <a:t>Freizeitsportler:innen</a:t>
            </a:r>
            <a:endParaRPr sz="1800" b="0" dirty="0">
              <a:solidFill>
                <a:srgbClr val="69747D"/>
              </a:solidFill>
            </a:endParaRPr>
          </a:p>
        </p:txBody>
      </p:sp>
      <p:sp>
        <p:nvSpPr>
          <p:cNvPr id="5" name="Rechteck 4">
            <a:extLst>
              <a:ext uri="{FF2B5EF4-FFF2-40B4-BE49-F238E27FC236}">
                <a16:creationId xmlns:a16="http://schemas.microsoft.com/office/drawing/2014/main" id="{EBD72109-3A5E-4896-AABE-BD3F349D964F}"/>
              </a:ext>
            </a:extLst>
          </p:cNvPr>
          <p:cNvSpPr>
            <a:spLocks noGrp="1"/>
          </p:cNvSpPr>
          <p:nvPr/>
        </p:nvSpPr>
        <p:spPr>
          <a:xfrm>
            <a:off x="723900" y="4495800"/>
            <a:ext cx="8572500" cy="266700"/>
          </a:xfrm>
          <a:prstGeom prst="rect">
            <a:avLst/>
          </a:prstGeom>
          <a:noFill/>
          <a:ln w="0">
            <a:noFill/>
            <a:prstDash val="solid"/>
          </a:ln>
        </p:spPr>
        <p:txBody>
          <a:bodyPr/>
          <a:lstStyle/>
          <a:p>
            <a:pPr>
              <a:defRPr sz="1275" b="0">
                <a:solidFill>
                  <a:srgbClr val="26323B"/>
                </a:solidFill>
              </a:defRPr>
            </a:pPr>
            <a:r>
              <a:rPr sz="1275" b="0" dirty="0">
                <a:solidFill>
                  <a:srgbClr val="26323B"/>
                </a:solidFill>
              </a:rPr>
              <a:t>QUA³CK-Prozessmodell · Machine Learning · </a:t>
            </a:r>
            <a:r>
              <a:rPr sz="1275" b="0" dirty="0" err="1">
                <a:solidFill>
                  <a:srgbClr val="26323B"/>
                </a:solidFill>
              </a:rPr>
              <a:t>regelbasiertes</a:t>
            </a:r>
            <a:r>
              <a:rPr sz="1275" b="0" dirty="0">
                <a:solidFill>
                  <a:srgbClr val="26323B"/>
                </a:solidFill>
              </a:rPr>
              <a:t> </a:t>
            </a:r>
            <a:r>
              <a:rPr sz="1275" b="0" dirty="0" err="1">
                <a:solidFill>
                  <a:srgbClr val="26323B"/>
                </a:solidFill>
              </a:rPr>
              <a:t>Expertensystem</a:t>
            </a:r>
            <a:endParaRPr sz="1275" b="0" dirty="0">
              <a:solidFill>
                <a:srgbClr val="26323B"/>
              </a:solidFill>
            </a:endParaRPr>
          </a:p>
        </p:txBody>
      </p:sp>
      <p:sp>
        <p:nvSpPr>
          <p:cNvPr id="6" name="Rechteck 5">
            <a:extLst>
              <a:ext uri="{FF2B5EF4-FFF2-40B4-BE49-F238E27FC236}">
                <a16:creationId xmlns:a16="http://schemas.microsoft.com/office/drawing/2014/main" id="{D16B8526-F832-4410-A1F1-75D1BED9FF6F}"/>
              </a:ext>
            </a:extLst>
          </p:cNvPr>
          <p:cNvSpPr>
            <a:spLocks noGrp="1"/>
          </p:cNvSpPr>
          <p:nvPr/>
        </p:nvSpPr>
        <p:spPr>
          <a:xfrm>
            <a:off x="685800" y="5905500"/>
            <a:ext cx="10820400" cy="9525"/>
          </a:xfrm>
          <a:prstGeom prst="rect">
            <a:avLst/>
          </a:prstGeom>
          <a:solidFill>
            <a:srgbClr val="DCE2E6"/>
          </a:solidFill>
          <a:ln w="0">
            <a:noFill/>
            <a:prstDash val="solid"/>
          </a:ln>
        </p:spPr>
        <p:txBody>
          <a:bodyPr/>
          <a:lstStyle/>
          <a:p>
            <a:endParaRPr lang="de-DE" dirty="0"/>
          </a:p>
        </p:txBody>
      </p:sp>
      <p:sp>
        <p:nvSpPr>
          <p:cNvPr id="7" name="Rechteck 6">
            <a:extLst>
              <a:ext uri="{FF2B5EF4-FFF2-40B4-BE49-F238E27FC236}">
                <a16:creationId xmlns:a16="http://schemas.microsoft.com/office/drawing/2014/main" id="{C42DF883-1A06-46CC-BB38-A9697B0A25BB}"/>
              </a:ext>
            </a:extLst>
          </p:cNvPr>
          <p:cNvSpPr>
            <a:spLocks noGrp="1"/>
          </p:cNvSpPr>
          <p:nvPr/>
        </p:nvSpPr>
        <p:spPr>
          <a:xfrm>
            <a:off x="685800" y="6115050"/>
            <a:ext cx="7239000" cy="171450"/>
          </a:xfrm>
          <a:prstGeom prst="rect">
            <a:avLst/>
          </a:prstGeom>
          <a:noFill/>
          <a:ln w="0">
            <a:noFill/>
            <a:prstDash val="solid"/>
          </a:ln>
        </p:spPr>
        <p:txBody>
          <a:bodyPr/>
          <a:lstStyle/>
          <a:p>
            <a:pPr>
              <a:defRPr sz="975" b="0">
                <a:solidFill>
                  <a:srgbClr val="69747D"/>
                </a:solidFill>
              </a:defRPr>
            </a:pPr>
            <a:r>
              <a:rPr sz="975" b="0" dirty="0">
                <a:solidFill>
                  <a:srgbClr val="69747D"/>
                </a:solidFill>
              </a:rPr>
              <a:t>Data Analytics und Big Data · IU </a:t>
            </a:r>
            <a:r>
              <a:rPr sz="975" b="0" dirty="0" err="1">
                <a:solidFill>
                  <a:srgbClr val="69747D"/>
                </a:solidFill>
              </a:rPr>
              <a:t>Internationale</a:t>
            </a:r>
            <a:r>
              <a:rPr sz="975" b="0" dirty="0">
                <a:solidFill>
                  <a:srgbClr val="69747D"/>
                </a:solidFill>
              </a:rPr>
              <a:t> Hochschule</a:t>
            </a:r>
          </a:p>
        </p:txBody>
      </p:sp>
    </p:spTree>
    <p:extLst>
      <p:ext uri="{BB962C8B-B14F-4D97-AF65-F5344CB8AC3E}">
        <p14:creationId xmlns:p14="http://schemas.microsoft.com/office/powerpoint/2010/main" val="1307530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phase">
            <a:extLst>
              <a:ext uri="{FF2B5EF4-FFF2-40B4-BE49-F238E27FC236}">
                <a16:creationId xmlns:a16="http://schemas.microsoft.com/office/drawing/2014/main" id="{608760D2-DC4E-4248-BEFF-61F8E9BEBFBC}"/>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QUA³CK · </a:t>
            </a:r>
            <a:r>
              <a:rPr sz="975" b="1" dirty="0" err="1">
                <a:solidFill>
                  <a:srgbClr val="2980B9"/>
                </a:solidFill>
              </a:rPr>
              <a:t>Ablauf</a:t>
            </a:r>
            <a:endParaRPr sz="975" b="1" dirty="0">
              <a:solidFill>
                <a:srgbClr val="2980B9"/>
              </a:solidFill>
            </a:endParaRPr>
          </a:p>
        </p:txBody>
      </p:sp>
      <p:sp>
        <p:nvSpPr>
          <p:cNvPr id="2" name="Rechteck 1">
            <a:extLst>
              <a:ext uri="{FF2B5EF4-FFF2-40B4-BE49-F238E27FC236}">
                <a16:creationId xmlns:a16="http://schemas.microsoft.com/office/drawing/2014/main" id="{D50A0A39-EFDA-4A2E-84B3-72A253778838}"/>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C4D52DB4-AB3B-43BE-87C7-87E3795F2380}"/>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469DB7E2-F6DB-4A96-B0AB-70EF93BF6E83}"/>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02</a:t>
            </a:r>
          </a:p>
        </p:txBody>
      </p:sp>
      <p:sp>
        <p:nvSpPr>
          <p:cNvPr id="5" name="slide-title">
            <a:extLst>
              <a:ext uri="{FF2B5EF4-FFF2-40B4-BE49-F238E27FC236}">
                <a16:creationId xmlns:a16="http://schemas.microsoft.com/office/drawing/2014/main" id="{23CCC052-8401-4901-9C79-A16843CC53AE}"/>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sz="2700" b="1" dirty="0">
                <a:solidFill>
                  <a:srgbClr val="26323B"/>
                </a:solidFill>
              </a:rPr>
              <a:t>Der QUA³CK-Prozess </a:t>
            </a:r>
          </a:p>
        </p:txBody>
      </p:sp>
      <p:sp>
        <p:nvSpPr>
          <p:cNvPr id="6" name="slide-subtitle">
            <a:extLst>
              <a:ext uri="{FF2B5EF4-FFF2-40B4-BE49-F238E27FC236}">
                <a16:creationId xmlns:a16="http://schemas.microsoft.com/office/drawing/2014/main" id="{3086D036-C64C-46E1-81FB-BA18A12F518F}"/>
              </a:ext>
            </a:extLst>
          </p:cNvPr>
          <p:cNvSpPr>
            <a:spLocks noGrp="1"/>
          </p:cNvSpPr>
          <p:nvPr/>
        </p:nvSpPr>
        <p:spPr>
          <a:xfrm>
            <a:off x="685800" y="1581150"/>
            <a:ext cx="9144000" cy="304800"/>
          </a:xfrm>
          <a:prstGeom prst="rect">
            <a:avLst/>
          </a:prstGeom>
          <a:noFill/>
          <a:ln w="0">
            <a:noFill/>
            <a:prstDash val="solid"/>
          </a:ln>
        </p:spPr>
        <p:txBody>
          <a:bodyPr/>
          <a:lstStyle/>
          <a:p>
            <a:pPr>
              <a:defRPr sz="1350" b="0">
                <a:solidFill>
                  <a:srgbClr val="69747D"/>
                </a:solidFill>
              </a:defRPr>
            </a:pPr>
            <a:r>
              <a:rPr sz="1350" b="0" dirty="0">
                <a:solidFill>
                  <a:srgbClr val="69747D"/>
                </a:solidFill>
              </a:rPr>
              <a:t>Von der </a:t>
            </a:r>
            <a:r>
              <a:rPr sz="1350" b="0" dirty="0" err="1">
                <a:solidFill>
                  <a:srgbClr val="69747D"/>
                </a:solidFill>
              </a:rPr>
              <a:t>Problemstellung</a:t>
            </a:r>
            <a:r>
              <a:rPr sz="1350" b="0" dirty="0">
                <a:solidFill>
                  <a:srgbClr val="69747D"/>
                </a:solidFill>
              </a:rPr>
              <a:t> bis </a:t>
            </a:r>
            <a:r>
              <a:rPr sz="1350" b="0" dirty="0" err="1">
                <a:solidFill>
                  <a:srgbClr val="69747D"/>
                </a:solidFill>
              </a:rPr>
              <a:t>zum</a:t>
            </a:r>
            <a:r>
              <a:rPr sz="1350" b="0" dirty="0">
                <a:solidFill>
                  <a:srgbClr val="69747D"/>
                </a:solidFill>
              </a:rPr>
              <a:t> </a:t>
            </a:r>
            <a:r>
              <a:rPr sz="1350" b="0" dirty="0" err="1">
                <a:solidFill>
                  <a:srgbClr val="69747D"/>
                </a:solidFill>
              </a:rPr>
              <a:t>Wissenstransfer</a:t>
            </a:r>
            <a:r>
              <a:rPr sz="1350" b="0" dirty="0">
                <a:solidFill>
                  <a:srgbClr val="69747D"/>
                </a:solidFill>
              </a:rPr>
              <a:t>.</a:t>
            </a:r>
          </a:p>
        </p:txBody>
      </p:sp>
      <p:sp>
        <p:nvSpPr>
          <p:cNvPr id="7" name="Rechteck 6">
            <a:extLst>
              <a:ext uri="{FF2B5EF4-FFF2-40B4-BE49-F238E27FC236}">
                <a16:creationId xmlns:a16="http://schemas.microsoft.com/office/drawing/2014/main" id="{3E8C05C2-8663-460E-A8B4-89980B0B1BBA}"/>
              </a:ext>
            </a:extLst>
          </p:cNvPr>
          <p:cNvSpPr>
            <a:spLocks noGrp="1"/>
          </p:cNvSpPr>
          <p:nvPr/>
        </p:nvSpPr>
        <p:spPr>
          <a:xfrm>
            <a:off x="788429" y="3572209"/>
            <a:ext cx="10191750" cy="19050"/>
          </a:xfrm>
          <a:prstGeom prst="rect">
            <a:avLst/>
          </a:prstGeom>
          <a:solidFill>
            <a:srgbClr val="DCE2E6"/>
          </a:solidFill>
          <a:ln w="0">
            <a:noFill/>
            <a:prstDash val="solid"/>
          </a:ln>
        </p:spPr>
        <p:txBody>
          <a:bodyPr/>
          <a:lstStyle/>
          <a:p>
            <a:endParaRPr lang="de-DE" dirty="0"/>
          </a:p>
        </p:txBody>
      </p:sp>
      <p:sp>
        <p:nvSpPr>
          <p:cNvPr id="8" name="Rechteck 7">
            <a:extLst>
              <a:ext uri="{FF2B5EF4-FFF2-40B4-BE49-F238E27FC236}">
                <a16:creationId xmlns:a16="http://schemas.microsoft.com/office/drawing/2014/main" id="{599767F5-A2A8-4078-A91F-E2A6E177E82E}"/>
              </a:ext>
            </a:extLst>
          </p:cNvPr>
          <p:cNvSpPr>
            <a:spLocks noGrp="1"/>
          </p:cNvSpPr>
          <p:nvPr/>
        </p:nvSpPr>
        <p:spPr>
          <a:xfrm>
            <a:off x="797954" y="3496009"/>
            <a:ext cx="171450" cy="171450"/>
          </a:xfrm>
          <a:prstGeom prst="rect">
            <a:avLst/>
          </a:prstGeom>
          <a:solidFill>
            <a:srgbClr val="2980B9"/>
          </a:solidFill>
          <a:ln w="0">
            <a:noFill/>
            <a:prstDash val="solid"/>
          </a:ln>
        </p:spPr>
        <p:txBody>
          <a:bodyPr/>
          <a:lstStyle/>
          <a:p>
            <a:endParaRPr lang="de-DE" dirty="0"/>
          </a:p>
        </p:txBody>
      </p:sp>
      <p:sp>
        <p:nvSpPr>
          <p:cNvPr id="9" name="Rechteck 8">
            <a:extLst>
              <a:ext uri="{FF2B5EF4-FFF2-40B4-BE49-F238E27FC236}">
                <a16:creationId xmlns:a16="http://schemas.microsoft.com/office/drawing/2014/main" id="{32FF5963-08F3-43EB-B5B3-DCC414B6FA68}"/>
              </a:ext>
            </a:extLst>
          </p:cNvPr>
          <p:cNvSpPr>
            <a:spLocks noGrp="1"/>
          </p:cNvSpPr>
          <p:nvPr/>
        </p:nvSpPr>
        <p:spPr>
          <a:xfrm>
            <a:off x="685800" y="2584831"/>
            <a:ext cx="742950" cy="628650"/>
          </a:xfrm>
          <a:prstGeom prst="rect">
            <a:avLst/>
          </a:prstGeom>
          <a:noFill/>
          <a:ln w="0">
            <a:noFill/>
            <a:prstDash val="solid"/>
          </a:ln>
        </p:spPr>
        <p:txBody>
          <a:bodyPr/>
          <a:lstStyle/>
          <a:p>
            <a:pPr>
              <a:defRPr sz="3600" b="1">
                <a:solidFill>
                  <a:srgbClr val="2980B9"/>
                </a:solidFill>
              </a:defRPr>
            </a:pPr>
            <a:r>
              <a:rPr sz="3600" b="1" dirty="0">
                <a:solidFill>
                  <a:srgbClr val="2980B9"/>
                </a:solidFill>
              </a:rPr>
              <a:t>Q</a:t>
            </a:r>
          </a:p>
        </p:txBody>
      </p:sp>
      <p:sp>
        <p:nvSpPr>
          <p:cNvPr id="11" name="Rechteck 10">
            <a:extLst>
              <a:ext uri="{FF2B5EF4-FFF2-40B4-BE49-F238E27FC236}">
                <a16:creationId xmlns:a16="http://schemas.microsoft.com/office/drawing/2014/main" id="{EC9941BD-6FC5-480A-BF76-75D6E0DA084F}"/>
              </a:ext>
            </a:extLst>
          </p:cNvPr>
          <p:cNvSpPr>
            <a:spLocks noGrp="1"/>
          </p:cNvSpPr>
          <p:nvPr/>
        </p:nvSpPr>
        <p:spPr>
          <a:xfrm>
            <a:off x="714375" y="3962734"/>
            <a:ext cx="1695450" cy="628650"/>
          </a:xfrm>
          <a:prstGeom prst="rect">
            <a:avLst/>
          </a:prstGeom>
          <a:noFill/>
          <a:ln w="0">
            <a:noFill/>
            <a:prstDash val="solid"/>
          </a:ln>
        </p:spPr>
        <p:txBody>
          <a:bodyPr/>
          <a:lstStyle/>
          <a:p>
            <a:pPr>
              <a:defRPr sz="1200" b="0">
                <a:solidFill>
                  <a:srgbClr val="69747D"/>
                </a:solidFill>
              </a:defRPr>
            </a:pPr>
            <a:r>
              <a:rPr sz="1200" b="0" dirty="0" err="1">
                <a:solidFill>
                  <a:srgbClr val="69747D"/>
                </a:solidFill>
              </a:rPr>
              <a:t>Einstieg</a:t>
            </a:r>
            <a:r>
              <a:rPr sz="1200" b="0" dirty="0">
                <a:solidFill>
                  <a:srgbClr val="69747D"/>
                </a:solidFill>
              </a:rPr>
              <a:t> &amp; </a:t>
            </a:r>
            <a:r>
              <a:rPr sz="1200" b="0" dirty="0" err="1">
                <a:solidFill>
                  <a:srgbClr val="69747D"/>
                </a:solidFill>
              </a:rPr>
              <a:t>Problemstellung</a:t>
            </a:r>
            <a:endParaRPr sz="1200" b="0" dirty="0">
              <a:solidFill>
                <a:srgbClr val="69747D"/>
              </a:solidFill>
            </a:endParaRPr>
          </a:p>
        </p:txBody>
      </p:sp>
      <p:sp>
        <p:nvSpPr>
          <p:cNvPr id="12" name="Rechteck 11">
            <a:extLst>
              <a:ext uri="{FF2B5EF4-FFF2-40B4-BE49-F238E27FC236}">
                <a16:creationId xmlns:a16="http://schemas.microsoft.com/office/drawing/2014/main" id="{C0CFEF40-3AB9-4714-A48B-FCCCD4C89FD1}"/>
              </a:ext>
            </a:extLst>
          </p:cNvPr>
          <p:cNvSpPr>
            <a:spLocks noGrp="1"/>
          </p:cNvSpPr>
          <p:nvPr/>
        </p:nvSpPr>
        <p:spPr>
          <a:xfrm>
            <a:off x="2836304" y="3496009"/>
            <a:ext cx="171450" cy="171450"/>
          </a:xfrm>
          <a:prstGeom prst="rect">
            <a:avLst/>
          </a:prstGeom>
          <a:solidFill>
            <a:srgbClr val="2980B9"/>
          </a:solidFill>
          <a:ln w="0">
            <a:noFill/>
            <a:prstDash val="solid"/>
          </a:ln>
        </p:spPr>
        <p:txBody>
          <a:bodyPr/>
          <a:lstStyle/>
          <a:p>
            <a:endParaRPr lang="de-DE" dirty="0"/>
          </a:p>
        </p:txBody>
      </p:sp>
      <p:sp>
        <p:nvSpPr>
          <p:cNvPr id="13" name="Rechteck 12">
            <a:extLst>
              <a:ext uri="{FF2B5EF4-FFF2-40B4-BE49-F238E27FC236}">
                <a16:creationId xmlns:a16="http://schemas.microsoft.com/office/drawing/2014/main" id="{69717A1F-B6F6-47A1-B437-81C0AEAEA192}"/>
              </a:ext>
            </a:extLst>
          </p:cNvPr>
          <p:cNvSpPr>
            <a:spLocks noGrp="1"/>
          </p:cNvSpPr>
          <p:nvPr/>
        </p:nvSpPr>
        <p:spPr>
          <a:xfrm>
            <a:off x="2724150" y="2584831"/>
            <a:ext cx="742950" cy="628650"/>
          </a:xfrm>
          <a:prstGeom prst="rect">
            <a:avLst/>
          </a:prstGeom>
          <a:noFill/>
          <a:ln w="0">
            <a:noFill/>
            <a:prstDash val="solid"/>
          </a:ln>
        </p:spPr>
        <p:txBody>
          <a:bodyPr/>
          <a:lstStyle/>
          <a:p>
            <a:pPr>
              <a:defRPr sz="3600" b="1">
                <a:solidFill>
                  <a:srgbClr val="2980B9"/>
                </a:solidFill>
              </a:defRPr>
            </a:pPr>
            <a:r>
              <a:rPr sz="3600" b="1" dirty="0">
                <a:solidFill>
                  <a:srgbClr val="2980B9"/>
                </a:solidFill>
              </a:rPr>
              <a:t>U</a:t>
            </a:r>
          </a:p>
        </p:txBody>
      </p:sp>
      <p:sp>
        <p:nvSpPr>
          <p:cNvPr id="15" name="Rechteck 14">
            <a:extLst>
              <a:ext uri="{FF2B5EF4-FFF2-40B4-BE49-F238E27FC236}">
                <a16:creationId xmlns:a16="http://schemas.microsoft.com/office/drawing/2014/main" id="{06467C1B-C44D-4114-948F-EECE1AD498CE}"/>
              </a:ext>
            </a:extLst>
          </p:cNvPr>
          <p:cNvSpPr>
            <a:spLocks noGrp="1"/>
          </p:cNvSpPr>
          <p:nvPr/>
        </p:nvSpPr>
        <p:spPr>
          <a:xfrm>
            <a:off x="2752725" y="3962734"/>
            <a:ext cx="1695450" cy="628650"/>
          </a:xfrm>
          <a:prstGeom prst="rect">
            <a:avLst/>
          </a:prstGeom>
          <a:noFill/>
          <a:ln w="0">
            <a:noFill/>
            <a:prstDash val="solid"/>
          </a:ln>
        </p:spPr>
        <p:txBody>
          <a:bodyPr/>
          <a:lstStyle/>
          <a:p>
            <a:pPr>
              <a:defRPr sz="1200" b="0">
                <a:solidFill>
                  <a:srgbClr val="69747D"/>
                </a:solidFill>
              </a:defRPr>
            </a:pPr>
            <a:r>
              <a:rPr sz="1200" b="0" dirty="0" err="1">
                <a:solidFill>
                  <a:srgbClr val="69747D"/>
                </a:solidFill>
              </a:rPr>
              <a:t>Datenbasis</a:t>
            </a:r>
            <a:r>
              <a:rPr sz="1200" b="0" dirty="0">
                <a:solidFill>
                  <a:srgbClr val="69747D"/>
                </a:solidFill>
              </a:rPr>
              <a:t> &amp; </a:t>
            </a:r>
            <a:r>
              <a:rPr sz="1200" b="0" dirty="0" err="1">
                <a:solidFill>
                  <a:srgbClr val="69747D"/>
                </a:solidFill>
              </a:rPr>
              <a:t>Architektur</a:t>
            </a:r>
            <a:endParaRPr sz="1200" b="0" dirty="0">
              <a:solidFill>
                <a:srgbClr val="69747D"/>
              </a:solidFill>
            </a:endParaRPr>
          </a:p>
        </p:txBody>
      </p:sp>
      <p:sp>
        <p:nvSpPr>
          <p:cNvPr id="16" name="Rechteck 15">
            <a:extLst>
              <a:ext uri="{FF2B5EF4-FFF2-40B4-BE49-F238E27FC236}">
                <a16:creationId xmlns:a16="http://schemas.microsoft.com/office/drawing/2014/main" id="{E8C8FD19-ACCC-419F-8E4E-66ECB14B30E7}"/>
              </a:ext>
            </a:extLst>
          </p:cNvPr>
          <p:cNvSpPr>
            <a:spLocks noGrp="1"/>
          </p:cNvSpPr>
          <p:nvPr/>
        </p:nvSpPr>
        <p:spPr>
          <a:xfrm>
            <a:off x="4874654" y="3496009"/>
            <a:ext cx="171450" cy="171450"/>
          </a:xfrm>
          <a:prstGeom prst="rect">
            <a:avLst/>
          </a:prstGeom>
          <a:solidFill>
            <a:srgbClr val="2980B9"/>
          </a:solidFill>
          <a:ln w="0">
            <a:noFill/>
            <a:prstDash val="solid"/>
          </a:ln>
        </p:spPr>
        <p:txBody>
          <a:bodyPr/>
          <a:lstStyle/>
          <a:p>
            <a:endParaRPr lang="de-DE" dirty="0"/>
          </a:p>
        </p:txBody>
      </p:sp>
      <p:sp>
        <p:nvSpPr>
          <p:cNvPr id="17" name="Rechteck 16">
            <a:extLst>
              <a:ext uri="{FF2B5EF4-FFF2-40B4-BE49-F238E27FC236}">
                <a16:creationId xmlns:a16="http://schemas.microsoft.com/office/drawing/2014/main" id="{7951386C-ED98-4C03-807C-A9DC4E65A8E9}"/>
              </a:ext>
            </a:extLst>
          </p:cNvPr>
          <p:cNvSpPr>
            <a:spLocks noGrp="1"/>
          </p:cNvSpPr>
          <p:nvPr/>
        </p:nvSpPr>
        <p:spPr>
          <a:xfrm>
            <a:off x="4762500" y="2584831"/>
            <a:ext cx="742950" cy="628650"/>
          </a:xfrm>
          <a:prstGeom prst="rect">
            <a:avLst/>
          </a:prstGeom>
          <a:noFill/>
          <a:ln w="0">
            <a:noFill/>
            <a:prstDash val="solid"/>
          </a:ln>
        </p:spPr>
        <p:txBody>
          <a:bodyPr/>
          <a:lstStyle/>
          <a:p>
            <a:pPr>
              <a:defRPr sz="3600" b="1">
                <a:solidFill>
                  <a:srgbClr val="2980B9"/>
                </a:solidFill>
              </a:defRPr>
            </a:pPr>
            <a:r>
              <a:rPr sz="3600" b="1" dirty="0">
                <a:solidFill>
                  <a:srgbClr val="2980B9"/>
                </a:solidFill>
              </a:rPr>
              <a:t>A³</a:t>
            </a:r>
          </a:p>
        </p:txBody>
      </p:sp>
      <p:sp>
        <p:nvSpPr>
          <p:cNvPr id="19" name="Rechteck 18">
            <a:extLst>
              <a:ext uri="{FF2B5EF4-FFF2-40B4-BE49-F238E27FC236}">
                <a16:creationId xmlns:a16="http://schemas.microsoft.com/office/drawing/2014/main" id="{B8B74E5C-72AF-49C5-B94A-932C83C0E27F}"/>
              </a:ext>
            </a:extLst>
          </p:cNvPr>
          <p:cNvSpPr>
            <a:spLocks noGrp="1"/>
          </p:cNvSpPr>
          <p:nvPr/>
        </p:nvSpPr>
        <p:spPr>
          <a:xfrm>
            <a:off x="4791075" y="3962734"/>
            <a:ext cx="1695450" cy="628650"/>
          </a:xfrm>
          <a:prstGeom prst="rect">
            <a:avLst/>
          </a:prstGeom>
          <a:noFill/>
          <a:ln w="0">
            <a:noFill/>
            <a:prstDash val="solid"/>
          </a:ln>
        </p:spPr>
        <p:txBody>
          <a:bodyPr/>
          <a:lstStyle/>
          <a:p>
            <a:pPr>
              <a:defRPr sz="1200" b="0">
                <a:solidFill>
                  <a:srgbClr val="69747D"/>
                </a:solidFill>
              </a:defRPr>
            </a:pPr>
            <a:r>
              <a:rPr sz="1200" b="0" dirty="0">
                <a:solidFill>
                  <a:srgbClr val="69747D"/>
                </a:solidFill>
              </a:rPr>
              <a:t>Preprocessing, Features &amp; </a:t>
            </a:r>
            <a:r>
              <a:rPr sz="1200" b="0" dirty="0" err="1">
                <a:solidFill>
                  <a:srgbClr val="69747D"/>
                </a:solidFill>
              </a:rPr>
              <a:t>Modelle</a:t>
            </a:r>
            <a:endParaRPr sz="1200" b="0" dirty="0">
              <a:solidFill>
                <a:srgbClr val="69747D"/>
              </a:solidFill>
            </a:endParaRPr>
          </a:p>
        </p:txBody>
      </p:sp>
      <p:sp>
        <p:nvSpPr>
          <p:cNvPr id="20" name="Rechteck 19">
            <a:extLst>
              <a:ext uri="{FF2B5EF4-FFF2-40B4-BE49-F238E27FC236}">
                <a16:creationId xmlns:a16="http://schemas.microsoft.com/office/drawing/2014/main" id="{244FC242-B124-4FB8-963D-E8A12D92F504}"/>
              </a:ext>
            </a:extLst>
          </p:cNvPr>
          <p:cNvSpPr>
            <a:spLocks noGrp="1"/>
          </p:cNvSpPr>
          <p:nvPr/>
        </p:nvSpPr>
        <p:spPr>
          <a:xfrm>
            <a:off x="6913004" y="3496009"/>
            <a:ext cx="171450" cy="171450"/>
          </a:xfrm>
          <a:prstGeom prst="rect">
            <a:avLst/>
          </a:prstGeom>
          <a:solidFill>
            <a:srgbClr val="2980B9"/>
          </a:solidFill>
          <a:ln w="0">
            <a:noFill/>
            <a:prstDash val="solid"/>
          </a:ln>
        </p:spPr>
        <p:txBody>
          <a:bodyPr/>
          <a:lstStyle/>
          <a:p>
            <a:endParaRPr lang="de-DE" dirty="0"/>
          </a:p>
        </p:txBody>
      </p:sp>
      <p:sp>
        <p:nvSpPr>
          <p:cNvPr id="21" name="Rechteck 20">
            <a:extLst>
              <a:ext uri="{FF2B5EF4-FFF2-40B4-BE49-F238E27FC236}">
                <a16:creationId xmlns:a16="http://schemas.microsoft.com/office/drawing/2014/main" id="{3ABD6FF4-6077-4D1D-82ED-935D72BBAA4B}"/>
              </a:ext>
            </a:extLst>
          </p:cNvPr>
          <p:cNvSpPr>
            <a:spLocks noGrp="1"/>
          </p:cNvSpPr>
          <p:nvPr/>
        </p:nvSpPr>
        <p:spPr>
          <a:xfrm>
            <a:off x="6800850" y="2584831"/>
            <a:ext cx="742950" cy="628650"/>
          </a:xfrm>
          <a:prstGeom prst="rect">
            <a:avLst/>
          </a:prstGeom>
          <a:noFill/>
          <a:ln w="0">
            <a:noFill/>
            <a:prstDash val="solid"/>
          </a:ln>
        </p:spPr>
        <p:txBody>
          <a:bodyPr/>
          <a:lstStyle/>
          <a:p>
            <a:pPr>
              <a:defRPr sz="3600" b="1">
                <a:solidFill>
                  <a:srgbClr val="2980B9"/>
                </a:solidFill>
              </a:defRPr>
            </a:pPr>
            <a:r>
              <a:rPr sz="3600" b="1" dirty="0">
                <a:solidFill>
                  <a:srgbClr val="2980B9"/>
                </a:solidFill>
              </a:rPr>
              <a:t>C</a:t>
            </a:r>
          </a:p>
        </p:txBody>
      </p:sp>
      <p:sp>
        <p:nvSpPr>
          <p:cNvPr id="23" name="Rechteck 22">
            <a:extLst>
              <a:ext uri="{FF2B5EF4-FFF2-40B4-BE49-F238E27FC236}">
                <a16:creationId xmlns:a16="http://schemas.microsoft.com/office/drawing/2014/main" id="{9814E5C3-8323-4FD5-A7E9-A428A0B292AC}"/>
              </a:ext>
            </a:extLst>
          </p:cNvPr>
          <p:cNvSpPr>
            <a:spLocks noGrp="1"/>
          </p:cNvSpPr>
          <p:nvPr/>
        </p:nvSpPr>
        <p:spPr>
          <a:xfrm>
            <a:off x="6829425" y="3962734"/>
            <a:ext cx="1695450" cy="628650"/>
          </a:xfrm>
          <a:prstGeom prst="rect">
            <a:avLst/>
          </a:prstGeom>
          <a:noFill/>
          <a:ln w="0">
            <a:noFill/>
            <a:prstDash val="solid"/>
          </a:ln>
        </p:spPr>
        <p:txBody>
          <a:bodyPr/>
          <a:lstStyle/>
          <a:p>
            <a:pPr>
              <a:defRPr sz="1200" b="0">
                <a:solidFill>
                  <a:srgbClr val="69747D"/>
                </a:solidFill>
              </a:defRPr>
            </a:pPr>
            <a:r>
              <a:rPr sz="1200" b="0" dirty="0">
                <a:solidFill>
                  <a:srgbClr val="69747D"/>
                </a:solidFill>
              </a:rPr>
              <a:t>Hybrid-</a:t>
            </a:r>
            <a:r>
              <a:rPr sz="1200" b="0" dirty="0" err="1">
                <a:solidFill>
                  <a:srgbClr val="69747D"/>
                </a:solidFill>
              </a:rPr>
              <a:t>Architektur</a:t>
            </a:r>
            <a:r>
              <a:rPr sz="1200" b="0" dirty="0">
                <a:solidFill>
                  <a:srgbClr val="69747D"/>
                </a:solidFill>
              </a:rPr>
              <a:t> &amp; </a:t>
            </a:r>
            <a:r>
              <a:rPr sz="1200" b="0" dirty="0" err="1">
                <a:solidFill>
                  <a:srgbClr val="69747D"/>
                </a:solidFill>
              </a:rPr>
              <a:t>Expertensystem</a:t>
            </a:r>
            <a:endParaRPr sz="1200" b="0" dirty="0">
              <a:solidFill>
                <a:srgbClr val="69747D"/>
              </a:solidFill>
            </a:endParaRPr>
          </a:p>
        </p:txBody>
      </p:sp>
      <p:sp>
        <p:nvSpPr>
          <p:cNvPr id="24" name="Rechteck 23">
            <a:extLst>
              <a:ext uri="{FF2B5EF4-FFF2-40B4-BE49-F238E27FC236}">
                <a16:creationId xmlns:a16="http://schemas.microsoft.com/office/drawing/2014/main" id="{66FF66F3-5BCD-480B-B096-C97716894B99}"/>
              </a:ext>
            </a:extLst>
          </p:cNvPr>
          <p:cNvSpPr>
            <a:spLocks noGrp="1"/>
          </p:cNvSpPr>
          <p:nvPr/>
        </p:nvSpPr>
        <p:spPr>
          <a:xfrm>
            <a:off x="8951354" y="3496009"/>
            <a:ext cx="171450" cy="171450"/>
          </a:xfrm>
          <a:prstGeom prst="rect">
            <a:avLst/>
          </a:prstGeom>
          <a:solidFill>
            <a:srgbClr val="2980B9"/>
          </a:solidFill>
          <a:ln w="0">
            <a:noFill/>
            <a:prstDash val="solid"/>
          </a:ln>
        </p:spPr>
        <p:txBody>
          <a:bodyPr/>
          <a:lstStyle/>
          <a:p>
            <a:endParaRPr lang="de-DE" dirty="0"/>
          </a:p>
        </p:txBody>
      </p:sp>
      <p:sp>
        <p:nvSpPr>
          <p:cNvPr id="25" name="Rechteck 24">
            <a:extLst>
              <a:ext uri="{FF2B5EF4-FFF2-40B4-BE49-F238E27FC236}">
                <a16:creationId xmlns:a16="http://schemas.microsoft.com/office/drawing/2014/main" id="{5E514B3E-AB76-4577-8BF6-0A2C0884D125}"/>
              </a:ext>
            </a:extLst>
          </p:cNvPr>
          <p:cNvSpPr>
            <a:spLocks noGrp="1"/>
          </p:cNvSpPr>
          <p:nvPr/>
        </p:nvSpPr>
        <p:spPr>
          <a:xfrm>
            <a:off x="8839200" y="2584831"/>
            <a:ext cx="742950" cy="628650"/>
          </a:xfrm>
          <a:prstGeom prst="rect">
            <a:avLst/>
          </a:prstGeom>
          <a:noFill/>
          <a:ln w="0">
            <a:noFill/>
            <a:prstDash val="solid"/>
          </a:ln>
        </p:spPr>
        <p:txBody>
          <a:bodyPr/>
          <a:lstStyle/>
          <a:p>
            <a:pPr>
              <a:defRPr sz="3600" b="1">
                <a:solidFill>
                  <a:srgbClr val="2980B9"/>
                </a:solidFill>
              </a:defRPr>
            </a:pPr>
            <a:r>
              <a:rPr sz="3600" b="1" dirty="0">
                <a:solidFill>
                  <a:srgbClr val="2980B9"/>
                </a:solidFill>
              </a:rPr>
              <a:t>K</a:t>
            </a:r>
          </a:p>
        </p:txBody>
      </p:sp>
      <p:sp>
        <p:nvSpPr>
          <p:cNvPr id="27" name="Rechteck 26">
            <a:extLst>
              <a:ext uri="{FF2B5EF4-FFF2-40B4-BE49-F238E27FC236}">
                <a16:creationId xmlns:a16="http://schemas.microsoft.com/office/drawing/2014/main" id="{8AB91F75-8B34-4940-9DAF-D01F29EF1629}"/>
              </a:ext>
            </a:extLst>
          </p:cNvPr>
          <p:cNvSpPr>
            <a:spLocks noGrp="1"/>
          </p:cNvSpPr>
          <p:nvPr/>
        </p:nvSpPr>
        <p:spPr>
          <a:xfrm>
            <a:off x="8867775" y="3962734"/>
            <a:ext cx="1695450" cy="628650"/>
          </a:xfrm>
          <a:prstGeom prst="rect">
            <a:avLst/>
          </a:prstGeom>
          <a:noFill/>
          <a:ln w="0">
            <a:noFill/>
            <a:prstDash val="solid"/>
          </a:ln>
        </p:spPr>
        <p:txBody>
          <a:bodyPr/>
          <a:lstStyle/>
          <a:p>
            <a:pPr>
              <a:defRPr sz="1200" b="0">
                <a:solidFill>
                  <a:srgbClr val="69747D"/>
                </a:solidFill>
              </a:defRPr>
            </a:pPr>
            <a:r>
              <a:rPr sz="1200" b="0" dirty="0">
                <a:solidFill>
                  <a:srgbClr val="69747D"/>
                </a:solidFill>
              </a:rPr>
              <a:t>Live-Demo der </a:t>
            </a:r>
            <a:r>
              <a:rPr sz="1200" b="0" dirty="0" err="1">
                <a:solidFill>
                  <a:srgbClr val="69747D"/>
                </a:solidFill>
              </a:rPr>
              <a:t>Streamlit-Anwendung</a:t>
            </a:r>
            <a:endParaRPr sz="1200" b="0" dirty="0">
              <a:solidFill>
                <a:srgbClr val="69747D"/>
              </a:solidFill>
            </a:endParaRPr>
          </a:p>
        </p:txBody>
      </p:sp>
      <p:sp>
        <p:nvSpPr>
          <p:cNvPr id="28" name="Rechteck 27">
            <a:extLst>
              <a:ext uri="{FF2B5EF4-FFF2-40B4-BE49-F238E27FC236}">
                <a16:creationId xmlns:a16="http://schemas.microsoft.com/office/drawing/2014/main" id="{059BB20D-5389-4752-AD0F-242587B3E5B9}"/>
              </a:ext>
            </a:extLst>
          </p:cNvPr>
          <p:cNvSpPr>
            <a:spLocks noGrp="1"/>
          </p:cNvSpPr>
          <p:nvPr/>
        </p:nvSpPr>
        <p:spPr>
          <a:xfrm>
            <a:off x="10989704" y="3496009"/>
            <a:ext cx="171450" cy="171450"/>
          </a:xfrm>
          <a:prstGeom prst="rect">
            <a:avLst/>
          </a:prstGeom>
          <a:solidFill>
            <a:srgbClr val="2980B9"/>
          </a:solidFill>
          <a:ln w="0">
            <a:noFill/>
            <a:prstDash val="solid"/>
          </a:ln>
        </p:spPr>
        <p:txBody>
          <a:bodyPr/>
          <a:lstStyle/>
          <a:p>
            <a:endParaRPr lang="de-DE" dirty="0"/>
          </a:p>
        </p:txBody>
      </p:sp>
      <p:sp>
        <p:nvSpPr>
          <p:cNvPr id="30" name="Rechteck 29">
            <a:extLst>
              <a:ext uri="{FF2B5EF4-FFF2-40B4-BE49-F238E27FC236}">
                <a16:creationId xmlns:a16="http://schemas.microsoft.com/office/drawing/2014/main" id="{BC976EB8-C385-426E-B5DB-CB3448C66BD8}"/>
              </a:ext>
            </a:extLst>
          </p:cNvPr>
          <p:cNvSpPr>
            <a:spLocks noGrp="1"/>
          </p:cNvSpPr>
          <p:nvPr/>
        </p:nvSpPr>
        <p:spPr>
          <a:xfrm>
            <a:off x="10906125" y="3962734"/>
            <a:ext cx="1695450" cy="628650"/>
          </a:xfrm>
          <a:prstGeom prst="rect">
            <a:avLst/>
          </a:prstGeom>
          <a:noFill/>
          <a:ln w="0">
            <a:noFill/>
            <a:prstDash val="solid"/>
          </a:ln>
        </p:spPr>
        <p:txBody>
          <a:bodyPr/>
          <a:lstStyle/>
          <a:p>
            <a:pPr>
              <a:defRPr sz="1200" b="0">
                <a:solidFill>
                  <a:srgbClr val="69747D"/>
                </a:solidFill>
              </a:defRPr>
            </a:pPr>
            <a:r>
              <a:rPr sz="1200" b="0" dirty="0" err="1">
                <a:solidFill>
                  <a:srgbClr val="69747D"/>
                </a:solidFill>
              </a:rPr>
              <a:t>Fazit</a:t>
            </a:r>
            <a:r>
              <a:rPr sz="1200" b="0" dirty="0">
                <a:solidFill>
                  <a:srgbClr val="69747D"/>
                </a:solidFill>
              </a:rPr>
              <a:t>, </a:t>
            </a:r>
            <a:r>
              <a:rPr sz="1200" b="0" dirty="0" err="1">
                <a:solidFill>
                  <a:srgbClr val="69747D"/>
                </a:solidFill>
              </a:rPr>
              <a:t>Grenzen</a:t>
            </a:r>
            <a:r>
              <a:rPr sz="1200" b="0" dirty="0">
                <a:solidFill>
                  <a:srgbClr val="69747D"/>
                </a:solidFill>
              </a:rPr>
              <a:t> &amp; </a:t>
            </a:r>
            <a:r>
              <a:rPr sz="1200" b="0" dirty="0" err="1">
                <a:solidFill>
                  <a:srgbClr val="69747D"/>
                </a:solidFill>
              </a:rPr>
              <a:t>Ausblick</a:t>
            </a:r>
            <a:endParaRPr sz="1200" b="0" dirty="0">
              <a:solidFill>
                <a:srgbClr val="69747D"/>
              </a:solidFill>
            </a:endParaRPr>
          </a:p>
        </p:txBody>
      </p:sp>
    </p:spTree>
    <p:extLst>
      <p:ext uri="{BB962C8B-B14F-4D97-AF65-F5344CB8AC3E}">
        <p14:creationId xmlns:p14="http://schemas.microsoft.com/office/powerpoint/2010/main" val="136758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phase">
            <a:extLst>
              <a:ext uri="{FF2B5EF4-FFF2-40B4-BE49-F238E27FC236}">
                <a16:creationId xmlns:a16="http://schemas.microsoft.com/office/drawing/2014/main" id="{2D84D2B7-1229-40AB-8A61-9DF12CDEFA13}"/>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Q · Question</a:t>
            </a:r>
          </a:p>
        </p:txBody>
      </p:sp>
      <p:sp>
        <p:nvSpPr>
          <p:cNvPr id="2" name="Rechteck 1">
            <a:extLst>
              <a:ext uri="{FF2B5EF4-FFF2-40B4-BE49-F238E27FC236}">
                <a16:creationId xmlns:a16="http://schemas.microsoft.com/office/drawing/2014/main" id="{492D44B4-6581-4E57-9E9D-30ADB35A167F}"/>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8ABC0DF2-A904-4BA6-9774-B52CA30682D8}"/>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39028B53-0989-4AFD-AE2C-1ADAC53ED725}"/>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03</a:t>
            </a:r>
          </a:p>
        </p:txBody>
      </p:sp>
      <p:sp>
        <p:nvSpPr>
          <p:cNvPr id="5" name="slide-title">
            <a:extLst>
              <a:ext uri="{FF2B5EF4-FFF2-40B4-BE49-F238E27FC236}">
                <a16:creationId xmlns:a16="http://schemas.microsoft.com/office/drawing/2014/main" id="{0A872C11-0094-4F96-9BC3-19E2A5524D35}"/>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sz="2700" b="1" dirty="0">
                <a:solidFill>
                  <a:srgbClr val="26323B"/>
                </a:solidFill>
              </a:rPr>
              <a:t>Problemstellung &amp; Marktlücke</a:t>
            </a:r>
            <a:endParaRPr sz="2700" b="1" dirty="0">
              <a:solidFill>
                <a:srgbClr val="26323B"/>
              </a:solidFill>
            </a:endParaRPr>
          </a:p>
        </p:txBody>
      </p:sp>
      <p:sp>
        <p:nvSpPr>
          <p:cNvPr id="6" name="slide-subtitle">
            <a:extLst>
              <a:ext uri="{FF2B5EF4-FFF2-40B4-BE49-F238E27FC236}">
                <a16:creationId xmlns:a16="http://schemas.microsoft.com/office/drawing/2014/main" id="{5FFD84B4-0FE6-4A3B-8B56-6C90752FB16C}"/>
              </a:ext>
            </a:extLst>
          </p:cNvPr>
          <p:cNvSpPr>
            <a:spLocks noGrp="1"/>
          </p:cNvSpPr>
          <p:nvPr/>
        </p:nvSpPr>
        <p:spPr>
          <a:xfrm>
            <a:off x="685800" y="1581150"/>
            <a:ext cx="9144000" cy="304800"/>
          </a:xfrm>
          <a:prstGeom prst="rect">
            <a:avLst/>
          </a:prstGeom>
          <a:noFill/>
          <a:ln w="0">
            <a:noFill/>
            <a:prstDash val="solid"/>
          </a:ln>
        </p:spPr>
        <p:txBody>
          <a:bodyPr/>
          <a:lstStyle/>
          <a:p>
            <a:pPr>
              <a:defRPr sz="1350" b="0">
                <a:solidFill>
                  <a:srgbClr val="69747D"/>
                </a:solidFill>
              </a:defRPr>
            </a:pPr>
            <a:r>
              <a:rPr sz="1350" b="0" dirty="0">
                <a:solidFill>
                  <a:srgbClr val="69747D"/>
                </a:solidFill>
              </a:rPr>
              <a:t>Vier </a:t>
            </a:r>
            <a:r>
              <a:rPr sz="1350" b="0" dirty="0" err="1">
                <a:solidFill>
                  <a:srgbClr val="69747D"/>
                </a:solidFill>
              </a:rPr>
              <a:t>Lücken</a:t>
            </a:r>
            <a:r>
              <a:rPr sz="1350" b="0" dirty="0">
                <a:solidFill>
                  <a:srgbClr val="69747D"/>
                </a:solidFill>
              </a:rPr>
              <a:t> </a:t>
            </a:r>
            <a:r>
              <a:rPr sz="1350" b="0" dirty="0" err="1">
                <a:solidFill>
                  <a:srgbClr val="69747D"/>
                </a:solidFill>
              </a:rPr>
              <a:t>verhindern</a:t>
            </a:r>
            <a:r>
              <a:rPr sz="1350" b="0" dirty="0">
                <a:solidFill>
                  <a:srgbClr val="69747D"/>
                </a:solidFill>
              </a:rPr>
              <a:t> </a:t>
            </a:r>
            <a:r>
              <a:rPr sz="1350" b="0" dirty="0" err="1">
                <a:solidFill>
                  <a:srgbClr val="69747D"/>
                </a:solidFill>
              </a:rPr>
              <a:t>heute</a:t>
            </a:r>
            <a:r>
              <a:rPr sz="1350" b="0" dirty="0">
                <a:solidFill>
                  <a:srgbClr val="69747D"/>
                </a:solidFill>
              </a:rPr>
              <a:t> </a:t>
            </a:r>
            <a:r>
              <a:rPr sz="1350" b="0" dirty="0" err="1">
                <a:solidFill>
                  <a:srgbClr val="69747D"/>
                </a:solidFill>
              </a:rPr>
              <a:t>eine</a:t>
            </a:r>
            <a:r>
              <a:rPr sz="1350" b="0" dirty="0">
                <a:solidFill>
                  <a:srgbClr val="69747D"/>
                </a:solidFill>
              </a:rPr>
              <a:t> </a:t>
            </a:r>
            <a:r>
              <a:rPr sz="1350" b="0" dirty="0" err="1">
                <a:solidFill>
                  <a:srgbClr val="69747D"/>
                </a:solidFill>
              </a:rPr>
              <a:t>fundierte</a:t>
            </a:r>
            <a:r>
              <a:rPr sz="1350" b="0" dirty="0">
                <a:solidFill>
                  <a:srgbClr val="69747D"/>
                </a:solidFill>
              </a:rPr>
              <a:t> </a:t>
            </a:r>
            <a:r>
              <a:rPr sz="1350" b="0" dirty="0" err="1">
                <a:solidFill>
                  <a:srgbClr val="69747D"/>
                </a:solidFill>
              </a:rPr>
              <a:t>Entscheidung</a:t>
            </a:r>
            <a:r>
              <a:rPr sz="1350" b="0" dirty="0">
                <a:solidFill>
                  <a:srgbClr val="69747D"/>
                </a:solidFill>
              </a:rPr>
              <a:t>.</a:t>
            </a:r>
          </a:p>
        </p:txBody>
      </p:sp>
      <p:sp>
        <p:nvSpPr>
          <p:cNvPr id="7" name="Rechteck 6">
            <a:extLst>
              <a:ext uri="{FF2B5EF4-FFF2-40B4-BE49-F238E27FC236}">
                <a16:creationId xmlns:a16="http://schemas.microsoft.com/office/drawing/2014/main" id="{81866FFD-F542-4903-833E-A05B8D26C19B}"/>
              </a:ext>
            </a:extLst>
          </p:cNvPr>
          <p:cNvSpPr>
            <a:spLocks noGrp="1"/>
          </p:cNvSpPr>
          <p:nvPr/>
        </p:nvSpPr>
        <p:spPr>
          <a:xfrm>
            <a:off x="723900" y="2567749"/>
            <a:ext cx="2000250" cy="28575"/>
          </a:xfrm>
          <a:prstGeom prst="rect">
            <a:avLst/>
          </a:prstGeom>
          <a:solidFill>
            <a:srgbClr val="2980B9"/>
          </a:solidFill>
          <a:ln w="0">
            <a:noFill/>
            <a:prstDash val="solid"/>
          </a:ln>
        </p:spPr>
        <p:txBody>
          <a:bodyPr/>
          <a:lstStyle/>
          <a:p>
            <a:endParaRPr lang="de-DE" dirty="0"/>
          </a:p>
        </p:txBody>
      </p:sp>
      <p:sp>
        <p:nvSpPr>
          <p:cNvPr id="8" name="Rechteck 7">
            <a:extLst>
              <a:ext uri="{FF2B5EF4-FFF2-40B4-BE49-F238E27FC236}">
                <a16:creationId xmlns:a16="http://schemas.microsoft.com/office/drawing/2014/main" id="{4CBC35D6-CB11-4BC5-8669-EE7F8445E0DB}"/>
              </a:ext>
            </a:extLst>
          </p:cNvPr>
          <p:cNvSpPr>
            <a:spLocks noGrp="1"/>
          </p:cNvSpPr>
          <p:nvPr/>
        </p:nvSpPr>
        <p:spPr>
          <a:xfrm>
            <a:off x="723900" y="2853499"/>
            <a:ext cx="2286000" cy="647700"/>
          </a:xfrm>
          <a:prstGeom prst="rect">
            <a:avLst/>
          </a:prstGeom>
          <a:noFill/>
          <a:ln w="0">
            <a:noFill/>
            <a:prstDash val="solid"/>
          </a:ln>
        </p:spPr>
        <p:txBody>
          <a:bodyPr/>
          <a:lstStyle/>
          <a:p>
            <a:pPr>
              <a:defRPr sz="1650" b="1">
                <a:solidFill>
                  <a:srgbClr val="26323B"/>
                </a:solidFill>
              </a:defRPr>
            </a:pPr>
            <a:r>
              <a:rPr sz="1650" b="1" dirty="0">
                <a:solidFill>
                  <a:srgbClr val="26323B"/>
                </a:solidFill>
              </a:rPr>
              <a:t>Marketing-</a:t>
            </a:r>
            <a:r>
              <a:rPr sz="1650" b="1" dirty="0" err="1">
                <a:solidFill>
                  <a:srgbClr val="26323B"/>
                </a:solidFill>
              </a:rPr>
              <a:t>getriebener</a:t>
            </a:r>
            <a:r>
              <a:rPr sz="1650" b="1" dirty="0">
                <a:solidFill>
                  <a:srgbClr val="26323B"/>
                </a:solidFill>
              </a:rPr>
              <a:t> Markt</a:t>
            </a:r>
          </a:p>
        </p:txBody>
      </p:sp>
      <p:sp>
        <p:nvSpPr>
          <p:cNvPr id="9" name="Rechteck 8">
            <a:extLst>
              <a:ext uri="{FF2B5EF4-FFF2-40B4-BE49-F238E27FC236}">
                <a16:creationId xmlns:a16="http://schemas.microsoft.com/office/drawing/2014/main" id="{DC0C5AFB-4F5F-4C43-9A42-230C5B3D9B30}"/>
              </a:ext>
            </a:extLst>
          </p:cNvPr>
          <p:cNvSpPr>
            <a:spLocks noGrp="1"/>
          </p:cNvSpPr>
          <p:nvPr/>
        </p:nvSpPr>
        <p:spPr>
          <a:xfrm>
            <a:off x="723900" y="3758374"/>
            <a:ext cx="2266950" cy="952500"/>
          </a:xfrm>
          <a:prstGeom prst="rect">
            <a:avLst/>
          </a:prstGeom>
          <a:noFill/>
          <a:ln w="0">
            <a:noFill/>
            <a:prstDash val="solid"/>
          </a:ln>
        </p:spPr>
        <p:txBody>
          <a:bodyPr/>
          <a:lstStyle/>
          <a:p>
            <a:pPr>
              <a:defRPr sz="1350" b="0">
                <a:solidFill>
                  <a:srgbClr val="69747D"/>
                </a:solidFill>
              </a:defRPr>
            </a:pPr>
            <a:r>
              <a:rPr sz="1350" b="0" dirty="0" err="1">
                <a:solidFill>
                  <a:srgbClr val="69747D"/>
                </a:solidFill>
              </a:rPr>
              <a:t>Fehlinvestitionen</a:t>
            </a:r>
            <a:r>
              <a:rPr sz="1350" b="0" dirty="0">
                <a:solidFill>
                  <a:srgbClr val="69747D"/>
                </a:solidFill>
              </a:rPr>
              <a:t> </a:t>
            </a:r>
            <a:r>
              <a:rPr sz="1350" b="0" dirty="0" err="1">
                <a:solidFill>
                  <a:srgbClr val="69747D"/>
                </a:solidFill>
              </a:rPr>
              <a:t>durch</a:t>
            </a:r>
            <a:r>
              <a:rPr sz="1350" b="0" dirty="0">
                <a:solidFill>
                  <a:srgbClr val="69747D"/>
                </a:solidFill>
              </a:rPr>
              <a:t> </a:t>
            </a:r>
            <a:r>
              <a:rPr sz="1350" b="0" dirty="0" err="1">
                <a:solidFill>
                  <a:srgbClr val="69747D"/>
                </a:solidFill>
              </a:rPr>
              <a:t>unbewiesene</a:t>
            </a:r>
            <a:r>
              <a:rPr sz="1350" b="0" dirty="0">
                <a:solidFill>
                  <a:srgbClr val="69747D"/>
                </a:solidFill>
              </a:rPr>
              <a:t> Trends – </a:t>
            </a:r>
            <a:r>
              <a:rPr sz="1350" b="0" dirty="0" err="1">
                <a:solidFill>
                  <a:srgbClr val="69747D"/>
                </a:solidFill>
              </a:rPr>
              <a:t>etwa</a:t>
            </a:r>
            <a:r>
              <a:rPr sz="1350" b="0" dirty="0">
                <a:solidFill>
                  <a:srgbClr val="69747D"/>
                </a:solidFill>
              </a:rPr>
              <a:t> BCAA-Hype.</a:t>
            </a:r>
          </a:p>
        </p:txBody>
      </p:sp>
      <p:sp>
        <p:nvSpPr>
          <p:cNvPr id="10" name="Rechteck 9">
            <a:extLst>
              <a:ext uri="{FF2B5EF4-FFF2-40B4-BE49-F238E27FC236}">
                <a16:creationId xmlns:a16="http://schemas.microsoft.com/office/drawing/2014/main" id="{C865EB9E-4045-4CED-A09C-25D798811647}"/>
              </a:ext>
            </a:extLst>
          </p:cNvPr>
          <p:cNvSpPr>
            <a:spLocks noGrp="1"/>
          </p:cNvSpPr>
          <p:nvPr/>
        </p:nvSpPr>
        <p:spPr>
          <a:xfrm>
            <a:off x="3429000" y="2567749"/>
            <a:ext cx="2000250" cy="28575"/>
          </a:xfrm>
          <a:prstGeom prst="rect">
            <a:avLst/>
          </a:prstGeom>
          <a:solidFill>
            <a:srgbClr val="2980B9"/>
          </a:solidFill>
          <a:ln w="0">
            <a:noFill/>
            <a:prstDash val="solid"/>
          </a:ln>
        </p:spPr>
        <p:txBody>
          <a:bodyPr/>
          <a:lstStyle/>
          <a:p>
            <a:endParaRPr lang="de-DE" dirty="0"/>
          </a:p>
        </p:txBody>
      </p:sp>
      <p:sp>
        <p:nvSpPr>
          <p:cNvPr id="11" name="Rechteck 10">
            <a:extLst>
              <a:ext uri="{FF2B5EF4-FFF2-40B4-BE49-F238E27FC236}">
                <a16:creationId xmlns:a16="http://schemas.microsoft.com/office/drawing/2014/main" id="{9896CB93-6EB4-4771-9FAD-37F13C995AE4}"/>
              </a:ext>
            </a:extLst>
          </p:cNvPr>
          <p:cNvSpPr>
            <a:spLocks noGrp="1"/>
          </p:cNvSpPr>
          <p:nvPr/>
        </p:nvSpPr>
        <p:spPr>
          <a:xfrm>
            <a:off x="3429000" y="2853499"/>
            <a:ext cx="2286000" cy="64770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Mangelnde</a:t>
            </a:r>
            <a:r>
              <a:rPr sz="1650" b="1" dirty="0">
                <a:solidFill>
                  <a:srgbClr val="26323B"/>
                </a:solidFill>
              </a:rPr>
              <a:t> </a:t>
            </a:r>
            <a:r>
              <a:rPr sz="1650" b="1" dirty="0" err="1">
                <a:solidFill>
                  <a:srgbClr val="26323B"/>
                </a:solidFill>
              </a:rPr>
              <a:t>Individualisierung</a:t>
            </a:r>
            <a:endParaRPr sz="1650" b="1" dirty="0">
              <a:solidFill>
                <a:srgbClr val="26323B"/>
              </a:solidFill>
            </a:endParaRPr>
          </a:p>
        </p:txBody>
      </p:sp>
      <p:sp>
        <p:nvSpPr>
          <p:cNvPr id="12" name="Rechteck 11">
            <a:extLst>
              <a:ext uri="{FF2B5EF4-FFF2-40B4-BE49-F238E27FC236}">
                <a16:creationId xmlns:a16="http://schemas.microsoft.com/office/drawing/2014/main" id="{071F99ED-5623-4695-AD99-D3DAA2A2E4DD}"/>
              </a:ext>
            </a:extLst>
          </p:cNvPr>
          <p:cNvSpPr>
            <a:spLocks noGrp="1"/>
          </p:cNvSpPr>
          <p:nvPr/>
        </p:nvSpPr>
        <p:spPr>
          <a:xfrm>
            <a:off x="3429000" y="3758374"/>
            <a:ext cx="2266950" cy="952500"/>
          </a:xfrm>
          <a:prstGeom prst="rect">
            <a:avLst/>
          </a:prstGeom>
          <a:noFill/>
          <a:ln w="0">
            <a:noFill/>
            <a:prstDash val="solid"/>
          </a:ln>
        </p:spPr>
        <p:txBody>
          <a:bodyPr/>
          <a:lstStyle/>
          <a:p>
            <a:pPr>
              <a:defRPr sz="1350" b="0">
                <a:solidFill>
                  <a:srgbClr val="69747D"/>
                </a:solidFill>
              </a:defRPr>
            </a:pPr>
            <a:r>
              <a:rPr sz="1350" b="0" dirty="0">
                <a:solidFill>
                  <a:srgbClr val="69747D"/>
                </a:solidFill>
              </a:rPr>
              <a:t>Standard-</a:t>
            </a:r>
            <a:r>
              <a:rPr sz="1350" b="0" dirty="0" err="1">
                <a:solidFill>
                  <a:srgbClr val="69747D"/>
                </a:solidFill>
              </a:rPr>
              <a:t>Dosierungen</a:t>
            </a:r>
            <a:r>
              <a:rPr sz="1350" b="0" dirty="0">
                <a:solidFill>
                  <a:srgbClr val="69747D"/>
                </a:solidFill>
              </a:rPr>
              <a:t> </a:t>
            </a:r>
            <a:r>
              <a:rPr sz="1350" b="0" dirty="0" err="1">
                <a:solidFill>
                  <a:srgbClr val="69747D"/>
                </a:solidFill>
              </a:rPr>
              <a:t>ignorieren</a:t>
            </a:r>
            <a:r>
              <a:rPr sz="1350" b="0" dirty="0">
                <a:solidFill>
                  <a:srgbClr val="69747D"/>
                </a:solidFill>
              </a:rPr>
              <a:t> </a:t>
            </a:r>
            <a:r>
              <a:rPr sz="1350" b="0" dirty="0" err="1">
                <a:solidFill>
                  <a:srgbClr val="69747D"/>
                </a:solidFill>
              </a:rPr>
              <a:t>Biometrie</a:t>
            </a:r>
            <a:r>
              <a:rPr sz="1350" b="0" dirty="0">
                <a:solidFill>
                  <a:srgbClr val="69747D"/>
                </a:solidFill>
              </a:rPr>
              <a:t> und </a:t>
            </a:r>
            <a:r>
              <a:rPr sz="1350" b="0" dirty="0" err="1">
                <a:solidFill>
                  <a:srgbClr val="69747D"/>
                </a:solidFill>
              </a:rPr>
              <a:t>Trainingsstand</a:t>
            </a:r>
            <a:r>
              <a:rPr sz="1350" b="0" dirty="0">
                <a:solidFill>
                  <a:srgbClr val="69747D"/>
                </a:solidFill>
              </a:rPr>
              <a:t>.</a:t>
            </a:r>
          </a:p>
        </p:txBody>
      </p:sp>
      <p:sp>
        <p:nvSpPr>
          <p:cNvPr id="13" name="Rechteck 12">
            <a:extLst>
              <a:ext uri="{FF2B5EF4-FFF2-40B4-BE49-F238E27FC236}">
                <a16:creationId xmlns:a16="http://schemas.microsoft.com/office/drawing/2014/main" id="{E57AD23E-CBD5-4243-BCA5-C43D04AAFE11}"/>
              </a:ext>
            </a:extLst>
          </p:cNvPr>
          <p:cNvSpPr>
            <a:spLocks noGrp="1"/>
          </p:cNvSpPr>
          <p:nvPr/>
        </p:nvSpPr>
        <p:spPr>
          <a:xfrm>
            <a:off x="6134100" y="2567749"/>
            <a:ext cx="2000250" cy="28575"/>
          </a:xfrm>
          <a:prstGeom prst="rect">
            <a:avLst/>
          </a:prstGeom>
          <a:solidFill>
            <a:srgbClr val="2980B9"/>
          </a:solidFill>
          <a:ln w="0">
            <a:noFill/>
            <a:prstDash val="solid"/>
          </a:ln>
        </p:spPr>
        <p:txBody>
          <a:bodyPr/>
          <a:lstStyle/>
          <a:p>
            <a:endParaRPr lang="de-DE" dirty="0"/>
          </a:p>
        </p:txBody>
      </p:sp>
      <p:sp>
        <p:nvSpPr>
          <p:cNvPr id="14" name="Rechteck 13">
            <a:extLst>
              <a:ext uri="{FF2B5EF4-FFF2-40B4-BE49-F238E27FC236}">
                <a16:creationId xmlns:a16="http://schemas.microsoft.com/office/drawing/2014/main" id="{222ECBD0-BE59-49C4-AC9D-E900219F6C50}"/>
              </a:ext>
            </a:extLst>
          </p:cNvPr>
          <p:cNvSpPr>
            <a:spLocks noGrp="1"/>
          </p:cNvSpPr>
          <p:nvPr/>
        </p:nvSpPr>
        <p:spPr>
          <a:xfrm>
            <a:off x="6134100" y="2853499"/>
            <a:ext cx="2286000" cy="647700"/>
          </a:xfrm>
          <a:prstGeom prst="rect">
            <a:avLst/>
          </a:prstGeom>
          <a:noFill/>
          <a:ln w="0">
            <a:noFill/>
            <a:prstDash val="solid"/>
          </a:ln>
        </p:spPr>
        <p:txBody>
          <a:bodyPr/>
          <a:lstStyle/>
          <a:p>
            <a:pPr>
              <a:defRPr sz="1650" b="1">
                <a:solidFill>
                  <a:srgbClr val="26323B"/>
                </a:solidFill>
              </a:defRPr>
            </a:pPr>
            <a:r>
              <a:rPr sz="1650" b="1" dirty="0">
                <a:solidFill>
                  <a:srgbClr val="26323B"/>
                </a:solidFill>
              </a:rPr>
              <a:t>Kein Feedback-Loop</a:t>
            </a:r>
          </a:p>
        </p:txBody>
      </p:sp>
      <p:sp>
        <p:nvSpPr>
          <p:cNvPr id="15" name="Rechteck 14">
            <a:extLst>
              <a:ext uri="{FF2B5EF4-FFF2-40B4-BE49-F238E27FC236}">
                <a16:creationId xmlns:a16="http://schemas.microsoft.com/office/drawing/2014/main" id="{C733C362-41FD-4BD0-A5DA-EAF8E4D54BB1}"/>
              </a:ext>
            </a:extLst>
          </p:cNvPr>
          <p:cNvSpPr>
            <a:spLocks noGrp="1"/>
          </p:cNvSpPr>
          <p:nvPr/>
        </p:nvSpPr>
        <p:spPr>
          <a:xfrm>
            <a:off x="6134100" y="3758374"/>
            <a:ext cx="2266950" cy="952500"/>
          </a:xfrm>
          <a:prstGeom prst="rect">
            <a:avLst/>
          </a:prstGeom>
          <a:noFill/>
          <a:ln w="0">
            <a:noFill/>
            <a:prstDash val="solid"/>
          </a:ln>
        </p:spPr>
        <p:txBody>
          <a:bodyPr/>
          <a:lstStyle/>
          <a:p>
            <a:pPr>
              <a:defRPr sz="1350" b="0">
                <a:solidFill>
                  <a:srgbClr val="69747D"/>
                </a:solidFill>
              </a:defRPr>
            </a:pPr>
            <a:r>
              <a:rPr sz="1350" b="0" dirty="0" err="1">
                <a:solidFill>
                  <a:srgbClr val="69747D"/>
                </a:solidFill>
              </a:rPr>
              <a:t>Einnahme</a:t>
            </a:r>
            <a:r>
              <a:rPr sz="1350" b="0" dirty="0">
                <a:solidFill>
                  <a:srgbClr val="69747D"/>
                </a:solidFill>
              </a:rPr>
              <a:t> und realer </a:t>
            </a:r>
            <a:r>
              <a:rPr sz="1350" b="0" dirty="0" err="1">
                <a:solidFill>
                  <a:srgbClr val="69747D"/>
                </a:solidFill>
              </a:rPr>
              <a:t>Kraftfortschritt</a:t>
            </a:r>
            <a:r>
              <a:rPr sz="1350" b="0" dirty="0">
                <a:solidFill>
                  <a:srgbClr val="69747D"/>
                </a:solidFill>
              </a:rPr>
              <a:t> </a:t>
            </a:r>
            <a:r>
              <a:rPr sz="1350" b="0" dirty="0" err="1">
                <a:solidFill>
                  <a:srgbClr val="69747D"/>
                </a:solidFill>
              </a:rPr>
              <a:t>bleiben</a:t>
            </a:r>
            <a:r>
              <a:rPr sz="1350" b="0" dirty="0">
                <a:solidFill>
                  <a:srgbClr val="69747D"/>
                </a:solidFill>
              </a:rPr>
              <a:t> </a:t>
            </a:r>
            <a:r>
              <a:rPr sz="1350" b="0" dirty="0" err="1">
                <a:solidFill>
                  <a:srgbClr val="69747D"/>
                </a:solidFill>
              </a:rPr>
              <a:t>unverbunden</a:t>
            </a:r>
            <a:r>
              <a:rPr sz="1350" b="0" dirty="0">
                <a:solidFill>
                  <a:srgbClr val="69747D"/>
                </a:solidFill>
              </a:rPr>
              <a:t>.</a:t>
            </a:r>
          </a:p>
        </p:txBody>
      </p:sp>
      <p:sp>
        <p:nvSpPr>
          <p:cNvPr id="16" name="Rechteck 15">
            <a:extLst>
              <a:ext uri="{FF2B5EF4-FFF2-40B4-BE49-F238E27FC236}">
                <a16:creationId xmlns:a16="http://schemas.microsoft.com/office/drawing/2014/main" id="{0771070E-78C5-4B69-8244-8DC222AC5394}"/>
              </a:ext>
            </a:extLst>
          </p:cNvPr>
          <p:cNvSpPr>
            <a:spLocks noGrp="1"/>
          </p:cNvSpPr>
          <p:nvPr/>
        </p:nvSpPr>
        <p:spPr>
          <a:xfrm>
            <a:off x="8839200" y="2567749"/>
            <a:ext cx="2000250" cy="28575"/>
          </a:xfrm>
          <a:prstGeom prst="rect">
            <a:avLst/>
          </a:prstGeom>
          <a:solidFill>
            <a:srgbClr val="2980B9"/>
          </a:solidFill>
          <a:ln w="0">
            <a:noFill/>
            <a:prstDash val="solid"/>
          </a:ln>
        </p:spPr>
        <p:txBody>
          <a:bodyPr/>
          <a:lstStyle/>
          <a:p>
            <a:endParaRPr lang="de-DE" dirty="0"/>
          </a:p>
        </p:txBody>
      </p:sp>
      <p:sp>
        <p:nvSpPr>
          <p:cNvPr id="17" name="Rechteck 16">
            <a:extLst>
              <a:ext uri="{FF2B5EF4-FFF2-40B4-BE49-F238E27FC236}">
                <a16:creationId xmlns:a16="http://schemas.microsoft.com/office/drawing/2014/main" id="{2D52B8BC-1A16-4FD2-A953-BDF8EC2BCF8B}"/>
              </a:ext>
            </a:extLst>
          </p:cNvPr>
          <p:cNvSpPr>
            <a:spLocks noGrp="1"/>
          </p:cNvSpPr>
          <p:nvPr/>
        </p:nvSpPr>
        <p:spPr>
          <a:xfrm>
            <a:off x="8839200" y="2853499"/>
            <a:ext cx="2286000" cy="647700"/>
          </a:xfrm>
          <a:prstGeom prst="rect">
            <a:avLst/>
          </a:prstGeom>
          <a:noFill/>
          <a:ln w="0">
            <a:noFill/>
            <a:prstDash val="solid"/>
          </a:ln>
        </p:spPr>
        <p:txBody>
          <a:bodyPr/>
          <a:lstStyle/>
          <a:p>
            <a:pPr>
              <a:defRPr sz="1650" b="1">
                <a:solidFill>
                  <a:srgbClr val="26323B"/>
                </a:solidFill>
              </a:defRPr>
            </a:pPr>
            <a:r>
              <a:rPr sz="1650" b="1" dirty="0">
                <a:solidFill>
                  <a:srgbClr val="26323B"/>
                </a:solidFill>
              </a:rPr>
              <a:t>Die </a:t>
            </a:r>
            <a:r>
              <a:rPr sz="1650" b="1" dirty="0" err="1">
                <a:solidFill>
                  <a:srgbClr val="26323B"/>
                </a:solidFill>
              </a:rPr>
              <a:t>Lücke</a:t>
            </a:r>
            <a:endParaRPr sz="1650" b="1" dirty="0">
              <a:solidFill>
                <a:srgbClr val="26323B"/>
              </a:solidFill>
            </a:endParaRPr>
          </a:p>
        </p:txBody>
      </p:sp>
      <p:sp>
        <p:nvSpPr>
          <p:cNvPr id="18" name="Rechteck 17">
            <a:extLst>
              <a:ext uri="{FF2B5EF4-FFF2-40B4-BE49-F238E27FC236}">
                <a16:creationId xmlns:a16="http://schemas.microsoft.com/office/drawing/2014/main" id="{1462A997-E2EF-4058-9FF1-8D8F22EBAC0D}"/>
              </a:ext>
            </a:extLst>
          </p:cNvPr>
          <p:cNvSpPr>
            <a:spLocks noGrp="1"/>
          </p:cNvSpPr>
          <p:nvPr/>
        </p:nvSpPr>
        <p:spPr>
          <a:xfrm>
            <a:off x="8839200" y="3758374"/>
            <a:ext cx="2266950" cy="952500"/>
          </a:xfrm>
          <a:prstGeom prst="rect">
            <a:avLst/>
          </a:prstGeom>
          <a:noFill/>
          <a:ln w="0">
            <a:noFill/>
            <a:prstDash val="solid"/>
          </a:ln>
        </p:spPr>
        <p:txBody>
          <a:bodyPr/>
          <a:lstStyle/>
          <a:p>
            <a:pPr>
              <a:defRPr sz="1350" b="0">
                <a:solidFill>
                  <a:srgbClr val="69747D"/>
                </a:solidFill>
              </a:defRPr>
            </a:pPr>
            <a:r>
              <a:rPr sz="1350" b="0" dirty="0">
                <a:solidFill>
                  <a:srgbClr val="69747D"/>
                </a:solidFill>
              </a:rPr>
              <a:t>Eine </a:t>
            </a:r>
            <a:r>
              <a:rPr sz="1350" b="0" dirty="0" err="1">
                <a:solidFill>
                  <a:srgbClr val="69747D"/>
                </a:solidFill>
              </a:rPr>
              <a:t>transparente</a:t>
            </a:r>
            <a:r>
              <a:rPr sz="1350" b="0" dirty="0">
                <a:solidFill>
                  <a:srgbClr val="69747D"/>
                </a:solidFill>
              </a:rPr>
              <a:t> </a:t>
            </a:r>
            <a:r>
              <a:rPr sz="1350" b="0" dirty="0" err="1">
                <a:solidFill>
                  <a:srgbClr val="69747D"/>
                </a:solidFill>
              </a:rPr>
              <a:t>Plattform</a:t>
            </a:r>
            <a:r>
              <a:rPr sz="1350" b="0" dirty="0">
                <a:solidFill>
                  <a:srgbClr val="69747D"/>
                </a:solidFill>
              </a:rPr>
              <a:t> muss ML-</a:t>
            </a:r>
            <a:r>
              <a:rPr sz="1350" b="0" dirty="0" err="1">
                <a:solidFill>
                  <a:srgbClr val="69747D"/>
                </a:solidFill>
              </a:rPr>
              <a:t>Prognosen</a:t>
            </a:r>
            <a:r>
              <a:rPr sz="1350" b="0" dirty="0">
                <a:solidFill>
                  <a:srgbClr val="69747D"/>
                </a:solidFill>
              </a:rPr>
              <a:t> </a:t>
            </a:r>
            <a:r>
              <a:rPr sz="1350" b="0" dirty="0" err="1">
                <a:solidFill>
                  <a:srgbClr val="69747D"/>
                </a:solidFill>
              </a:rPr>
              <a:t>mit</a:t>
            </a:r>
            <a:r>
              <a:rPr sz="1350" b="0" dirty="0">
                <a:solidFill>
                  <a:srgbClr val="69747D"/>
                </a:solidFill>
              </a:rPr>
              <a:t> </a:t>
            </a:r>
            <a:r>
              <a:rPr sz="1350" b="0" dirty="0" err="1">
                <a:solidFill>
                  <a:srgbClr val="69747D"/>
                </a:solidFill>
              </a:rPr>
              <a:t>Evidenz</a:t>
            </a:r>
            <a:r>
              <a:rPr sz="1350" b="0" dirty="0">
                <a:solidFill>
                  <a:srgbClr val="69747D"/>
                </a:solidFill>
              </a:rPr>
              <a:t> </a:t>
            </a:r>
            <a:r>
              <a:rPr sz="1350" b="0" dirty="0" err="1">
                <a:solidFill>
                  <a:srgbClr val="69747D"/>
                </a:solidFill>
              </a:rPr>
              <a:t>absichern</a:t>
            </a:r>
            <a:r>
              <a:rPr sz="1350" b="0" dirty="0">
                <a:solidFill>
                  <a:srgbClr val="69747D"/>
                </a:solidFill>
              </a:rPr>
              <a:t>.</a:t>
            </a:r>
          </a:p>
        </p:txBody>
      </p:sp>
    </p:spTree>
    <p:extLst>
      <p:ext uri="{BB962C8B-B14F-4D97-AF65-F5344CB8AC3E}">
        <p14:creationId xmlns:p14="http://schemas.microsoft.com/office/powerpoint/2010/main" val="8953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phase">
            <a:extLst>
              <a:ext uri="{FF2B5EF4-FFF2-40B4-BE49-F238E27FC236}">
                <a16:creationId xmlns:a16="http://schemas.microsoft.com/office/drawing/2014/main" id="{B6CDAE8D-C161-4705-A54C-AEF9587EC583}"/>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U · Understanding</a:t>
            </a:r>
            <a:r>
              <a:rPr lang="de-DE" sz="975" b="1" dirty="0">
                <a:solidFill>
                  <a:srgbClr val="2980B9"/>
                </a:solidFill>
              </a:rPr>
              <a:t> </a:t>
            </a:r>
            <a:r>
              <a:rPr lang="de-DE" sz="975" b="1" dirty="0" err="1">
                <a:solidFill>
                  <a:srgbClr val="2980B9"/>
                </a:solidFill>
              </a:rPr>
              <a:t>the</a:t>
            </a:r>
            <a:r>
              <a:rPr lang="de-DE" sz="975" b="1" dirty="0">
                <a:solidFill>
                  <a:srgbClr val="2980B9"/>
                </a:solidFill>
              </a:rPr>
              <a:t> </a:t>
            </a:r>
            <a:r>
              <a:rPr lang="de-DE" sz="975" b="1" dirty="0" err="1">
                <a:solidFill>
                  <a:srgbClr val="2980B9"/>
                </a:solidFill>
              </a:rPr>
              <a:t>data</a:t>
            </a:r>
            <a:endParaRPr sz="975" b="1" dirty="0">
              <a:solidFill>
                <a:srgbClr val="2980B9"/>
              </a:solidFill>
            </a:endParaRPr>
          </a:p>
        </p:txBody>
      </p:sp>
      <p:sp>
        <p:nvSpPr>
          <p:cNvPr id="2" name="Rechteck 1">
            <a:extLst>
              <a:ext uri="{FF2B5EF4-FFF2-40B4-BE49-F238E27FC236}">
                <a16:creationId xmlns:a16="http://schemas.microsoft.com/office/drawing/2014/main" id="{33EE1DF4-1EB5-48AA-95EF-95D2CED8C8ED}"/>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60304740-CE7B-42F1-AE33-AE1A5A2F70E1}"/>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F34AEE86-B279-431D-87D7-3A67705B89EC}"/>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04</a:t>
            </a:r>
          </a:p>
        </p:txBody>
      </p:sp>
      <p:sp>
        <p:nvSpPr>
          <p:cNvPr id="5" name="slide-title">
            <a:extLst>
              <a:ext uri="{FF2B5EF4-FFF2-40B4-BE49-F238E27FC236}">
                <a16:creationId xmlns:a16="http://schemas.microsoft.com/office/drawing/2014/main" id="{1B9FE2AF-5047-41AD-B914-297A6855E96B}"/>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sz="2700" b="1" dirty="0">
                <a:solidFill>
                  <a:srgbClr val="26323B"/>
                </a:solidFill>
              </a:rPr>
              <a:t>Datenbasis: </a:t>
            </a:r>
            <a:r>
              <a:rPr sz="2700" b="1" dirty="0" err="1">
                <a:solidFill>
                  <a:srgbClr val="26323B"/>
                </a:solidFill>
              </a:rPr>
              <a:t>Drei</a:t>
            </a:r>
            <a:r>
              <a:rPr sz="2700" b="1" dirty="0">
                <a:solidFill>
                  <a:srgbClr val="26323B"/>
                </a:solidFill>
              </a:rPr>
              <a:t> </a:t>
            </a:r>
            <a:r>
              <a:rPr sz="2700" b="1" dirty="0" err="1">
                <a:solidFill>
                  <a:srgbClr val="26323B"/>
                </a:solidFill>
              </a:rPr>
              <a:t>Datensätze</a:t>
            </a:r>
            <a:endParaRPr sz="2700" b="1" dirty="0">
              <a:solidFill>
                <a:srgbClr val="26323B"/>
              </a:solidFill>
            </a:endParaRPr>
          </a:p>
        </p:txBody>
      </p:sp>
      <p:sp>
        <p:nvSpPr>
          <p:cNvPr id="7" name="Rechteck 6">
            <a:extLst>
              <a:ext uri="{FF2B5EF4-FFF2-40B4-BE49-F238E27FC236}">
                <a16:creationId xmlns:a16="http://schemas.microsoft.com/office/drawing/2014/main" id="{870FD570-0208-46F5-BA78-ACFA6A4E63F3}"/>
              </a:ext>
            </a:extLst>
          </p:cNvPr>
          <p:cNvSpPr>
            <a:spLocks noGrp="1"/>
          </p:cNvSpPr>
          <p:nvPr/>
        </p:nvSpPr>
        <p:spPr>
          <a:xfrm>
            <a:off x="685799" y="2608897"/>
            <a:ext cx="687313" cy="523875"/>
          </a:xfrm>
          <a:prstGeom prst="rect">
            <a:avLst/>
          </a:prstGeom>
          <a:noFill/>
          <a:ln w="0">
            <a:noFill/>
            <a:prstDash val="solid"/>
          </a:ln>
        </p:spPr>
        <p:txBody>
          <a:bodyPr/>
          <a:lstStyle/>
          <a:p>
            <a:pPr>
              <a:defRPr sz="3300" b="1">
                <a:solidFill>
                  <a:srgbClr val="2980B9"/>
                </a:solidFill>
              </a:defRPr>
            </a:pPr>
            <a:r>
              <a:rPr sz="3600" b="1" dirty="0">
                <a:solidFill>
                  <a:srgbClr val="2980B9"/>
                </a:solidFill>
              </a:rPr>
              <a:t>01</a:t>
            </a:r>
          </a:p>
        </p:txBody>
      </p:sp>
      <p:sp>
        <p:nvSpPr>
          <p:cNvPr id="8" name="Rechteck 7">
            <a:extLst>
              <a:ext uri="{FF2B5EF4-FFF2-40B4-BE49-F238E27FC236}">
                <a16:creationId xmlns:a16="http://schemas.microsoft.com/office/drawing/2014/main" id="{54580DE8-BB17-4B9C-AFA1-1822EAABBEEC}"/>
              </a:ext>
            </a:extLst>
          </p:cNvPr>
          <p:cNvSpPr>
            <a:spLocks noGrp="1"/>
          </p:cNvSpPr>
          <p:nvPr/>
        </p:nvSpPr>
        <p:spPr>
          <a:xfrm>
            <a:off x="685799" y="3351847"/>
            <a:ext cx="3533775" cy="304800"/>
          </a:xfrm>
          <a:prstGeom prst="rect">
            <a:avLst/>
          </a:prstGeom>
          <a:noFill/>
          <a:ln w="0">
            <a:noFill/>
            <a:prstDash val="solid"/>
          </a:ln>
        </p:spPr>
        <p:txBody>
          <a:bodyPr/>
          <a:lstStyle/>
          <a:p>
            <a:pPr>
              <a:defRPr sz="1350" b="1">
                <a:solidFill>
                  <a:srgbClr val="26323B"/>
                </a:solidFill>
              </a:defRPr>
            </a:pPr>
            <a:r>
              <a:rPr sz="1650" b="1" dirty="0" err="1">
                <a:solidFill>
                  <a:srgbClr val="26323B"/>
                </a:solidFill>
              </a:rPr>
              <a:t>fitness_supplements_dataset.csv</a:t>
            </a:r>
            <a:endParaRPr sz="1650" b="1" dirty="0">
              <a:solidFill>
                <a:srgbClr val="26323B"/>
              </a:solidFill>
            </a:endParaRPr>
          </a:p>
        </p:txBody>
      </p:sp>
      <p:sp>
        <p:nvSpPr>
          <p:cNvPr id="9" name="Rechteck 8">
            <a:extLst>
              <a:ext uri="{FF2B5EF4-FFF2-40B4-BE49-F238E27FC236}">
                <a16:creationId xmlns:a16="http://schemas.microsoft.com/office/drawing/2014/main" id="{50611CDA-7A37-420C-80F4-FE2852C923E9}"/>
              </a:ext>
            </a:extLst>
          </p:cNvPr>
          <p:cNvSpPr>
            <a:spLocks noGrp="1"/>
          </p:cNvSpPr>
          <p:nvPr/>
        </p:nvSpPr>
        <p:spPr>
          <a:xfrm>
            <a:off x="685800" y="3923347"/>
            <a:ext cx="3333750" cy="666750"/>
          </a:xfrm>
          <a:prstGeom prst="rect">
            <a:avLst/>
          </a:prstGeom>
          <a:noFill/>
          <a:ln w="0">
            <a:noFill/>
            <a:prstDash val="solid"/>
          </a:ln>
        </p:spPr>
        <p:txBody>
          <a:bodyPr/>
          <a:lstStyle/>
          <a:p>
            <a:pPr>
              <a:defRPr sz="1500" b="0">
                <a:solidFill>
                  <a:srgbClr val="69747D"/>
                </a:solidFill>
              </a:defRPr>
            </a:pPr>
            <a:r>
              <a:rPr sz="1500" b="0" dirty="0" err="1">
                <a:solidFill>
                  <a:srgbClr val="69747D"/>
                </a:solidFill>
              </a:rPr>
              <a:t>Klassifikator</a:t>
            </a:r>
            <a:endParaRPr sz="1500" b="0" dirty="0">
              <a:solidFill>
                <a:srgbClr val="69747D"/>
              </a:solidFill>
            </a:endParaRPr>
          </a:p>
          <a:p>
            <a:pPr>
              <a:defRPr sz="1500" b="0">
                <a:solidFill>
                  <a:srgbClr val="69747D"/>
                </a:solidFill>
              </a:defRPr>
            </a:pPr>
            <a:r>
              <a:rPr sz="1500" b="0" dirty="0" err="1">
                <a:solidFill>
                  <a:srgbClr val="69747D"/>
                </a:solidFill>
              </a:rPr>
              <a:t>Nutzerprofile</a:t>
            </a:r>
            <a:r>
              <a:rPr sz="1500" b="0" dirty="0">
                <a:solidFill>
                  <a:srgbClr val="69747D"/>
                </a:solidFill>
              </a:rPr>
              <a:t> &amp; </a:t>
            </a:r>
            <a:r>
              <a:rPr sz="1500" b="0" dirty="0" err="1">
                <a:solidFill>
                  <a:srgbClr val="69747D"/>
                </a:solidFill>
              </a:rPr>
              <a:t>Zufriedenheit</a:t>
            </a:r>
            <a:endParaRPr sz="1500" b="0" dirty="0">
              <a:solidFill>
                <a:srgbClr val="69747D"/>
              </a:solidFill>
            </a:endParaRPr>
          </a:p>
        </p:txBody>
      </p:sp>
      <p:sp>
        <p:nvSpPr>
          <p:cNvPr id="10" name="Rechteck 9">
            <a:extLst>
              <a:ext uri="{FF2B5EF4-FFF2-40B4-BE49-F238E27FC236}">
                <a16:creationId xmlns:a16="http://schemas.microsoft.com/office/drawing/2014/main" id="{7D0C34A7-85C3-46CC-BDBC-1E2EFD3A5B29}"/>
              </a:ext>
            </a:extLst>
          </p:cNvPr>
          <p:cNvSpPr>
            <a:spLocks noGrp="1"/>
          </p:cNvSpPr>
          <p:nvPr/>
        </p:nvSpPr>
        <p:spPr>
          <a:xfrm>
            <a:off x="4019549" y="2589847"/>
            <a:ext cx="18000" cy="1905000"/>
          </a:xfrm>
          <a:prstGeom prst="rect">
            <a:avLst/>
          </a:prstGeom>
          <a:solidFill>
            <a:srgbClr val="DCE2E6"/>
          </a:solidFill>
          <a:ln w="0">
            <a:noFill/>
            <a:prstDash val="solid"/>
          </a:ln>
        </p:spPr>
        <p:txBody>
          <a:bodyPr/>
          <a:lstStyle/>
          <a:p>
            <a:endParaRPr lang="de-DE" dirty="0"/>
          </a:p>
        </p:txBody>
      </p:sp>
      <p:sp>
        <p:nvSpPr>
          <p:cNvPr id="11" name="Rechteck 10">
            <a:extLst>
              <a:ext uri="{FF2B5EF4-FFF2-40B4-BE49-F238E27FC236}">
                <a16:creationId xmlns:a16="http://schemas.microsoft.com/office/drawing/2014/main" id="{DF048D17-8AB7-405D-A8A7-B73A0522EC5B}"/>
              </a:ext>
            </a:extLst>
          </p:cNvPr>
          <p:cNvSpPr>
            <a:spLocks noGrp="1"/>
          </p:cNvSpPr>
          <p:nvPr/>
        </p:nvSpPr>
        <p:spPr>
          <a:xfrm>
            <a:off x="4324349" y="2608897"/>
            <a:ext cx="687313" cy="523875"/>
          </a:xfrm>
          <a:prstGeom prst="rect">
            <a:avLst/>
          </a:prstGeom>
          <a:noFill/>
          <a:ln w="0">
            <a:noFill/>
            <a:prstDash val="solid"/>
          </a:ln>
        </p:spPr>
        <p:txBody>
          <a:bodyPr/>
          <a:lstStyle/>
          <a:p>
            <a:pPr>
              <a:defRPr sz="3300" b="1">
                <a:solidFill>
                  <a:srgbClr val="2980B9"/>
                </a:solidFill>
              </a:defRPr>
            </a:pPr>
            <a:r>
              <a:rPr sz="3600" b="1" dirty="0">
                <a:solidFill>
                  <a:srgbClr val="2980B9"/>
                </a:solidFill>
              </a:rPr>
              <a:t>02</a:t>
            </a:r>
          </a:p>
        </p:txBody>
      </p:sp>
      <p:sp>
        <p:nvSpPr>
          <p:cNvPr id="12" name="Rechteck 11">
            <a:extLst>
              <a:ext uri="{FF2B5EF4-FFF2-40B4-BE49-F238E27FC236}">
                <a16:creationId xmlns:a16="http://schemas.microsoft.com/office/drawing/2014/main" id="{374C61E9-FA87-4016-A5F0-7715671964E8}"/>
              </a:ext>
            </a:extLst>
          </p:cNvPr>
          <p:cNvSpPr>
            <a:spLocks noGrp="1"/>
          </p:cNvSpPr>
          <p:nvPr/>
        </p:nvSpPr>
        <p:spPr>
          <a:xfrm>
            <a:off x="4324349" y="3351847"/>
            <a:ext cx="3533775" cy="304800"/>
          </a:xfrm>
          <a:prstGeom prst="rect">
            <a:avLst/>
          </a:prstGeom>
          <a:noFill/>
          <a:ln w="0">
            <a:noFill/>
            <a:prstDash val="solid"/>
          </a:ln>
        </p:spPr>
        <p:txBody>
          <a:bodyPr/>
          <a:lstStyle/>
          <a:p>
            <a:pPr>
              <a:defRPr sz="1350" b="1">
                <a:solidFill>
                  <a:srgbClr val="26323B"/>
                </a:solidFill>
              </a:defRPr>
            </a:pPr>
            <a:r>
              <a:rPr sz="1650" b="1" dirty="0" err="1">
                <a:solidFill>
                  <a:srgbClr val="26323B"/>
                </a:solidFill>
              </a:rPr>
              <a:t>gym_progress_dataset.csv</a:t>
            </a:r>
            <a:endParaRPr sz="1650" b="1" dirty="0">
              <a:solidFill>
                <a:srgbClr val="26323B"/>
              </a:solidFill>
            </a:endParaRPr>
          </a:p>
        </p:txBody>
      </p:sp>
      <p:sp>
        <p:nvSpPr>
          <p:cNvPr id="13" name="Rechteck 12">
            <a:extLst>
              <a:ext uri="{FF2B5EF4-FFF2-40B4-BE49-F238E27FC236}">
                <a16:creationId xmlns:a16="http://schemas.microsoft.com/office/drawing/2014/main" id="{712F6431-180B-41F7-98F0-24F5F35EB99A}"/>
              </a:ext>
            </a:extLst>
          </p:cNvPr>
          <p:cNvSpPr>
            <a:spLocks noGrp="1"/>
          </p:cNvSpPr>
          <p:nvPr/>
        </p:nvSpPr>
        <p:spPr>
          <a:xfrm>
            <a:off x="4324350" y="3923347"/>
            <a:ext cx="3333750" cy="666750"/>
          </a:xfrm>
          <a:prstGeom prst="rect">
            <a:avLst/>
          </a:prstGeom>
          <a:noFill/>
          <a:ln w="0">
            <a:noFill/>
            <a:prstDash val="solid"/>
          </a:ln>
        </p:spPr>
        <p:txBody>
          <a:bodyPr/>
          <a:lstStyle/>
          <a:p>
            <a:pPr>
              <a:defRPr sz="1500" b="0">
                <a:solidFill>
                  <a:srgbClr val="69747D"/>
                </a:solidFill>
              </a:defRPr>
            </a:pPr>
            <a:r>
              <a:rPr sz="1500" b="0" dirty="0">
                <a:solidFill>
                  <a:srgbClr val="69747D"/>
                </a:solidFill>
              </a:rPr>
              <a:t>Regressor</a:t>
            </a:r>
          </a:p>
          <a:p>
            <a:pPr>
              <a:defRPr sz="1500" b="0">
                <a:solidFill>
                  <a:srgbClr val="69747D"/>
                </a:solidFill>
              </a:defRPr>
            </a:pPr>
            <a:r>
              <a:rPr sz="1500" b="0" dirty="0" err="1">
                <a:solidFill>
                  <a:srgbClr val="69747D"/>
                </a:solidFill>
              </a:rPr>
              <a:t>Wöchentliche</a:t>
            </a:r>
            <a:r>
              <a:rPr sz="1500" b="0" dirty="0">
                <a:solidFill>
                  <a:srgbClr val="69747D"/>
                </a:solidFill>
              </a:rPr>
              <a:t> </a:t>
            </a:r>
            <a:r>
              <a:rPr sz="1500" b="0" dirty="0" err="1">
                <a:solidFill>
                  <a:srgbClr val="69747D"/>
                </a:solidFill>
              </a:rPr>
              <a:t>Gewichtshistorien</a:t>
            </a:r>
            <a:r>
              <a:rPr sz="1500" b="0" dirty="0">
                <a:solidFill>
                  <a:srgbClr val="69747D"/>
                </a:solidFill>
              </a:rPr>
              <a:t> </a:t>
            </a:r>
            <a:r>
              <a:rPr sz="1500" b="0" dirty="0" err="1">
                <a:solidFill>
                  <a:srgbClr val="69747D"/>
                </a:solidFill>
              </a:rPr>
              <a:t>über</a:t>
            </a:r>
            <a:r>
              <a:rPr sz="1500" b="0" dirty="0">
                <a:solidFill>
                  <a:srgbClr val="69747D"/>
                </a:solidFill>
              </a:rPr>
              <a:t> 200 Tage</a:t>
            </a:r>
          </a:p>
        </p:txBody>
      </p:sp>
      <p:sp>
        <p:nvSpPr>
          <p:cNvPr id="14" name="Rechteck 13">
            <a:extLst>
              <a:ext uri="{FF2B5EF4-FFF2-40B4-BE49-F238E27FC236}">
                <a16:creationId xmlns:a16="http://schemas.microsoft.com/office/drawing/2014/main" id="{D946437B-4D54-404B-82EB-258F64174F8D}"/>
              </a:ext>
            </a:extLst>
          </p:cNvPr>
          <p:cNvSpPr>
            <a:spLocks noGrp="1"/>
          </p:cNvSpPr>
          <p:nvPr/>
        </p:nvSpPr>
        <p:spPr>
          <a:xfrm>
            <a:off x="7658099" y="2589847"/>
            <a:ext cx="18000" cy="1905000"/>
          </a:xfrm>
          <a:prstGeom prst="rect">
            <a:avLst/>
          </a:prstGeom>
          <a:solidFill>
            <a:srgbClr val="DCE2E6"/>
          </a:solidFill>
          <a:ln w="0">
            <a:noFill/>
            <a:prstDash val="solid"/>
          </a:ln>
        </p:spPr>
        <p:txBody>
          <a:bodyPr/>
          <a:lstStyle/>
          <a:p>
            <a:endParaRPr lang="de-DE" dirty="0"/>
          </a:p>
        </p:txBody>
      </p:sp>
      <p:sp>
        <p:nvSpPr>
          <p:cNvPr id="15" name="Rechteck 14">
            <a:extLst>
              <a:ext uri="{FF2B5EF4-FFF2-40B4-BE49-F238E27FC236}">
                <a16:creationId xmlns:a16="http://schemas.microsoft.com/office/drawing/2014/main" id="{F2571048-019A-4622-BAC4-D12C8A5855ED}"/>
              </a:ext>
            </a:extLst>
          </p:cNvPr>
          <p:cNvSpPr>
            <a:spLocks noGrp="1"/>
          </p:cNvSpPr>
          <p:nvPr/>
        </p:nvSpPr>
        <p:spPr>
          <a:xfrm>
            <a:off x="7962899" y="2608897"/>
            <a:ext cx="687313" cy="523875"/>
          </a:xfrm>
          <a:prstGeom prst="rect">
            <a:avLst/>
          </a:prstGeom>
          <a:noFill/>
          <a:ln w="0">
            <a:noFill/>
            <a:prstDash val="solid"/>
          </a:ln>
        </p:spPr>
        <p:txBody>
          <a:bodyPr/>
          <a:lstStyle/>
          <a:p>
            <a:pPr>
              <a:defRPr sz="3300" b="1">
                <a:solidFill>
                  <a:srgbClr val="2980B9"/>
                </a:solidFill>
              </a:defRPr>
            </a:pPr>
            <a:r>
              <a:rPr sz="3600" b="1" dirty="0">
                <a:solidFill>
                  <a:srgbClr val="2980B9"/>
                </a:solidFill>
              </a:rPr>
              <a:t>03</a:t>
            </a:r>
          </a:p>
        </p:txBody>
      </p:sp>
      <p:sp>
        <p:nvSpPr>
          <p:cNvPr id="16" name="Rechteck 15">
            <a:extLst>
              <a:ext uri="{FF2B5EF4-FFF2-40B4-BE49-F238E27FC236}">
                <a16:creationId xmlns:a16="http://schemas.microsoft.com/office/drawing/2014/main" id="{7CF7CEB4-C293-4C1A-B65F-3A9BE97BE515}"/>
              </a:ext>
            </a:extLst>
          </p:cNvPr>
          <p:cNvSpPr>
            <a:spLocks noGrp="1"/>
          </p:cNvSpPr>
          <p:nvPr/>
        </p:nvSpPr>
        <p:spPr>
          <a:xfrm>
            <a:off x="7962899" y="3351847"/>
            <a:ext cx="3533775" cy="304800"/>
          </a:xfrm>
          <a:prstGeom prst="rect">
            <a:avLst/>
          </a:prstGeom>
          <a:noFill/>
          <a:ln w="0">
            <a:noFill/>
            <a:prstDash val="solid"/>
          </a:ln>
        </p:spPr>
        <p:txBody>
          <a:bodyPr/>
          <a:lstStyle/>
          <a:p>
            <a:pPr>
              <a:defRPr sz="1350" b="1">
                <a:solidFill>
                  <a:srgbClr val="26323B"/>
                </a:solidFill>
              </a:defRPr>
            </a:pPr>
            <a:r>
              <a:rPr sz="1650" b="1" dirty="0" err="1">
                <a:solidFill>
                  <a:srgbClr val="26323B"/>
                </a:solidFill>
              </a:rPr>
              <a:t>gym_members_exercise_tracking.csv</a:t>
            </a:r>
            <a:endParaRPr sz="1650" b="1" dirty="0">
              <a:solidFill>
                <a:srgbClr val="26323B"/>
              </a:solidFill>
            </a:endParaRPr>
          </a:p>
        </p:txBody>
      </p:sp>
      <p:sp>
        <p:nvSpPr>
          <p:cNvPr id="17" name="Rechteck 16">
            <a:extLst>
              <a:ext uri="{FF2B5EF4-FFF2-40B4-BE49-F238E27FC236}">
                <a16:creationId xmlns:a16="http://schemas.microsoft.com/office/drawing/2014/main" id="{AFF2B813-BCE6-4E32-99F6-654AFDD93FD7}"/>
              </a:ext>
            </a:extLst>
          </p:cNvPr>
          <p:cNvSpPr>
            <a:spLocks noGrp="1"/>
          </p:cNvSpPr>
          <p:nvPr/>
        </p:nvSpPr>
        <p:spPr>
          <a:xfrm>
            <a:off x="7962900" y="3923347"/>
            <a:ext cx="3333750" cy="666750"/>
          </a:xfrm>
          <a:prstGeom prst="rect">
            <a:avLst/>
          </a:prstGeom>
          <a:noFill/>
          <a:ln w="0">
            <a:noFill/>
            <a:prstDash val="solid"/>
          </a:ln>
        </p:spPr>
        <p:txBody>
          <a:bodyPr/>
          <a:lstStyle/>
          <a:p>
            <a:pPr>
              <a:defRPr sz="1500" b="0">
                <a:solidFill>
                  <a:srgbClr val="69747D"/>
                </a:solidFill>
              </a:defRPr>
            </a:pPr>
            <a:r>
              <a:rPr sz="1500" b="0" dirty="0" err="1">
                <a:solidFill>
                  <a:srgbClr val="69747D"/>
                </a:solidFill>
              </a:rPr>
              <a:t>Didaktische</a:t>
            </a:r>
            <a:r>
              <a:rPr sz="1500" b="0" dirty="0">
                <a:solidFill>
                  <a:srgbClr val="69747D"/>
                </a:solidFill>
              </a:rPr>
              <a:t> Brücke</a:t>
            </a:r>
          </a:p>
          <a:p>
            <a:pPr>
              <a:defRPr sz="1500" b="0">
                <a:solidFill>
                  <a:srgbClr val="69747D"/>
                </a:solidFill>
              </a:defRPr>
            </a:pPr>
            <a:r>
              <a:rPr sz="1500" b="0" dirty="0">
                <a:solidFill>
                  <a:srgbClr val="69747D"/>
                </a:solidFill>
              </a:rPr>
              <a:t>Simulation von </a:t>
            </a:r>
            <a:r>
              <a:rPr sz="1500" b="0" dirty="0" err="1">
                <a:solidFill>
                  <a:srgbClr val="69747D"/>
                </a:solidFill>
              </a:rPr>
              <a:t>Nutzer-Stammdaten</a:t>
            </a:r>
            <a:endParaRPr sz="1500" b="0" dirty="0">
              <a:solidFill>
                <a:srgbClr val="69747D"/>
              </a:solidFill>
            </a:endParaRPr>
          </a:p>
        </p:txBody>
      </p:sp>
    </p:spTree>
    <p:extLst>
      <p:ext uri="{BB962C8B-B14F-4D97-AF65-F5344CB8AC3E}">
        <p14:creationId xmlns:p14="http://schemas.microsoft.com/office/powerpoint/2010/main" val="5368222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phase">
            <a:extLst>
              <a:ext uri="{FF2B5EF4-FFF2-40B4-BE49-F238E27FC236}">
                <a16:creationId xmlns:a16="http://schemas.microsoft.com/office/drawing/2014/main" id="{14E15382-7C4C-42D1-8EC1-719C70E505A6}"/>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U · Understanding</a:t>
            </a:r>
            <a:r>
              <a:rPr lang="de-DE" sz="975" b="1" dirty="0">
                <a:solidFill>
                  <a:srgbClr val="2980B9"/>
                </a:solidFill>
              </a:rPr>
              <a:t> </a:t>
            </a:r>
            <a:r>
              <a:rPr lang="de-DE" sz="975" b="1" dirty="0" err="1">
                <a:solidFill>
                  <a:srgbClr val="2980B9"/>
                </a:solidFill>
              </a:rPr>
              <a:t>the</a:t>
            </a:r>
            <a:r>
              <a:rPr lang="de-DE" sz="975" b="1" dirty="0">
                <a:solidFill>
                  <a:srgbClr val="2980B9"/>
                </a:solidFill>
              </a:rPr>
              <a:t> </a:t>
            </a:r>
            <a:r>
              <a:rPr lang="de-DE" sz="975" b="1" dirty="0" err="1">
                <a:solidFill>
                  <a:srgbClr val="2980B9"/>
                </a:solidFill>
              </a:rPr>
              <a:t>data</a:t>
            </a:r>
            <a:endParaRPr sz="975" b="1" dirty="0">
              <a:solidFill>
                <a:srgbClr val="2980B9"/>
              </a:solidFill>
            </a:endParaRPr>
          </a:p>
        </p:txBody>
      </p:sp>
      <p:sp>
        <p:nvSpPr>
          <p:cNvPr id="2" name="Rechteck 1">
            <a:extLst>
              <a:ext uri="{FF2B5EF4-FFF2-40B4-BE49-F238E27FC236}">
                <a16:creationId xmlns:a16="http://schemas.microsoft.com/office/drawing/2014/main" id="{36EE5E44-C84F-45D2-9713-63487B5F1F4D}"/>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D0E48F7-DFCB-4AF2-951F-5E7219CD635E}"/>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C74A885D-F0C8-4741-AA2A-A0402AB9DC93}"/>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05</a:t>
            </a:r>
          </a:p>
        </p:txBody>
      </p:sp>
      <p:sp>
        <p:nvSpPr>
          <p:cNvPr id="5" name="slide-title">
            <a:extLst>
              <a:ext uri="{FF2B5EF4-FFF2-40B4-BE49-F238E27FC236}">
                <a16:creationId xmlns:a16="http://schemas.microsoft.com/office/drawing/2014/main" id="{2A7A0B2E-31EC-42D7-9663-8CF6954D68E0}"/>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Datenstruktur im Vergleich</a:t>
            </a:r>
            <a:endParaRPr sz="2700" b="1" dirty="0">
              <a:solidFill>
                <a:srgbClr val="26323B"/>
              </a:solidFill>
            </a:endParaRPr>
          </a:p>
        </p:txBody>
      </p:sp>
      <p:sp>
        <p:nvSpPr>
          <p:cNvPr id="6" name="Rechteck 5">
            <a:extLst>
              <a:ext uri="{FF2B5EF4-FFF2-40B4-BE49-F238E27FC236}">
                <a16:creationId xmlns:a16="http://schemas.microsoft.com/office/drawing/2014/main" id="{96121A5F-0792-4FAD-9776-DEBF00A82483}"/>
              </a:ext>
            </a:extLst>
          </p:cNvPr>
          <p:cNvSpPr>
            <a:spLocks noGrp="1"/>
          </p:cNvSpPr>
          <p:nvPr/>
        </p:nvSpPr>
        <p:spPr>
          <a:xfrm>
            <a:off x="5655946" y="2571749"/>
            <a:ext cx="18000" cy="2428875"/>
          </a:xfrm>
          <a:prstGeom prst="rect">
            <a:avLst/>
          </a:prstGeom>
          <a:solidFill>
            <a:srgbClr val="DCE2E6"/>
          </a:solidFill>
          <a:ln w="0">
            <a:noFill/>
            <a:prstDash val="solid"/>
          </a:ln>
        </p:spPr>
        <p:txBody>
          <a:bodyPr/>
          <a:lstStyle/>
          <a:p>
            <a:endParaRPr lang="de-DE" dirty="0"/>
          </a:p>
        </p:txBody>
      </p:sp>
      <p:sp>
        <p:nvSpPr>
          <p:cNvPr id="7" name="Rechteck 6">
            <a:extLst>
              <a:ext uri="{FF2B5EF4-FFF2-40B4-BE49-F238E27FC236}">
                <a16:creationId xmlns:a16="http://schemas.microsoft.com/office/drawing/2014/main" id="{0B47D1F4-62CF-45CE-9E76-77A6597934DF}"/>
              </a:ext>
            </a:extLst>
          </p:cNvPr>
          <p:cNvSpPr>
            <a:spLocks noGrp="1"/>
          </p:cNvSpPr>
          <p:nvPr/>
        </p:nvSpPr>
        <p:spPr>
          <a:xfrm>
            <a:off x="685800" y="2662237"/>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KLASSIFIKATOR-DATEN</a:t>
            </a:r>
          </a:p>
        </p:txBody>
      </p:sp>
      <p:sp>
        <p:nvSpPr>
          <p:cNvPr id="8" name="Rechteck 7">
            <a:extLst>
              <a:ext uri="{FF2B5EF4-FFF2-40B4-BE49-F238E27FC236}">
                <a16:creationId xmlns:a16="http://schemas.microsoft.com/office/drawing/2014/main" id="{4697565E-F063-4A06-84A7-CD6A8761E9A0}"/>
              </a:ext>
            </a:extLst>
          </p:cNvPr>
          <p:cNvSpPr>
            <a:spLocks noGrp="1"/>
          </p:cNvSpPr>
          <p:nvPr/>
        </p:nvSpPr>
        <p:spPr>
          <a:xfrm>
            <a:off x="685800" y="3119437"/>
            <a:ext cx="4762500" cy="457200"/>
          </a:xfrm>
          <a:prstGeom prst="rect">
            <a:avLst/>
          </a:prstGeom>
          <a:noFill/>
          <a:ln w="0">
            <a:noFill/>
            <a:prstDash val="solid"/>
          </a:ln>
        </p:spPr>
        <p:txBody>
          <a:bodyPr/>
          <a:lstStyle/>
          <a:p>
            <a:pPr>
              <a:defRPr sz="1800" b="1">
                <a:solidFill>
                  <a:srgbClr val="26323B"/>
                </a:solidFill>
              </a:defRPr>
            </a:pPr>
            <a:r>
              <a:rPr sz="1800" b="1" dirty="0" err="1">
                <a:solidFill>
                  <a:srgbClr val="26323B"/>
                </a:solidFill>
              </a:rPr>
              <a:t>Kategorial</a:t>
            </a:r>
            <a:r>
              <a:rPr sz="1800" b="1" dirty="0">
                <a:solidFill>
                  <a:srgbClr val="26323B"/>
                </a:solidFill>
              </a:rPr>
              <a:t> </a:t>
            </a:r>
            <a:r>
              <a:rPr sz="1800" b="1" dirty="0" err="1">
                <a:solidFill>
                  <a:srgbClr val="26323B"/>
                </a:solidFill>
              </a:rPr>
              <a:t>geprägt</a:t>
            </a:r>
            <a:endParaRPr sz="1800" b="1" dirty="0">
              <a:solidFill>
                <a:srgbClr val="26323B"/>
              </a:solidFill>
            </a:endParaRPr>
          </a:p>
        </p:txBody>
      </p:sp>
      <p:sp>
        <p:nvSpPr>
          <p:cNvPr id="9" name="Rechteck 8">
            <a:extLst>
              <a:ext uri="{FF2B5EF4-FFF2-40B4-BE49-F238E27FC236}">
                <a16:creationId xmlns:a16="http://schemas.microsoft.com/office/drawing/2014/main" id="{71FC8116-CE7B-4C8D-AC3E-D438BBE931AD}"/>
              </a:ext>
            </a:extLst>
          </p:cNvPr>
          <p:cNvSpPr>
            <a:spLocks noGrp="1"/>
          </p:cNvSpPr>
          <p:nvPr/>
        </p:nvSpPr>
        <p:spPr>
          <a:xfrm>
            <a:off x="685800" y="3786187"/>
            <a:ext cx="4762500" cy="457200"/>
          </a:xfrm>
          <a:prstGeom prst="rect">
            <a:avLst/>
          </a:prstGeom>
          <a:noFill/>
          <a:ln w="0">
            <a:noFill/>
            <a:prstDash val="solid"/>
          </a:ln>
        </p:spPr>
        <p:txBody>
          <a:bodyPr/>
          <a:lstStyle/>
          <a:p>
            <a:pPr>
              <a:defRPr sz="1800" b="0">
                <a:solidFill>
                  <a:srgbClr val="26323B"/>
                </a:solidFill>
              </a:defRPr>
            </a:pPr>
            <a:r>
              <a:rPr sz="1800" b="0" dirty="0" err="1">
                <a:solidFill>
                  <a:srgbClr val="26323B"/>
                </a:solidFill>
              </a:rPr>
              <a:t>Ernährungsform</a:t>
            </a:r>
            <a:r>
              <a:rPr sz="1800" b="0" dirty="0">
                <a:solidFill>
                  <a:srgbClr val="26323B"/>
                </a:solidFill>
              </a:rPr>
              <a:t> · Ziel · Fitness-Level</a:t>
            </a:r>
          </a:p>
        </p:txBody>
      </p:sp>
      <p:sp>
        <p:nvSpPr>
          <p:cNvPr id="10" name="Rechteck 9">
            <a:extLst>
              <a:ext uri="{FF2B5EF4-FFF2-40B4-BE49-F238E27FC236}">
                <a16:creationId xmlns:a16="http://schemas.microsoft.com/office/drawing/2014/main" id="{9635609C-274C-4F7B-818A-17F75F2B84A0}"/>
              </a:ext>
            </a:extLst>
          </p:cNvPr>
          <p:cNvSpPr>
            <a:spLocks noGrp="1"/>
          </p:cNvSpPr>
          <p:nvPr/>
        </p:nvSpPr>
        <p:spPr>
          <a:xfrm>
            <a:off x="685800" y="4452937"/>
            <a:ext cx="4762500" cy="457200"/>
          </a:xfrm>
          <a:prstGeom prst="rect">
            <a:avLst/>
          </a:prstGeom>
          <a:noFill/>
          <a:ln w="0">
            <a:noFill/>
            <a:prstDash val="solid"/>
          </a:ln>
        </p:spPr>
        <p:txBody>
          <a:bodyPr/>
          <a:lstStyle/>
          <a:p>
            <a:pPr>
              <a:defRPr sz="1800" b="0">
                <a:solidFill>
                  <a:srgbClr val="26323B"/>
                </a:solidFill>
              </a:defRPr>
            </a:pPr>
            <a:r>
              <a:rPr sz="1800" b="0" dirty="0">
                <a:solidFill>
                  <a:srgbClr val="26323B"/>
                </a:solidFill>
              </a:rPr>
              <a:t>Massive </a:t>
            </a:r>
            <a:r>
              <a:rPr sz="1800" b="0" dirty="0" err="1">
                <a:solidFill>
                  <a:srgbClr val="26323B"/>
                </a:solidFill>
              </a:rPr>
              <a:t>Dominanz</a:t>
            </a:r>
            <a:r>
              <a:rPr sz="1800" b="0" dirty="0">
                <a:solidFill>
                  <a:srgbClr val="26323B"/>
                </a:solidFill>
              </a:rPr>
              <a:t>: Whey Protein &amp; Creatine</a:t>
            </a:r>
          </a:p>
        </p:txBody>
      </p:sp>
      <p:sp>
        <p:nvSpPr>
          <p:cNvPr id="11" name="Rechteck 10">
            <a:extLst>
              <a:ext uri="{FF2B5EF4-FFF2-40B4-BE49-F238E27FC236}">
                <a16:creationId xmlns:a16="http://schemas.microsoft.com/office/drawing/2014/main" id="{8CDC09FB-019A-41E3-BC90-7FC8D132C9A4}"/>
              </a:ext>
            </a:extLst>
          </p:cNvPr>
          <p:cNvSpPr>
            <a:spLocks noGrp="1"/>
          </p:cNvSpPr>
          <p:nvPr/>
        </p:nvSpPr>
        <p:spPr>
          <a:xfrm>
            <a:off x="6381750" y="2662237"/>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REGRESSOR-DATEN</a:t>
            </a:r>
          </a:p>
        </p:txBody>
      </p:sp>
      <p:sp>
        <p:nvSpPr>
          <p:cNvPr id="12" name="Rechteck 11">
            <a:extLst>
              <a:ext uri="{FF2B5EF4-FFF2-40B4-BE49-F238E27FC236}">
                <a16:creationId xmlns:a16="http://schemas.microsoft.com/office/drawing/2014/main" id="{09469D9D-12A9-4B35-97C0-3882D808989E}"/>
              </a:ext>
            </a:extLst>
          </p:cNvPr>
          <p:cNvSpPr>
            <a:spLocks noGrp="1"/>
          </p:cNvSpPr>
          <p:nvPr/>
        </p:nvSpPr>
        <p:spPr>
          <a:xfrm>
            <a:off x="6381750" y="3119437"/>
            <a:ext cx="4572000" cy="523875"/>
          </a:xfrm>
          <a:prstGeom prst="rect">
            <a:avLst/>
          </a:prstGeom>
          <a:noFill/>
          <a:ln w="0">
            <a:noFill/>
            <a:prstDash val="solid"/>
          </a:ln>
        </p:spPr>
        <p:txBody>
          <a:bodyPr/>
          <a:lstStyle/>
          <a:p>
            <a:pPr>
              <a:defRPr sz="1725" b="1">
                <a:solidFill>
                  <a:srgbClr val="26323B"/>
                </a:solidFill>
              </a:defRPr>
            </a:pPr>
            <a:r>
              <a:rPr sz="1725" b="1" dirty="0" err="1">
                <a:solidFill>
                  <a:srgbClr val="26323B"/>
                </a:solidFill>
              </a:rPr>
              <a:t>Numerische</a:t>
            </a:r>
            <a:r>
              <a:rPr sz="1725" b="1" dirty="0">
                <a:solidFill>
                  <a:srgbClr val="26323B"/>
                </a:solidFill>
              </a:rPr>
              <a:t> </a:t>
            </a:r>
            <a:r>
              <a:rPr sz="1725" b="1" dirty="0" err="1">
                <a:solidFill>
                  <a:srgbClr val="26323B"/>
                </a:solidFill>
              </a:rPr>
              <a:t>Zeitreihen</a:t>
            </a:r>
            <a:endParaRPr sz="1725" b="1" dirty="0">
              <a:solidFill>
                <a:srgbClr val="26323B"/>
              </a:solidFill>
            </a:endParaRPr>
          </a:p>
        </p:txBody>
      </p:sp>
      <p:sp>
        <p:nvSpPr>
          <p:cNvPr id="13" name="Rechteck 12">
            <a:extLst>
              <a:ext uri="{FF2B5EF4-FFF2-40B4-BE49-F238E27FC236}">
                <a16:creationId xmlns:a16="http://schemas.microsoft.com/office/drawing/2014/main" id="{189895CE-B6B6-4595-B6C7-448553AA3166}"/>
              </a:ext>
            </a:extLst>
          </p:cNvPr>
          <p:cNvSpPr>
            <a:spLocks noGrp="1"/>
          </p:cNvSpPr>
          <p:nvPr/>
        </p:nvSpPr>
        <p:spPr>
          <a:xfrm>
            <a:off x="6381750" y="3786187"/>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Kalorien</a:t>
            </a:r>
            <a:r>
              <a:rPr sz="1725" b="0" dirty="0">
                <a:solidFill>
                  <a:srgbClr val="26323B"/>
                </a:solidFill>
              </a:rPr>
              <a:t> · </a:t>
            </a:r>
            <a:r>
              <a:rPr sz="1725" b="0" dirty="0" err="1">
                <a:solidFill>
                  <a:srgbClr val="26323B"/>
                </a:solidFill>
              </a:rPr>
              <a:t>Proteine</a:t>
            </a:r>
            <a:r>
              <a:rPr sz="1725" b="0" dirty="0">
                <a:solidFill>
                  <a:srgbClr val="26323B"/>
                </a:solidFill>
              </a:rPr>
              <a:t> · </a:t>
            </a:r>
            <a:r>
              <a:rPr sz="1725" b="0" dirty="0" err="1">
                <a:solidFill>
                  <a:srgbClr val="26323B"/>
                </a:solidFill>
              </a:rPr>
              <a:t>Schritte</a:t>
            </a:r>
            <a:endParaRPr sz="1725" b="0" dirty="0">
              <a:solidFill>
                <a:srgbClr val="26323B"/>
              </a:solidFill>
            </a:endParaRPr>
          </a:p>
        </p:txBody>
      </p:sp>
      <p:sp>
        <p:nvSpPr>
          <p:cNvPr id="14" name="Rechteck 13">
            <a:extLst>
              <a:ext uri="{FF2B5EF4-FFF2-40B4-BE49-F238E27FC236}">
                <a16:creationId xmlns:a16="http://schemas.microsoft.com/office/drawing/2014/main" id="{8C1BC066-DB6D-4EDB-A3DF-9ED05BD71311}"/>
              </a:ext>
            </a:extLst>
          </p:cNvPr>
          <p:cNvSpPr>
            <a:spLocks noGrp="1"/>
          </p:cNvSpPr>
          <p:nvPr/>
        </p:nvSpPr>
        <p:spPr>
          <a:xfrm>
            <a:off x="6381750" y="4452937"/>
            <a:ext cx="4572000" cy="523875"/>
          </a:xfrm>
          <a:prstGeom prst="rect">
            <a:avLst/>
          </a:prstGeom>
          <a:noFill/>
          <a:ln w="0">
            <a:noFill/>
            <a:prstDash val="solid"/>
          </a:ln>
        </p:spPr>
        <p:txBody>
          <a:bodyPr/>
          <a:lstStyle/>
          <a:p>
            <a:pPr>
              <a:defRPr sz="1725" b="0">
                <a:solidFill>
                  <a:srgbClr val="26323B"/>
                </a:solidFill>
              </a:defRPr>
            </a:pPr>
            <a:endParaRPr sz="1725" b="0" dirty="0">
              <a:solidFill>
                <a:srgbClr val="26323B"/>
              </a:solidFill>
            </a:endParaRPr>
          </a:p>
        </p:txBody>
      </p:sp>
    </p:spTree>
    <p:extLst>
      <p:ext uri="{BB962C8B-B14F-4D97-AF65-F5344CB8AC3E}">
        <p14:creationId xmlns:p14="http://schemas.microsoft.com/office/powerpoint/2010/main" val="776981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hase">
            <a:extLst>
              <a:ext uri="{FF2B5EF4-FFF2-40B4-BE49-F238E27FC236}">
                <a16:creationId xmlns:a16="http://schemas.microsoft.com/office/drawing/2014/main" id="{6F86E533-D31B-48E4-AA62-0635D27A7C0E}"/>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lang="de-DE" sz="975" b="1" dirty="0">
                <a:solidFill>
                  <a:srgbClr val="2980B9"/>
                </a:solidFill>
              </a:rPr>
              <a:t>A³ · Algorithmen</a:t>
            </a:r>
          </a:p>
        </p:txBody>
      </p:sp>
      <p:sp>
        <p:nvSpPr>
          <p:cNvPr id="2" name="Rechteck 1">
            <a:extLst>
              <a:ext uri="{FF2B5EF4-FFF2-40B4-BE49-F238E27FC236}">
                <a16:creationId xmlns:a16="http://schemas.microsoft.com/office/drawing/2014/main" id="{3FFD1BF5-A4CF-46D5-B408-7DFAAA2FF1D5}"/>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190A4B38-44A4-4984-BE5A-34E1A3B29D6F}"/>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7CF05399-75E9-444A-9E38-59DD06997638}"/>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a:t>
            </a:r>
            <a:r>
              <a:rPr lang="de-DE" sz="750" b="1" dirty="0">
                <a:solidFill>
                  <a:srgbClr val="69747D"/>
                </a:solidFill>
              </a:rPr>
              <a:t>6</a:t>
            </a:r>
            <a:endParaRPr sz="750" b="1" dirty="0">
              <a:solidFill>
                <a:srgbClr val="69747D"/>
              </a:solidFill>
            </a:endParaRPr>
          </a:p>
        </p:txBody>
      </p:sp>
      <p:sp>
        <p:nvSpPr>
          <p:cNvPr id="5" name="slide-title">
            <a:extLst>
              <a:ext uri="{FF2B5EF4-FFF2-40B4-BE49-F238E27FC236}">
                <a16:creationId xmlns:a16="http://schemas.microsoft.com/office/drawing/2014/main" id="{1A240D3D-0DED-4F76-9342-2D66B0B2FB42}"/>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Feature-Skalierung</a:t>
            </a:r>
            <a:endParaRPr sz="2700" b="1" dirty="0">
              <a:solidFill>
                <a:srgbClr val="26323B"/>
              </a:solidFill>
            </a:endParaRPr>
          </a:p>
        </p:txBody>
      </p:sp>
      <p:sp>
        <p:nvSpPr>
          <p:cNvPr id="6" name="Rechteck 5">
            <a:extLst>
              <a:ext uri="{FF2B5EF4-FFF2-40B4-BE49-F238E27FC236}">
                <a16:creationId xmlns:a16="http://schemas.microsoft.com/office/drawing/2014/main" id="{2FB1CF43-4D57-49E2-823A-23CC613BBA2E}"/>
              </a:ext>
            </a:extLst>
          </p:cNvPr>
          <p:cNvSpPr>
            <a:spLocks noGrp="1"/>
          </p:cNvSpPr>
          <p:nvPr/>
        </p:nvSpPr>
        <p:spPr>
          <a:xfrm>
            <a:off x="685800" y="2613851"/>
            <a:ext cx="3333750" cy="590550"/>
          </a:xfrm>
          <a:prstGeom prst="rect">
            <a:avLst/>
          </a:prstGeom>
          <a:noFill/>
          <a:ln w="0">
            <a:noFill/>
            <a:prstDash val="solid"/>
          </a:ln>
        </p:spPr>
        <p:txBody>
          <a:bodyPr/>
          <a:lstStyle/>
          <a:p>
            <a:pPr>
              <a:defRPr sz="3150" b="1">
                <a:solidFill>
                  <a:srgbClr val="2980B9"/>
                </a:solidFill>
              </a:defRPr>
            </a:pPr>
            <a:r>
              <a:rPr sz="3150" b="1" dirty="0" err="1">
                <a:solidFill>
                  <a:srgbClr val="2980B9"/>
                </a:solidFill>
              </a:rPr>
              <a:t>StandardScaler</a:t>
            </a:r>
            <a:endParaRPr sz="3150" b="1" dirty="0">
              <a:solidFill>
                <a:srgbClr val="2980B9"/>
              </a:solidFill>
            </a:endParaRPr>
          </a:p>
        </p:txBody>
      </p:sp>
      <p:sp>
        <p:nvSpPr>
          <p:cNvPr id="7" name="Rechteck 6">
            <a:extLst>
              <a:ext uri="{FF2B5EF4-FFF2-40B4-BE49-F238E27FC236}">
                <a16:creationId xmlns:a16="http://schemas.microsoft.com/office/drawing/2014/main" id="{077E7A6C-5108-49D5-963B-D4349BBC38C8}"/>
              </a:ext>
            </a:extLst>
          </p:cNvPr>
          <p:cNvSpPr>
            <a:spLocks noGrp="1"/>
          </p:cNvSpPr>
          <p:nvPr/>
        </p:nvSpPr>
        <p:spPr>
          <a:xfrm>
            <a:off x="685800" y="3394901"/>
            <a:ext cx="4286250" cy="323850"/>
          </a:xfrm>
          <a:prstGeom prst="rect">
            <a:avLst/>
          </a:prstGeom>
          <a:noFill/>
          <a:ln w="0">
            <a:noFill/>
            <a:prstDash val="solid"/>
          </a:ln>
        </p:spPr>
        <p:txBody>
          <a:bodyPr/>
          <a:lstStyle/>
          <a:p>
            <a:pPr>
              <a:defRPr sz="1575" b="1">
                <a:solidFill>
                  <a:srgbClr val="26323B"/>
                </a:solidFill>
              </a:defRPr>
            </a:pPr>
            <a:r>
              <a:rPr sz="1575" b="1" dirty="0">
                <a:solidFill>
                  <a:srgbClr val="26323B"/>
                </a:solidFill>
              </a:rPr>
              <a:t>Z-Score-</a:t>
            </a:r>
            <a:r>
              <a:rPr sz="1575" b="1" dirty="0" err="1">
                <a:solidFill>
                  <a:srgbClr val="26323B"/>
                </a:solidFill>
              </a:rPr>
              <a:t>Normierung</a:t>
            </a:r>
            <a:r>
              <a:rPr sz="1575" b="1" dirty="0">
                <a:solidFill>
                  <a:srgbClr val="26323B"/>
                </a:solidFill>
              </a:rPr>
              <a:t> </a:t>
            </a:r>
            <a:r>
              <a:rPr sz="1575" b="1" dirty="0" err="1">
                <a:solidFill>
                  <a:srgbClr val="26323B"/>
                </a:solidFill>
              </a:rPr>
              <a:t>numerischer</a:t>
            </a:r>
            <a:r>
              <a:rPr sz="1575" b="1" dirty="0">
                <a:solidFill>
                  <a:srgbClr val="26323B"/>
                </a:solidFill>
              </a:rPr>
              <a:t> Features</a:t>
            </a:r>
          </a:p>
        </p:txBody>
      </p:sp>
      <p:sp>
        <p:nvSpPr>
          <p:cNvPr id="8" name="Rechteck 7">
            <a:extLst>
              <a:ext uri="{FF2B5EF4-FFF2-40B4-BE49-F238E27FC236}">
                <a16:creationId xmlns:a16="http://schemas.microsoft.com/office/drawing/2014/main" id="{4E6E4E19-B9E6-4553-840E-7188F1E2D380}"/>
              </a:ext>
            </a:extLst>
          </p:cNvPr>
          <p:cNvSpPr>
            <a:spLocks noGrp="1"/>
          </p:cNvSpPr>
          <p:nvPr/>
        </p:nvSpPr>
        <p:spPr>
          <a:xfrm>
            <a:off x="685800" y="4099751"/>
            <a:ext cx="4572000" cy="552450"/>
          </a:xfrm>
          <a:prstGeom prst="rect">
            <a:avLst/>
          </a:prstGeom>
          <a:noFill/>
          <a:ln w="0">
            <a:noFill/>
            <a:prstDash val="solid"/>
          </a:ln>
        </p:spPr>
        <p:txBody>
          <a:bodyPr/>
          <a:lstStyle/>
          <a:p>
            <a:pPr>
              <a:defRPr sz="1575" b="0">
                <a:solidFill>
                  <a:srgbClr val="69747D"/>
                </a:solidFill>
              </a:defRPr>
            </a:pPr>
            <a:r>
              <a:rPr sz="1575" b="0" dirty="0">
                <a:solidFill>
                  <a:srgbClr val="69747D"/>
                </a:solidFill>
              </a:rPr>
              <a:t>Fit </a:t>
            </a:r>
            <a:r>
              <a:rPr sz="1575" b="0" dirty="0" err="1">
                <a:solidFill>
                  <a:srgbClr val="69747D"/>
                </a:solidFill>
              </a:rPr>
              <a:t>ausschließlich</a:t>
            </a:r>
            <a:r>
              <a:rPr sz="1575" b="0" dirty="0">
                <a:solidFill>
                  <a:srgbClr val="69747D"/>
                </a:solidFill>
              </a:rPr>
              <a:t> auf </a:t>
            </a:r>
            <a:r>
              <a:rPr sz="1575" b="0" dirty="0" err="1">
                <a:solidFill>
                  <a:srgbClr val="69747D"/>
                </a:solidFill>
              </a:rPr>
              <a:t>X_train</a:t>
            </a:r>
            <a:r>
              <a:rPr sz="1575" b="0" dirty="0">
                <a:solidFill>
                  <a:srgbClr val="69747D"/>
                </a:solidFill>
              </a:rPr>
              <a:t> – </a:t>
            </a:r>
            <a:r>
              <a:rPr sz="1575" b="0" dirty="0" err="1">
                <a:solidFill>
                  <a:srgbClr val="69747D"/>
                </a:solidFill>
              </a:rPr>
              <a:t>niemals</a:t>
            </a:r>
            <a:r>
              <a:rPr sz="1575" b="0" dirty="0">
                <a:solidFill>
                  <a:srgbClr val="69747D"/>
                </a:solidFill>
              </a:rPr>
              <a:t> auf </a:t>
            </a:r>
            <a:r>
              <a:rPr sz="1575" b="0" dirty="0" err="1">
                <a:solidFill>
                  <a:srgbClr val="69747D"/>
                </a:solidFill>
              </a:rPr>
              <a:t>X_test</a:t>
            </a:r>
            <a:r>
              <a:rPr sz="1575" b="0" dirty="0">
                <a:solidFill>
                  <a:srgbClr val="69747D"/>
                </a:solidFill>
              </a:rPr>
              <a:t>.</a:t>
            </a:r>
          </a:p>
        </p:txBody>
      </p:sp>
      <p:sp>
        <p:nvSpPr>
          <p:cNvPr id="10" name="Rechteck 9">
            <a:extLst>
              <a:ext uri="{FF2B5EF4-FFF2-40B4-BE49-F238E27FC236}">
                <a16:creationId xmlns:a16="http://schemas.microsoft.com/office/drawing/2014/main" id="{0159390C-780B-49FF-8E90-5A089A0836F5}"/>
              </a:ext>
            </a:extLst>
          </p:cNvPr>
          <p:cNvSpPr>
            <a:spLocks noGrp="1"/>
          </p:cNvSpPr>
          <p:nvPr/>
        </p:nvSpPr>
        <p:spPr>
          <a:xfrm>
            <a:off x="6572250" y="2613851"/>
            <a:ext cx="1714500" cy="247650"/>
          </a:xfrm>
          <a:prstGeom prst="rect">
            <a:avLst/>
          </a:prstGeom>
          <a:noFill/>
          <a:ln w="0">
            <a:noFill/>
            <a:prstDash val="solid"/>
          </a:ln>
        </p:spPr>
        <p:txBody>
          <a:bodyPr/>
          <a:lstStyle/>
          <a:p>
            <a:pPr>
              <a:defRPr sz="1200" b="1">
                <a:solidFill>
                  <a:srgbClr val="69747D"/>
                </a:solidFill>
              </a:defRPr>
            </a:pPr>
            <a:r>
              <a:rPr sz="1200" b="1" dirty="0">
                <a:solidFill>
                  <a:srgbClr val="69747D"/>
                </a:solidFill>
              </a:rPr>
              <a:t>bis </a:t>
            </a:r>
            <a:r>
              <a:rPr sz="1200" b="1" dirty="0" err="1">
                <a:solidFill>
                  <a:srgbClr val="69747D"/>
                </a:solidFill>
              </a:rPr>
              <a:t>zu</a:t>
            </a:r>
            <a:endParaRPr sz="1200" b="1" dirty="0">
              <a:solidFill>
                <a:srgbClr val="69747D"/>
              </a:solidFill>
            </a:endParaRPr>
          </a:p>
        </p:txBody>
      </p:sp>
      <p:sp>
        <p:nvSpPr>
          <p:cNvPr id="11" name="Rechteck 10">
            <a:extLst>
              <a:ext uri="{FF2B5EF4-FFF2-40B4-BE49-F238E27FC236}">
                <a16:creationId xmlns:a16="http://schemas.microsoft.com/office/drawing/2014/main" id="{E43B3F1A-8F95-45DD-B0B5-6573B759807D}"/>
              </a:ext>
            </a:extLst>
          </p:cNvPr>
          <p:cNvSpPr>
            <a:spLocks noGrp="1"/>
          </p:cNvSpPr>
          <p:nvPr/>
        </p:nvSpPr>
        <p:spPr>
          <a:xfrm>
            <a:off x="6572250" y="2956751"/>
            <a:ext cx="2381250" cy="723900"/>
          </a:xfrm>
          <a:prstGeom prst="rect">
            <a:avLst/>
          </a:prstGeom>
          <a:noFill/>
          <a:ln w="0">
            <a:noFill/>
            <a:prstDash val="solid"/>
          </a:ln>
        </p:spPr>
        <p:txBody>
          <a:bodyPr/>
          <a:lstStyle/>
          <a:p>
            <a:pPr>
              <a:defRPr sz="4650" b="1">
                <a:solidFill>
                  <a:srgbClr val="2980B9"/>
                </a:solidFill>
              </a:defRPr>
            </a:pPr>
            <a:r>
              <a:rPr sz="4650" b="1" dirty="0">
                <a:solidFill>
                  <a:srgbClr val="2980B9"/>
                </a:solidFill>
              </a:rPr>
              <a:t>25 %</a:t>
            </a:r>
          </a:p>
        </p:txBody>
      </p:sp>
      <p:sp>
        <p:nvSpPr>
          <p:cNvPr id="12" name="Rechteck 11">
            <a:extLst>
              <a:ext uri="{FF2B5EF4-FFF2-40B4-BE49-F238E27FC236}">
                <a16:creationId xmlns:a16="http://schemas.microsoft.com/office/drawing/2014/main" id="{5E1AFC77-7A56-4630-A9B0-583066EEFFB9}"/>
              </a:ext>
            </a:extLst>
          </p:cNvPr>
          <p:cNvSpPr>
            <a:spLocks noGrp="1"/>
          </p:cNvSpPr>
          <p:nvPr/>
        </p:nvSpPr>
        <p:spPr>
          <a:xfrm>
            <a:off x="6572250" y="3947351"/>
            <a:ext cx="4000500" cy="723900"/>
          </a:xfrm>
          <a:prstGeom prst="rect">
            <a:avLst/>
          </a:prstGeom>
          <a:noFill/>
          <a:ln w="0">
            <a:noFill/>
            <a:prstDash val="solid"/>
          </a:ln>
        </p:spPr>
        <p:txBody>
          <a:bodyPr/>
          <a:lstStyle/>
          <a:p>
            <a:pPr>
              <a:defRPr sz="1500" b="0">
                <a:solidFill>
                  <a:srgbClr val="26323B"/>
                </a:solidFill>
              </a:defRPr>
            </a:pPr>
            <a:r>
              <a:rPr sz="1500" b="0" dirty="0">
                <a:solidFill>
                  <a:srgbClr val="26323B"/>
                </a:solidFill>
              </a:rPr>
              <a:t>Performance-</a:t>
            </a:r>
            <a:r>
              <a:rPr sz="1500" b="0" dirty="0" err="1">
                <a:solidFill>
                  <a:srgbClr val="26323B"/>
                </a:solidFill>
              </a:rPr>
              <a:t>Gewinn</a:t>
            </a:r>
            <a:r>
              <a:rPr sz="1500" b="0" dirty="0">
                <a:solidFill>
                  <a:srgbClr val="26323B"/>
                </a:solidFill>
              </a:rPr>
              <a:t>.</a:t>
            </a:r>
          </a:p>
          <a:p>
            <a:pPr>
              <a:defRPr sz="1500" b="0">
                <a:solidFill>
                  <a:srgbClr val="26323B"/>
                </a:solidFill>
              </a:defRPr>
            </a:pPr>
            <a:r>
              <a:rPr sz="1500" b="0" dirty="0">
                <a:solidFill>
                  <a:srgbClr val="26323B"/>
                </a:solidFill>
              </a:rPr>
              <a:t>Ziel: </a:t>
            </a:r>
            <a:r>
              <a:rPr sz="1500" b="0" dirty="0" err="1">
                <a:solidFill>
                  <a:srgbClr val="26323B"/>
                </a:solidFill>
              </a:rPr>
              <a:t>echte</a:t>
            </a:r>
            <a:r>
              <a:rPr sz="1500" b="0" dirty="0">
                <a:solidFill>
                  <a:srgbClr val="26323B"/>
                </a:solidFill>
              </a:rPr>
              <a:t> </a:t>
            </a:r>
            <a:r>
              <a:rPr sz="1500" b="0" dirty="0" err="1">
                <a:solidFill>
                  <a:srgbClr val="26323B"/>
                </a:solidFill>
              </a:rPr>
              <a:t>Generalisierung</a:t>
            </a:r>
            <a:r>
              <a:rPr sz="1500" b="0" dirty="0">
                <a:solidFill>
                  <a:srgbClr val="26323B"/>
                </a:solidFill>
              </a:rPr>
              <a:t> </a:t>
            </a:r>
            <a:r>
              <a:rPr sz="1500" b="0" dirty="0" err="1">
                <a:solidFill>
                  <a:srgbClr val="26323B"/>
                </a:solidFill>
              </a:rPr>
              <a:t>statt</a:t>
            </a:r>
            <a:r>
              <a:rPr sz="1500" b="0" dirty="0">
                <a:solidFill>
                  <a:srgbClr val="26323B"/>
                </a:solidFill>
              </a:rPr>
              <a:t> Labor-</a:t>
            </a:r>
            <a:r>
              <a:rPr sz="1500" b="0" dirty="0" err="1">
                <a:solidFill>
                  <a:srgbClr val="26323B"/>
                </a:solidFill>
              </a:rPr>
              <a:t>Erfolg</a:t>
            </a:r>
            <a:r>
              <a:rPr sz="1500" b="0" dirty="0">
                <a:solidFill>
                  <a:srgbClr val="26323B"/>
                </a:solidFill>
              </a:rPr>
              <a:t>.</a:t>
            </a:r>
          </a:p>
        </p:txBody>
      </p:sp>
      <p:sp>
        <p:nvSpPr>
          <p:cNvPr id="14" name="Rechteck 13">
            <a:extLst>
              <a:ext uri="{FF2B5EF4-FFF2-40B4-BE49-F238E27FC236}">
                <a16:creationId xmlns:a16="http://schemas.microsoft.com/office/drawing/2014/main" id="{99E8243C-D1DF-4E92-06B2-30934D7E8BAC}"/>
              </a:ext>
            </a:extLst>
          </p:cNvPr>
          <p:cNvSpPr>
            <a:spLocks noGrp="1"/>
          </p:cNvSpPr>
          <p:nvPr/>
        </p:nvSpPr>
        <p:spPr>
          <a:xfrm>
            <a:off x="5619750" y="2466214"/>
            <a:ext cx="18000" cy="2205038"/>
          </a:xfrm>
          <a:prstGeom prst="rect">
            <a:avLst/>
          </a:prstGeom>
          <a:solidFill>
            <a:srgbClr val="DCE2E6"/>
          </a:solidFill>
          <a:ln w="0">
            <a:noFill/>
            <a:prstDash val="solid"/>
          </a:ln>
        </p:spPr>
        <p:txBody>
          <a:bodyPr/>
          <a:lstStyle/>
          <a:p>
            <a:endParaRPr lang="de-DE" dirty="0"/>
          </a:p>
        </p:txBody>
      </p:sp>
    </p:spTree>
    <p:extLst>
      <p:ext uri="{BB962C8B-B14F-4D97-AF65-F5344CB8AC3E}">
        <p14:creationId xmlns:p14="http://schemas.microsoft.com/office/powerpoint/2010/main" val="59285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hase">
            <a:extLst>
              <a:ext uri="{FF2B5EF4-FFF2-40B4-BE49-F238E27FC236}">
                <a16:creationId xmlns:a16="http://schemas.microsoft.com/office/drawing/2014/main" id="{4BB7EBBD-D1B1-4DA9-9577-D6F0BAAF7F37}"/>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A³ · A</a:t>
            </a:r>
            <a:r>
              <a:rPr lang="de-DE" sz="975" b="1" dirty="0" err="1">
                <a:solidFill>
                  <a:srgbClr val="2980B9"/>
                </a:solidFill>
              </a:rPr>
              <a:t>lgorithmen</a:t>
            </a:r>
            <a:endParaRPr sz="975" b="1" dirty="0">
              <a:solidFill>
                <a:srgbClr val="2980B9"/>
              </a:solidFill>
            </a:endParaRPr>
          </a:p>
        </p:txBody>
      </p:sp>
      <p:sp>
        <p:nvSpPr>
          <p:cNvPr id="2" name="Rechteck 1">
            <a:extLst>
              <a:ext uri="{FF2B5EF4-FFF2-40B4-BE49-F238E27FC236}">
                <a16:creationId xmlns:a16="http://schemas.microsoft.com/office/drawing/2014/main" id="{EB54DD3A-99BD-4B89-A7A3-5495B00EC249}"/>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66058C26-5EF4-4915-8D61-8645B0F94479}"/>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B944BDA0-3135-4861-B6D7-F4F1E68CADE6}"/>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a:t>
            </a:r>
            <a:r>
              <a:rPr lang="de-DE" sz="750" b="1" dirty="0">
                <a:solidFill>
                  <a:srgbClr val="69747D"/>
                </a:solidFill>
              </a:rPr>
              <a:t>7</a:t>
            </a:r>
            <a:endParaRPr sz="750" b="1" dirty="0">
              <a:solidFill>
                <a:srgbClr val="69747D"/>
              </a:solidFill>
            </a:endParaRPr>
          </a:p>
        </p:txBody>
      </p:sp>
      <p:sp>
        <p:nvSpPr>
          <p:cNvPr id="5" name="slide-title">
            <a:extLst>
              <a:ext uri="{FF2B5EF4-FFF2-40B4-BE49-F238E27FC236}">
                <a16:creationId xmlns:a16="http://schemas.microsoft.com/office/drawing/2014/main" id="{F1C36B3D-D13F-42F4-967F-3F19D7E7CF50}"/>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Feature-Auswahl &amp; Data </a:t>
            </a:r>
            <a:r>
              <a:rPr lang="de-DE" dirty="0" err="1"/>
              <a:t>Leakage</a:t>
            </a:r>
            <a:endParaRPr lang="de-DE" sz="2700" b="1" dirty="0">
              <a:solidFill>
                <a:srgbClr val="26323B"/>
              </a:solidFill>
            </a:endParaRPr>
          </a:p>
        </p:txBody>
      </p:sp>
      <p:sp>
        <p:nvSpPr>
          <p:cNvPr id="6" name="Rechteck 5">
            <a:extLst>
              <a:ext uri="{FF2B5EF4-FFF2-40B4-BE49-F238E27FC236}">
                <a16:creationId xmlns:a16="http://schemas.microsoft.com/office/drawing/2014/main" id="{2A64579A-9C88-461C-B39B-8C53A6197017}"/>
              </a:ext>
            </a:extLst>
          </p:cNvPr>
          <p:cNvSpPr>
            <a:spLocks noGrp="1"/>
          </p:cNvSpPr>
          <p:nvPr/>
        </p:nvSpPr>
        <p:spPr>
          <a:xfrm>
            <a:off x="5943599" y="2095500"/>
            <a:ext cx="18000" cy="3162300"/>
          </a:xfrm>
          <a:prstGeom prst="rect">
            <a:avLst/>
          </a:prstGeom>
          <a:solidFill>
            <a:srgbClr val="DCE2E6"/>
          </a:solidFill>
          <a:ln w="0">
            <a:noFill/>
            <a:prstDash val="solid"/>
          </a:ln>
        </p:spPr>
        <p:txBody>
          <a:bodyPr/>
          <a:lstStyle/>
          <a:p>
            <a:endParaRPr lang="de-DE" dirty="0"/>
          </a:p>
        </p:txBody>
      </p:sp>
      <p:sp>
        <p:nvSpPr>
          <p:cNvPr id="7" name="Rechteck 6">
            <a:extLst>
              <a:ext uri="{FF2B5EF4-FFF2-40B4-BE49-F238E27FC236}">
                <a16:creationId xmlns:a16="http://schemas.microsoft.com/office/drawing/2014/main" id="{70A6AC6A-5501-4F47-9410-AEAEC1FD6B9D}"/>
              </a:ext>
            </a:extLst>
          </p:cNvPr>
          <p:cNvSpPr>
            <a:spLocks noGrp="1"/>
          </p:cNvSpPr>
          <p:nvPr/>
        </p:nvSpPr>
        <p:spPr>
          <a:xfrm>
            <a:off x="685800" y="220980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KLASSIFIKATOR</a:t>
            </a:r>
          </a:p>
        </p:txBody>
      </p:sp>
      <p:sp>
        <p:nvSpPr>
          <p:cNvPr id="8" name="Rechteck 7">
            <a:extLst>
              <a:ext uri="{FF2B5EF4-FFF2-40B4-BE49-F238E27FC236}">
                <a16:creationId xmlns:a16="http://schemas.microsoft.com/office/drawing/2014/main" id="{18C9FFA9-7BB8-477F-BC9E-E115A4C77E49}"/>
              </a:ext>
            </a:extLst>
          </p:cNvPr>
          <p:cNvSpPr>
            <a:spLocks noGrp="1"/>
          </p:cNvSpPr>
          <p:nvPr/>
        </p:nvSpPr>
        <p:spPr>
          <a:xfrm>
            <a:off x="685800" y="2667000"/>
            <a:ext cx="4762500" cy="457200"/>
          </a:xfrm>
          <a:prstGeom prst="rect">
            <a:avLst/>
          </a:prstGeom>
          <a:noFill/>
          <a:ln w="0">
            <a:noFill/>
            <a:prstDash val="solid"/>
          </a:ln>
        </p:spPr>
        <p:txBody>
          <a:bodyPr/>
          <a:lstStyle/>
          <a:p>
            <a:pPr>
              <a:defRPr sz="1800" b="1">
                <a:solidFill>
                  <a:srgbClr val="26323B"/>
                </a:solidFill>
              </a:defRPr>
            </a:pPr>
            <a:r>
              <a:rPr sz="1800" b="1" dirty="0" err="1">
                <a:solidFill>
                  <a:srgbClr val="26323B"/>
                </a:solidFill>
              </a:rPr>
              <a:t>Demografie</a:t>
            </a:r>
            <a:r>
              <a:rPr sz="1800" b="1" dirty="0">
                <a:solidFill>
                  <a:srgbClr val="26323B"/>
                </a:solidFill>
              </a:rPr>
              <a:t> &amp; </a:t>
            </a:r>
            <a:r>
              <a:rPr sz="1800" b="1" dirty="0" err="1">
                <a:solidFill>
                  <a:srgbClr val="26323B"/>
                </a:solidFill>
              </a:rPr>
              <a:t>Biometrie</a:t>
            </a:r>
            <a:endParaRPr sz="1800" b="1" dirty="0">
              <a:solidFill>
                <a:srgbClr val="26323B"/>
              </a:solidFill>
            </a:endParaRPr>
          </a:p>
        </p:txBody>
      </p:sp>
      <p:sp>
        <p:nvSpPr>
          <p:cNvPr id="9" name="Rechteck 8">
            <a:extLst>
              <a:ext uri="{FF2B5EF4-FFF2-40B4-BE49-F238E27FC236}">
                <a16:creationId xmlns:a16="http://schemas.microsoft.com/office/drawing/2014/main" id="{9E3C5F4C-3EE2-4A0E-804A-3C4903640EAB}"/>
              </a:ext>
            </a:extLst>
          </p:cNvPr>
          <p:cNvSpPr>
            <a:spLocks noGrp="1"/>
          </p:cNvSpPr>
          <p:nvPr/>
        </p:nvSpPr>
        <p:spPr>
          <a:xfrm>
            <a:off x="685800" y="3267075"/>
            <a:ext cx="4762500" cy="457200"/>
          </a:xfrm>
          <a:prstGeom prst="rect">
            <a:avLst/>
          </a:prstGeom>
          <a:noFill/>
          <a:ln w="0">
            <a:noFill/>
            <a:prstDash val="solid"/>
          </a:ln>
        </p:spPr>
        <p:txBody>
          <a:bodyPr/>
          <a:lstStyle/>
          <a:p>
            <a:pPr>
              <a:defRPr sz="1800" b="0">
                <a:solidFill>
                  <a:srgbClr val="26323B"/>
                </a:solidFill>
              </a:defRPr>
            </a:pPr>
            <a:r>
              <a:rPr sz="1800" b="0" dirty="0">
                <a:solidFill>
                  <a:srgbClr val="26323B"/>
                </a:solidFill>
              </a:rPr>
              <a:t>Alter · </a:t>
            </a:r>
            <a:r>
              <a:rPr sz="1800" b="0" dirty="0" err="1">
                <a:solidFill>
                  <a:srgbClr val="26323B"/>
                </a:solidFill>
              </a:rPr>
              <a:t>Geschlecht</a:t>
            </a:r>
            <a:r>
              <a:rPr sz="1800" b="0" dirty="0">
                <a:solidFill>
                  <a:srgbClr val="26323B"/>
                </a:solidFill>
              </a:rPr>
              <a:t> · </a:t>
            </a:r>
            <a:r>
              <a:rPr sz="1800" b="0" dirty="0" err="1">
                <a:solidFill>
                  <a:srgbClr val="26323B"/>
                </a:solidFill>
              </a:rPr>
              <a:t>Größe</a:t>
            </a:r>
            <a:r>
              <a:rPr sz="1800" b="0" dirty="0">
                <a:solidFill>
                  <a:srgbClr val="26323B"/>
                </a:solidFill>
              </a:rPr>
              <a:t> · KFA · </a:t>
            </a:r>
            <a:r>
              <a:rPr sz="1800" b="0" dirty="0" err="1">
                <a:solidFill>
                  <a:srgbClr val="26323B"/>
                </a:solidFill>
              </a:rPr>
              <a:t>Gewicht</a:t>
            </a:r>
            <a:endParaRPr sz="1800" b="0" dirty="0">
              <a:solidFill>
                <a:srgbClr val="26323B"/>
              </a:solidFill>
            </a:endParaRPr>
          </a:p>
        </p:txBody>
      </p:sp>
      <p:sp>
        <p:nvSpPr>
          <p:cNvPr id="10" name="Rechteck 9">
            <a:extLst>
              <a:ext uri="{FF2B5EF4-FFF2-40B4-BE49-F238E27FC236}">
                <a16:creationId xmlns:a16="http://schemas.microsoft.com/office/drawing/2014/main" id="{A91A2B41-5572-48C7-B14A-26F30253F090}"/>
              </a:ext>
            </a:extLst>
          </p:cNvPr>
          <p:cNvSpPr>
            <a:spLocks noGrp="1"/>
          </p:cNvSpPr>
          <p:nvPr/>
        </p:nvSpPr>
        <p:spPr>
          <a:xfrm>
            <a:off x="685800" y="3867150"/>
            <a:ext cx="4762500" cy="457200"/>
          </a:xfrm>
          <a:prstGeom prst="rect">
            <a:avLst/>
          </a:prstGeom>
          <a:noFill/>
          <a:ln w="0">
            <a:noFill/>
            <a:prstDash val="solid"/>
          </a:ln>
        </p:spPr>
        <p:txBody>
          <a:bodyPr/>
          <a:lstStyle/>
          <a:p>
            <a:pPr>
              <a:defRPr sz="1800" b="0">
                <a:solidFill>
                  <a:srgbClr val="26323B"/>
                </a:solidFill>
              </a:defRPr>
            </a:pPr>
            <a:r>
              <a:rPr sz="1800" b="0" dirty="0" err="1">
                <a:solidFill>
                  <a:srgbClr val="26323B"/>
                </a:solidFill>
              </a:rPr>
              <a:t>Trainingstyp</a:t>
            </a:r>
            <a:endParaRPr sz="1800" b="0" dirty="0">
              <a:solidFill>
                <a:srgbClr val="26323B"/>
              </a:solidFill>
            </a:endParaRPr>
          </a:p>
        </p:txBody>
      </p:sp>
      <p:sp>
        <p:nvSpPr>
          <p:cNvPr id="11" name="Rechteck 10">
            <a:extLst>
              <a:ext uri="{FF2B5EF4-FFF2-40B4-BE49-F238E27FC236}">
                <a16:creationId xmlns:a16="http://schemas.microsoft.com/office/drawing/2014/main" id="{4D76B689-9094-4620-8032-1FDE26C8A863}"/>
              </a:ext>
            </a:extLst>
          </p:cNvPr>
          <p:cNvSpPr>
            <a:spLocks noGrp="1"/>
          </p:cNvSpPr>
          <p:nvPr/>
        </p:nvSpPr>
        <p:spPr>
          <a:xfrm>
            <a:off x="6381750" y="220980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REGRESSOR</a:t>
            </a:r>
          </a:p>
        </p:txBody>
      </p:sp>
      <p:sp>
        <p:nvSpPr>
          <p:cNvPr id="12" name="Rechteck 11">
            <a:extLst>
              <a:ext uri="{FF2B5EF4-FFF2-40B4-BE49-F238E27FC236}">
                <a16:creationId xmlns:a16="http://schemas.microsoft.com/office/drawing/2014/main" id="{86F83F0B-94D3-4B5F-9F4C-F57F30634500}"/>
              </a:ext>
            </a:extLst>
          </p:cNvPr>
          <p:cNvSpPr>
            <a:spLocks noGrp="1"/>
          </p:cNvSpPr>
          <p:nvPr/>
        </p:nvSpPr>
        <p:spPr>
          <a:xfrm>
            <a:off x="6381750" y="2667000"/>
            <a:ext cx="4572000" cy="523875"/>
          </a:xfrm>
          <a:prstGeom prst="rect">
            <a:avLst/>
          </a:prstGeom>
          <a:noFill/>
          <a:ln w="0">
            <a:noFill/>
            <a:prstDash val="solid"/>
          </a:ln>
        </p:spPr>
        <p:txBody>
          <a:bodyPr/>
          <a:lstStyle/>
          <a:p>
            <a:pPr>
              <a:defRPr sz="1725" b="1">
                <a:solidFill>
                  <a:srgbClr val="26323B"/>
                </a:solidFill>
              </a:defRPr>
            </a:pPr>
            <a:r>
              <a:rPr sz="1725" b="1" dirty="0" err="1">
                <a:solidFill>
                  <a:srgbClr val="26323B"/>
                </a:solidFill>
              </a:rPr>
              <a:t>Verhaltensmetriken</a:t>
            </a:r>
            <a:endParaRPr sz="1725" b="1" dirty="0">
              <a:solidFill>
                <a:srgbClr val="26323B"/>
              </a:solidFill>
            </a:endParaRPr>
          </a:p>
        </p:txBody>
      </p:sp>
      <p:sp>
        <p:nvSpPr>
          <p:cNvPr id="13" name="Rechteck 12">
            <a:extLst>
              <a:ext uri="{FF2B5EF4-FFF2-40B4-BE49-F238E27FC236}">
                <a16:creationId xmlns:a16="http://schemas.microsoft.com/office/drawing/2014/main" id="{3C692300-BA1A-40F3-93AD-4AE272AF5F3F}"/>
              </a:ext>
            </a:extLst>
          </p:cNvPr>
          <p:cNvSpPr>
            <a:spLocks noGrp="1"/>
          </p:cNvSpPr>
          <p:nvPr/>
        </p:nvSpPr>
        <p:spPr>
          <a:xfrm>
            <a:off x="6381750" y="3333750"/>
            <a:ext cx="4572000" cy="523875"/>
          </a:xfrm>
          <a:prstGeom prst="rect">
            <a:avLst/>
          </a:prstGeom>
          <a:noFill/>
          <a:ln w="0">
            <a:noFill/>
            <a:prstDash val="solid"/>
          </a:ln>
        </p:spPr>
        <p:txBody>
          <a:bodyPr/>
          <a:lstStyle/>
          <a:p>
            <a:pPr>
              <a:defRPr sz="1725" b="0">
                <a:solidFill>
                  <a:srgbClr val="26323B"/>
                </a:solidFill>
              </a:defRPr>
            </a:pPr>
            <a:r>
              <a:rPr sz="1725" b="0" dirty="0">
                <a:solidFill>
                  <a:srgbClr val="26323B"/>
                </a:solidFill>
              </a:rPr>
              <a:t>Energie- und </a:t>
            </a:r>
            <a:r>
              <a:rPr sz="1725" b="0" dirty="0" err="1">
                <a:solidFill>
                  <a:srgbClr val="26323B"/>
                </a:solidFill>
              </a:rPr>
              <a:t>Makrozufuhr</a:t>
            </a:r>
            <a:r>
              <a:rPr sz="1725" b="0" dirty="0">
                <a:solidFill>
                  <a:srgbClr val="26323B"/>
                </a:solidFill>
              </a:rPr>
              <a:t> · </a:t>
            </a:r>
            <a:r>
              <a:rPr sz="1725" b="0" dirty="0" err="1">
                <a:solidFill>
                  <a:srgbClr val="26323B"/>
                </a:solidFill>
              </a:rPr>
              <a:t>Schritte</a:t>
            </a:r>
            <a:endParaRPr sz="1725" b="0" dirty="0">
              <a:solidFill>
                <a:srgbClr val="26323B"/>
              </a:solidFill>
            </a:endParaRPr>
          </a:p>
        </p:txBody>
      </p:sp>
      <p:sp>
        <p:nvSpPr>
          <p:cNvPr id="14" name="Rechteck 13">
            <a:extLst>
              <a:ext uri="{FF2B5EF4-FFF2-40B4-BE49-F238E27FC236}">
                <a16:creationId xmlns:a16="http://schemas.microsoft.com/office/drawing/2014/main" id="{CFF1B4F5-89D5-474B-9110-41E0CBCC4E2E}"/>
              </a:ext>
            </a:extLst>
          </p:cNvPr>
          <p:cNvSpPr>
            <a:spLocks noGrp="1"/>
          </p:cNvSpPr>
          <p:nvPr/>
        </p:nvSpPr>
        <p:spPr>
          <a:xfrm>
            <a:off x="6381750" y="4000500"/>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Trainingsdauer</a:t>
            </a:r>
            <a:r>
              <a:rPr sz="1725" b="0" dirty="0">
                <a:solidFill>
                  <a:srgbClr val="26323B"/>
                </a:solidFill>
              </a:rPr>
              <a:t> · </a:t>
            </a:r>
            <a:r>
              <a:rPr sz="1725" b="0" dirty="0" err="1">
                <a:solidFill>
                  <a:srgbClr val="26323B"/>
                </a:solidFill>
              </a:rPr>
              <a:t>Ermüdung</a:t>
            </a:r>
            <a:endParaRPr sz="1725" b="0" dirty="0">
              <a:solidFill>
                <a:srgbClr val="26323B"/>
              </a:solidFill>
            </a:endParaRPr>
          </a:p>
        </p:txBody>
      </p:sp>
      <p:sp>
        <p:nvSpPr>
          <p:cNvPr id="15" name="Rechteck 14">
            <a:extLst>
              <a:ext uri="{FF2B5EF4-FFF2-40B4-BE49-F238E27FC236}">
                <a16:creationId xmlns:a16="http://schemas.microsoft.com/office/drawing/2014/main" id="{3E9BE8A3-4C23-4F1E-AEA6-918A8B5B2874}"/>
              </a:ext>
            </a:extLst>
          </p:cNvPr>
          <p:cNvSpPr>
            <a:spLocks noGrp="1"/>
          </p:cNvSpPr>
          <p:nvPr/>
        </p:nvSpPr>
        <p:spPr>
          <a:xfrm>
            <a:off x="685800" y="5353049"/>
            <a:ext cx="10820400" cy="18000"/>
          </a:xfrm>
          <a:prstGeom prst="rect">
            <a:avLst/>
          </a:prstGeom>
          <a:solidFill>
            <a:srgbClr val="DCE2E6"/>
          </a:solidFill>
          <a:ln w="0">
            <a:noFill/>
            <a:prstDash val="solid"/>
          </a:ln>
        </p:spPr>
        <p:txBody>
          <a:bodyPr/>
          <a:lstStyle/>
          <a:p>
            <a:endParaRPr lang="de-DE" dirty="0"/>
          </a:p>
        </p:txBody>
      </p:sp>
      <p:sp>
        <p:nvSpPr>
          <p:cNvPr id="16" name="Rechteck 15">
            <a:extLst>
              <a:ext uri="{FF2B5EF4-FFF2-40B4-BE49-F238E27FC236}">
                <a16:creationId xmlns:a16="http://schemas.microsoft.com/office/drawing/2014/main" id="{101818C7-AC3E-4345-A254-F1326AFAA4DA}"/>
              </a:ext>
            </a:extLst>
          </p:cNvPr>
          <p:cNvSpPr>
            <a:spLocks noGrp="1"/>
          </p:cNvSpPr>
          <p:nvPr/>
        </p:nvSpPr>
        <p:spPr>
          <a:xfrm>
            <a:off x="685800" y="5524500"/>
            <a:ext cx="10287000" cy="361950"/>
          </a:xfrm>
          <a:prstGeom prst="rect">
            <a:avLst/>
          </a:prstGeom>
          <a:noFill/>
          <a:ln w="0">
            <a:noFill/>
            <a:prstDash val="solid"/>
          </a:ln>
        </p:spPr>
        <p:txBody>
          <a:bodyPr/>
          <a:lstStyle/>
          <a:p>
            <a:pPr>
              <a:defRPr sz="1275" b="0">
                <a:solidFill>
                  <a:srgbClr val="69747D"/>
                </a:solidFill>
              </a:defRPr>
            </a:pPr>
            <a:r>
              <a:rPr sz="1275" b="0" dirty="0">
                <a:solidFill>
                  <a:srgbClr val="69747D"/>
                </a:solidFill>
              </a:rPr>
              <a:t>Strenger </a:t>
            </a:r>
            <a:r>
              <a:rPr sz="1275" b="0" dirty="0" err="1">
                <a:solidFill>
                  <a:srgbClr val="69747D"/>
                </a:solidFill>
              </a:rPr>
              <a:t>Ausschluss</a:t>
            </a:r>
            <a:r>
              <a:rPr sz="1275" b="0" dirty="0">
                <a:solidFill>
                  <a:srgbClr val="69747D"/>
                </a:solidFill>
              </a:rPr>
              <a:t>: post-</a:t>
            </a:r>
            <a:r>
              <a:rPr sz="1275" b="0" dirty="0" err="1">
                <a:solidFill>
                  <a:srgbClr val="69747D"/>
                </a:solidFill>
              </a:rPr>
              <a:t>Einnahme</a:t>
            </a:r>
            <a:r>
              <a:rPr sz="1275" b="0" dirty="0">
                <a:solidFill>
                  <a:srgbClr val="69747D"/>
                </a:solidFill>
              </a:rPr>
              <a:t>-</a:t>
            </a:r>
            <a:r>
              <a:rPr sz="1275" b="0" dirty="0" err="1">
                <a:solidFill>
                  <a:srgbClr val="69747D"/>
                </a:solidFill>
              </a:rPr>
              <a:t>Variablen</a:t>
            </a:r>
            <a:r>
              <a:rPr sz="1275" b="0" dirty="0">
                <a:solidFill>
                  <a:srgbClr val="69747D"/>
                </a:solidFill>
              </a:rPr>
              <a:t> </a:t>
            </a:r>
            <a:r>
              <a:rPr sz="1275" b="0" dirty="0" err="1">
                <a:solidFill>
                  <a:srgbClr val="69747D"/>
                </a:solidFill>
              </a:rPr>
              <a:t>wie</a:t>
            </a:r>
            <a:r>
              <a:rPr sz="1275" b="0" dirty="0">
                <a:solidFill>
                  <a:srgbClr val="69747D"/>
                </a:solidFill>
              </a:rPr>
              <a:t> </a:t>
            </a:r>
            <a:r>
              <a:rPr sz="1275" b="0" dirty="0" err="1">
                <a:solidFill>
                  <a:srgbClr val="69747D"/>
                </a:solidFill>
              </a:rPr>
              <a:t>performance_improvement</a:t>
            </a:r>
            <a:r>
              <a:rPr sz="1275" b="0" dirty="0">
                <a:solidFill>
                  <a:srgbClr val="69747D"/>
                </a:solidFill>
              </a:rPr>
              <a:t> – </a:t>
            </a:r>
            <a:r>
              <a:rPr sz="1275" b="0" dirty="0" err="1">
                <a:solidFill>
                  <a:srgbClr val="69747D"/>
                </a:solidFill>
              </a:rPr>
              <a:t>verhindert</a:t>
            </a:r>
            <a:r>
              <a:rPr sz="1275" b="0" dirty="0">
                <a:solidFill>
                  <a:srgbClr val="69747D"/>
                </a:solidFill>
              </a:rPr>
              <a:t> Data Leakage </a:t>
            </a:r>
            <a:r>
              <a:rPr sz="1275" b="0" dirty="0" err="1">
                <a:solidFill>
                  <a:srgbClr val="69747D"/>
                </a:solidFill>
              </a:rPr>
              <a:t>durch</a:t>
            </a:r>
            <a:r>
              <a:rPr sz="1275" b="0" dirty="0">
                <a:solidFill>
                  <a:srgbClr val="69747D"/>
                </a:solidFill>
              </a:rPr>
              <a:t> </a:t>
            </a:r>
            <a:r>
              <a:rPr sz="1275" b="0" dirty="0" err="1">
                <a:solidFill>
                  <a:srgbClr val="69747D"/>
                </a:solidFill>
              </a:rPr>
              <a:t>Zukunftsvorhersagen</a:t>
            </a:r>
            <a:r>
              <a:rPr sz="1275" b="0" dirty="0">
                <a:solidFill>
                  <a:srgbClr val="69747D"/>
                </a:solidFill>
              </a:rPr>
              <a:t>.</a:t>
            </a:r>
          </a:p>
        </p:txBody>
      </p:sp>
    </p:spTree>
    <p:extLst>
      <p:ext uri="{BB962C8B-B14F-4D97-AF65-F5344CB8AC3E}">
        <p14:creationId xmlns:p14="http://schemas.microsoft.com/office/powerpoint/2010/main" val="639033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hase">
            <a:extLst>
              <a:ext uri="{FF2B5EF4-FFF2-40B4-BE49-F238E27FC236}">
                <a16:creationId xmlns:a16="http://schemas.microsoft.com/office/drawing/2014/main" id="{1A133C88-2DE5-4689-8FA9-D307C21830BC}"/>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A³ · </a:t>
            </a:r>
            <a:r>
              <a:rPr lang="de-DE" sz="975" b="1" dirty="0">
                <a:solidFill>
                  <a:srgbClr val="2980B9"/>
                </a:solidFill>
              </a:rPr>
              <a:t>Algorithmen</a:t>
            </a:r>
            <a:endParaRPr sz="975" b="1" dirty="0">
              <a:solidFill>
                <a:srgbClr val="2980B9"/>
              </a:solidFill>
            </a:endParaRPr>
          </a:p>
        </p:txBody>
      </p:sp>
      <p:sp>
        <p:nvSpPr>
          <p:cNvPr id="2" name="Rechteck 1">
            <a:extLst>
              <a:ext uri="{FF2B5EF4-FFF2-40B4-BE49-F238E27FC236}">
                <a16:creationId xmlns:a16="http://schemas.microsoft.com/office/drawing/2014/main" id="{E7C752FB-4501-4E8D-8069-5EEFD10881A0}"/>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D332CC42-A8A9-4316-9F8B-9C5EC002C12D}"/>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74536C76-5F60-43AA-8F1B-C625AB65B104}"/>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0</a:t>
            </a:r>
            <a:r>
              <a:rPr lang="de-DE" sz="750" b="1" dirty="0">
                <a:solidFill>
                  <a:srgbClr val="69747D"/>
                </a:solidFill>
              </a:rPr>
              <a:t>8</a:t>
            </a:r>
            <a:endParaRPr sz="750" b="1" dirty="0">
              <a:solidFill>
                <a:srgbClr val="69747D"/>
              </a:solidFill>
            </a:endParaRPr>
          </a:p>
        </p:txBody>
      </p:sp>
      <p:sp>
        <p:nvSpPr>
          <p:cNvPr id="5" name="slide-title">
            <a:extLst>
              <a:ext uri="{FF2B5EF4-FFF2-40B4-BE49-F238E27FC236}">
                <a16:creationId xmlns:a16="http://schemas.microsoft.com/office/drawing/2014/main" id="{2813FB7D-A025-4A3C-99BB-D02B9CE28F6E}"/>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Die </a:t>
            </a:r>
            <a:r>
              <a:rPr lang="de-DE" dirty="0" err="1"/>
              <a:t>Preprocessing</a:t>
            </a:r>
            <a:r>
              <a:rPr lang="de-DE" dirty="0"/>
              <a:t>-Pipeline</a:t>
            </a:r>
            <a:endParaRPr sz="2700" b="1" dirty="0">
              <a:solidFill>
                <a:srgbClr val="26323B"/>
              </a:solidFill>
            </a:endParaRPr>
          </a:p>
        </p:txBody>
      </p:sp>
      <p:sp>
        <p:nvSpPr>
          <p:cNvPr id="6" name="Rechteck 5">
            <a:extLst>
              <a:ext uri="{FF2B5EF4-FFF2-40B4-BE49-F238E27FC236}">
                <a16:creationId xmlns:a16="http://schemas.microsoft.com/office/drawing/2014/main" id="{7F6113D1-B463-4010-A4F8-77777387528D}"/>
              </a:ext>
            </a:extLst>
          </p:cNvPr>
          <p:cNvSpPr>
            <a:spLocks noGrp="1"/>
          </p:cNvSpPr>
          <p:nvPr/>
        </p:nvSpPr>
        <p:spPr>
          <a:xfrm>
            <a:off x="685800" y="2590256"/>
            <a:ext cx="666750" cy="514350"/>
          </a:xfrm>
          <a:prstGeom prst="rect">
            <a:avLst/>
          </a:prstGeom>
          <a:noFill/>
          <a:ln w="0">
            <a:noFill/>
            <a:prstDash val="solid"/>
          </a:ln>
        </p:spPr>
        <p:txBody>
          <a:bodyPr/>
          <a:lstStyle/>
          <a:p>
            <a:pPr>
              <a:defRPr sz="3300" b="1">
                <a:solidFill>
                  <a:srgbClr val="2980B9"/>
                </a:solidFill>
              </a:defRPr>
            </a:pPr>
            <a:r>
              <a:rPr sz="3300" b="1" dirty="0">
                <a:solidFill>
                  <a:srgbClr val="2980B9"/>
                </a:solidFill>
              </a:rPr>
              <a:t>01</a:t>
            </a:r>
          </a:p>
        </p:txBody>
      </p:sp>
      <p:sp>
        <p:nvSpPr>
          <p:cNvPr id="7" name="Rechteck 6">
            <a:extLst>
              <a:ext uri="{FF2B5EF4-FFF2-40B4-BE49-F238E27FC236}">
                <a16:creationId xmlns:a16="http://schemas.microsoft.com/office/drawing/2014/main" id="{8FC419E7-79FC-4524-AA96-82D4212D089C}"/>
              </a:ext>
            </a:extLst>
          </p:cNvPr>
          <p:cNvSpPr>
            <a:spLocks noGrp="1"/>
          </p:cNvSpPr>
          <p:nvPr/>
        </p:nvSpPr>
        <p:spPr>
          <a:xfrm>
            <a:off x="685800" y="3380831"/>
            <a:ext cx="3238500" cy="3238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ColumnTransformer</a:t>
            </a:r>
            <a:endParaRPr sz="1650" b="1" dirty="0">
              <a:solidFill>
                <a:srgbClr val="26323B"/>
              </a:solidFill>
            </a:endParaRPr>
          </a:p>
        </p:txBody>
      </p:sp>
      <p:sp>
        <p:nvSpPr>
          <p:cNvPr id="8" name="Rechteck 7">
            <a:extLst>
              <a:ext uri="{FF2B5EF4-FFF2-40B4-BE49-F238E27FC236}">
                <a16:creationId xmlns:a16="http://schemas.microsoft.com/office/drawing/2014/main" id="{AAE5163B-00EE-4526-8CC6-5171A47653E6}"/>
              </a:ext>
            </a:extLst>
          </p:cNvPr>
          <p:cNvSpPr>
            <a:spLocks noGrp="1"/>
          </p:cNvSpPr>
          <p:nvPr/>
        </p:nvSpPr>
        <p:spPr>
          <a:xfrm>
            <a:off x="685800" y="3923756"/>
            <a:ext cx="3238500" cy="628650"/>
          </a:xfrm>
          <a:prstGeom prst="rect">
            <a:avLst/>
          </a:prstGeom>
          <a:noFill/>
          <a:ln w="0">
            <a:noFill/>
            <a:prstDash val="solid"/>
          </a:ln>
        </p:spPr>
        <p:txBody>
          <a:bodyPr/>
          <a:lstStyle/>
          <a:p>
            <a:pPr>
              <a:defRPr sz="1425" b="0">
                <a:solidFill>
                  <a:srgbClr val="69747D"/>
                </a:solidFill>
              </a:defRPr>
            </a:pPr>
            <a:r>
              <a:rPr sz="1425" b="0" dirty="0" err="1">
                <a:solidFill>
                  <a:srgbClr val="69747D"/>
                </a:solidFill>
              </a:rPr>
              <a:t>Parallele</a:t>
            </a:r>
            <a:r>
              <a:rPr sz="1425" b="0" dirty="0">
                <a:solidFill>
                  <a:srgbClr val="69747D"/>
                </a:solidFill>
              </a:rPr>
              <a:t> </a:t>
            </a:r>
            <a:r>
              <a:rPr sz="1425" b="0" dirty="0" err="1">
                <a:solidFill>
                  <a:srgbClr val="69747D"/>
                </a:solidFill>
              </a:rPr>
              <a:t>Verarbeitung</a:t>
            </a:r>
            <a:r>
              <a:rPr sz="1425" b="0" dirty="0">
                <a:solidFill>
                  <a:srgbClr val="69747D"/>
                </a:solidFill>
              </a:rPr>
              <a:t> </a:t>
            </a:r>
            <a:r>
              <a:rPr sz="1425" b="0" dirty="0" err="1">
                <a:solidFill>
                  <a:srgbClr val="69747D"/>
                </a:solidFill>
              </a:rPr>
              <a:t>unterschiedlicher</a:t>
            </a:r>
            <a:r>
              <a:rPr sz="1425" b="0" dirty="0">
                <a:solidFill>
                  <a:srgbClr val="69747D"/>
                </a:solidFill>
              </a:rPr>
              <a:t> </a:t>
            </a:r>
            <a:r>
              <a:rPr sz="1425" b="0" dirty="0" err="1">
                <a:solidFill>
                  <a:srgbClr val="69747D"/>
                </a:solidFill>
              </a:rPr>
              <a:t>Datentypen</a:t>
            </a:r>
            <a:r>
              <a:rPr sz="1425" b="0" dirty="0">
                <a:solidFill>
                  <a:srgbClr val="69747D"/>
                </a:solidFill>
              </a:rPr>
              <a:t>.</a:t>
            </a:r>
          </a:p>
        </p:txBody>
      </p:sp>
      <p:sp>
        <p:nvSpPr>
          <p:cNvPr id="9" name="Rechteck 8">
            <a:extLst>
              <a:ext uri="{FF2B5EF4-FFF2-40B4-BE49-F238E27FC236}">
                <a16:creationId xmlns:a16="http://schemas.microsoft.com/office/drawing/2014/main" id="{03E550D7-2950-4E81-92B9-9770A87D9DBF}"/>
              </a:ext>
            </a:extLst>
          </p:cNvPr>
          <p:cNvSpPr>
            <a:spLocks noGrp="1"/>
          </p:cNvSpPr>
          <p:nvPr/>
        </p:nvSpPr>
        <p:spPr>
          <a:xfrm>
            <a:off x="4000499" y="2571206"/>
            <a:ext cx="18000" cy="1866900"/>
          </a:xfrm>
          <a:prstGeom prst="rect">
            <a:avLst/>
          </a:prstGeom>
          <a:solidFill>
            <a:srgbClr val="DCE2E6"/>
          </a:solidFill>
          <a:ln w="0">
            <a:noFill/>
            <a:prstDash val="solid"/>
          </a:ln>
        </p:spPr>
        <p:txBody>
          <a:bodyPr/>
          <a:lstStyle/>
          <a:p>
            <a:endParaRPr lang="de-DE" dirty="0"/>
          </a:p>
        </p:txBody>
      </p:sp>
      <p:sp>
        <p:nvSpPr>
          <p:cNvPr id="10" name="Rechteck 9">
            <a:extLst>
              <a:ext uri="{FF2B5EF4-FFF2-40B4-BE49-F238E27FC236}">
                <a16:creationId xmlns:a16="http://schemas.microsoft.com/office/drawing/2014/main" id="{4CAA3EA4-134F-4970-A75D-AA857795B699}"/>
              </a:ext>
            </a:extLst>
          </p:cNvPr>
          <p:cNvSpPr>
            <a:spLocks noGrp="1"/>
          </p:cNvSpPr>
          <p:nvPr/>
        </p:nvSpPr>
        <p:spPr>
          <a:xfrm>
            <a:off x="4324350" y="2590256"/>
            <a:ext cx="666750" cy="514350"/>
          </a:xfrm>
          <a:prstGeom prst="rect">
            <a:avLst/>
          </a:prstGeom>
          <a:noFill/>
          <a:ln w="0">
            <a:noFill/>
            <a:prstDash val="solid"/>
          </a:ln>
        </p:spPr>
        <p:txBody>
          <a:bodyPr/>
          <a:lstStyle/>
          <a:p>
            <a:pPr>
              <a:defRPr sz="3300" b="1">
                <a:solidFill>
                  <a:srgbClr val="2980B9"/>
                </a:solidFill>
              </a:defRPr>
            </a:pPr>
            <a:r>
              <a:rPr sz="3300" b="1" dirty="0">
                <a:solidFill>
                  <a:srgbClr val="2980B9"/>
                </a:solidFill>
              </a:rPr>
              <a:t>02</a:t>
            </a:r>
          </a:p>
        </p:txBody>
      </p:sp>
      <p:sp>
        <p:nvSpPr>
          <p:cNvPr id="11" name="Rechteck 10">
            <a:extLst>
              <a:ext uri="{FF2B5EF4-FFF2-40B4-BE49-F238E27FC236}">
                <a16:creationId xmlns:a16="http://schemas.microsoft.com/office/drawing/2014/main" id="{8EBBFA43-8359-4F72-9AB3-D826CE59621D}"/>
              </a:ext>
            </a:extLst>
          </p:cNvPr>
          <p:cNvSpPr>
            <a:spLocks noGrp="1"/>
          </p:cNvSpPr>
          <p:nvPr/>
        </p:nvSpPr>
        <p:spPr>
          <a:xfrm>
            <a:off x="4324350" y="3380831"/>
            <a:ext cx="3238500" cy="3238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Kategorialer</a:t>
            </a:r>
            <a:r>
              <a:rPr sz="1650" b="1" dirty="0">
                <a:solidFill>
                  <a:srgbClr val="26323B"/>
                </a:solidFill>
              </a:rPr>
              <a:t> </a:t>
            </a:r>
            <a:r>
              <a:rPr sz="1650" b="1" dirty="0" err="1">
                <a:solidFill>
                  <a:srgbClr val="26323B"/>
                </a:solidFill>
              </a:rPr>
              <a:t>Pfad</a:t>
            </a:r>
            <a:endParaRPr sz="1650" b="1" dirty="0">
              <a:solidFill>
                <a:srgbClr val="26323B"/>
              </a:solidFill>
            </a:endParaRPr>
          </a:p>
        </p:txBody>
      </p:sp>
      <p:sp>
        <p:nvSpPr>
          <p:cNvPr id="12" name="Rechteck 11">
            <a:extLst>
              <a:ext uri="{FF2B5EF4-FFF2-40B4-BE49-F238E27FC236}">
                <a16:creationId xmlns:a16="http://schemas.microsoft.com/office/drawing/2014/main" id="{A72BABF5-72B9-4438-99EA-E32C6ECA2FA3}"/>
              </a:ext>
            </a:extLst>
          </p:cNvPr>
          <p:cNvSpPr>
            <a:spLocks noGrp="1"/>
          </p:cNvSpPr>
          <p:nvPr/>
        </p:nvSpPr>
        <p:spPr>
          <a:xfrm>
            <a:off x="4324349" y="3923756"/>
            <a:ext cx="3332699" cy="628650"/>
          </a:xfrm>
          <a:prstGeom prst="rect">
            <a:avLst/>
          </a:prstGeom>
          <a:noFill/>
          <a:ln w="0">
            <a:noFill/>
            <a:prstDash val="solid"/>
          </a:ln>
        </p:spPr>
        <p:txBody>
          <a:bodyPr/>
          <a:lstStyle/>
          <a:p>
            <a:pPr>
              <a:defRPr sz="1425" b="0">
                <a:solidFill>
                  <a:srgbClr val="69747D"/>
                </a:solidFill>
              </a:defRPr>
            </a:pPr>
            <a:r>
              <a:rPr sz="1425" b="0" dirty="0" err="1">
                <a:solidFill>
                  <a:srgbClr val="69747D"/>
                </a:solidFill>
              </a:rPr>
              <a:t>OneHotEncoder</a:t>
            </a:r>
            <a:r>
              <a:rPr sz="1425" b="0" dirty="0">
                <a:solidFill>
                  <a:srgbClr val="69747D"/>
                </a:solidFill>
              </a:rPr>
              <a:t>(</a:t>
            </a:r>
            <a:r>
              <a:rPr sz="1425" b="0" dirty="0" err="1">
                <a:solidFill>
                  <a:srgbClr val="69747D"/>
                </a:solidFill>
              </a:rPr>
              <a:t>handle_unknown</a:t>
            </a:r>
            <a:r>
              <a:rPr sz="1425" b="0" dirty="0">
                <a:solidFill>
                  <a:srgbClr val="69747D"/>
                </a:solidFill>
              </a:rPr>
              <a:t>='ignore') für </a:t>
            </a:r>
            <a:r>
              <a:rPr sz="1425" b="0" dirty="0" err="1">
                <a:solidFill>
                  <a:srgbClr val="69747D"/>
                </a:solidFill>
              </a:rPr>
              <a:t>Textprofile</a:t>
            </a:r>
            <a:r>
              <a:rPr sz="1425" b="0" dirty="0">
                <a:solidFill>
                  <a:srgbClr val="69747D"/>
                </a:solidFill>
              </a:rPr>
              <a:t>.</a:t>
            </a:r>
          </a:p>
        </p:txBody>
      </p:sp>
      <p:sp>
        <p:nvSpPr>
          <p:cNvPr id="13" name="Rechteck 12">
            <a:extLst>
              <a:ext uri="{FF2B5EF4-FFF2-40B4-BE49-F238E27FC236}">
                <a16:creationId xmlns:a16="http://schemas.microsoft.com/office/drawing/2014/main" id="{2DD97E57-F960-4FC9-A09A-1F08245C5278}"/>
              </a:ext>
            </a:extLst>
          </p:cNvPr>
          <p:cNvSpPr>
            <a:spLocks noGrp="1"/>
          </p:cNvSpPr>
          <p:nvPr/>
        </p:nvSpPr>
        <p:spPr>
          <a:xfrm>
            <a:off x="7639049" y="2571206"/>
            <a:ext cx="18000" cy="1866900"/>
          </a:xfrm>
          <a:prstGeom prst="rect">
            <a:avLst/>
          </a:prstGeom>
          <a:solidFill>
            <a:srgbClr val="DCE2E6"/>
          </a:solidFill>
          <a:ln w="0">
            <a:noFill/>
            <a:prstDash val="solid"/>
          </a:ln>
        </p:spPr>
        <p:txBody>
          <a:bodyPr/>
          <a:lstStyle/>
          <a:p>
            <a:endParaRPr lang="de-DE" dirty="0"/>
          </a:p>
        </p:txBody>
      </p:sp>
      <p:sp>
        <p:nvSpPr>
          <p:cNvPr id="14" name="Rechteck 13">
            <a:extLst>
              <a:ext uri="{FF2B5EF4-FFF2-40B4-BE49-F238E27FC236}">
                <a16:creationId xmlns:a16="http://schemas.microsoft.com/office/drawing/2014/main" id="{481E0CC0-71C6-4DF8-9053-A8CDE3F91F74}"/>
              </a:ext>
            </a:extLst>
          </p:cNvPr>
          <p:cNvSpPr>
            <a:spLocks noGrp="1"/>
          </p:cNvSpPr>
          <p:nvPr/>
        </p:nvSpPr>
        <p:spPr>
          <a:xfrm>
            <a:off x="7962900" y="2590256"/>
            <a:ext cx="666750" cy="514350"/>
          </a:xfrm>
          <a:prstGeom prst="rect">
            <a:avLst/>
          </a:prstGeom>
          <a:noFill/>
          <a:ln w="0">
            <a:noFill/>
            <a:prstDash val="solid"/>
          </a:ln>
        </p:spPr>
        <p:txBody>
          <a:bodyPr/>
          <a:lstStyle/>
          <a:p>
            <a:pPr>
              <a:defRPr sz="3300" b="1">
                <a:solidFill>
                  <a:srgbClr val="2980B9"/>
                </a:solidFill>
              </a:defRPr>
            </a:pPr>
            <a:r>
              <a:rPr sz="3300" b="1" dirty="0">
                <a:solidFill>
                  <a:srgbClr val="2980B9"/>
                </a:solidFill>
              </a:rPr>
              <a:t>03</a:t>
            </a:r>
          </a:p>
        </p:txBody>
      </p:sp>
      <p:sp>
        <p:nvSpPr>
          <p:cNvPr id="15" name="Rechteck 14">
            <a:extLst>
              <a:ext uri="{FF2B5EF4-FFF2-40B4-BE49-F238E27FC236}">
                <a16:creationId xmlns:a16="http://schemas.microsoft.com/office/drawing/2014/main" id="{6F78E706-60F2-49D5-8D2F-0CF60BE35492}"/>
              </a:ext>
            </a:extLst>
          </p:cNvPr>
          <p:cNvSpPr>
            <a:spLocks noGrp="1"/>
          </p:cNvSpPr>
          <p:nvPr/>
        </p:nvSpPr>
        <p:spPr>
          <a:xfrm>
            <a:off x="7962900" y="3380831"/>
            <a:ext cx="3238500" cy="3238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Numerischer</a:t>
            </a:r>
            <a:r>
              <a:rPr sz="1650" b="1" dirty="0">
                <a:solidFill>
                  <a:srgbClr val="26323B"/>
                </a:solidFill>
              </a:rPr>
              <a:t> </a:t>
            </a:r>
            <a:r>
              <a:rPr sz="1650" b="1" dirty="0" err="1">
                <a:solidFill>
                  <a:srgbClr val="26323B"/>
                </a:solidFill>
              </a:rPr>
              <a:t>Pfad</a:t>
            </a:r>
            <a:endParaRPr sz="1650" b="1" dirty="0">
              <a:solidFill>
                <a:srgbClr val="26323B"/>
              </a:solidFill>
            </a:endParaRPr>
          </a:p>
        </p:txBody>
      </p:sp>
      <p:sp>
        <p:nvSpPr>
          <p:cNvPr id="16" name="Rechteck 15">
            <a:extLst>
              <a:ext uri="{FF2B5EF4-FFF2-40B4-BE49-F238E27FC236}">
                <a16:creationId xmlns:a16="http://schemas.microsoft.com/office/drawing/2014/main" id="{2E2098E0-6927-470E-B8A8-91F5332FF8DC}"/>
              </a:ext>
            </a:extLst>
          </p:cNvPr>
          <p:cNvSpPr>
            <a:spLocks noGrp="1"/>
          </p:cNvSpPr>
          <p:nvPr/>
        </p:nvSpPr>
        <p:spPr>
          <a:xfrm>
            <a:off x="7962900" y="3923756"/>
            <a:ext cx="3238500" cy="628650"/>
          </a:xfrm>
          <a:prstGeom prst="rect">
            <a:avLst/>
          </a:prstGeom>
          <a:noFill/>
          <a:ln w="0">
            <a:noFill/>
            <a:prstDash val="solid"/>
          </a:ln>
        </p:spPr>
        <p:txBody>
          <a:bodyPr/>
          <a:lstStyle/>
          <a:p>
            <a:pPr>
              <a:defRPr sz="1425" b="0">
                <a:solidFill>
                  <a:srgbClr val="69747D"/>
                </a:solidFill>
              </a:defRPr>
            </a:pPr>
            <a:r>
              <a:rPr sz="1425" b="0" dirty="0" err="1">
                <a:solidFill>
                  <a:srgbClr val="69747D"/>
                </a:solidFill>
              </a:rPr>
              <a:t>SimpleImputer</a:t>
            </a:r>
            <a:r>
              <a:rPr sz="1425" b="0" dirty="0">
                <a:solidFill>
                  <a:srgbClr val="69747D"/>
                </a:solidFill>
              </a:rPr>
              <a:t>(strategy='median') + </a:t>
            </a:r>
            <a:r>
              <a:rPr sz="1425" b="0" dirty="0" err="1">
                <a:solidFill>
                  <a:srgbClr val="69747D"/>
                </a:solidFill>
              </a:rPr>
              <a:t>StandardScaler</a:t>
            </a:r>
            <a:r>
              <a:rPr sz="1425" b="0" dirty="0">
                <a:solidFill>
                  <a:srgbClr val="69747D"/>
                </a:solidFill>
              </a:rPr>
              <a:t>.</a:t>
            </a:r>
          </a:p>
        </p:txBody>
      </p:sp>
    </p:spTree>
    <p:extLst>
      <p:ext uri="{BB962C8B-B14F-4D97-AF65-F5344CB8AC3E}">
        <p14:creationId xmlns:p14="http://schemas.microsoft.com/office/powerpoint/2010/main" val="1257672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hase">
            <a:extLst>
              <a:ext uri="{FF2B5EF4-FFF2-40B4-BE49-F238E27FC236}">
                <a16:creationId xmlns:a16="http://schemas.microsoft.com/office/drawing/2014/main" id="{760954F2-9C62-494D-91C5-D18FDAAEF941}"/>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A³ · </a:t>
            </a:r>
            <a:r>
              <a:rPr lang="de-DE" sz="975" b="1" dirty="0">
                <a:solidFill>
                  <a:srgbClr val="2980B9"/>
                </a:solidFill>
              </a:rPr>
              <a:t>Algorithmen</a:t>
            </a:r>
            <a:endParaRPr sz="975" b="1" dirty="0">
              <a:solidFill>
                <a:srgbClr val="2980B9"/>
              </a:solidFill>
            </a:endParaRPr>
          </a:p>
        </p:txBody>
      </p:sp>
      <p:sp>
        <p:nvSpPr>
          <p:cNvPr id="2" name="Rechteck 1">
            <a:extLst>
              <a:ext uri="{FF2B5EF4-FFF2-40B4-BE49-F238E27FC236}">
                <a16:creationId xmlns:a16="http://schemas.microsoft.com/office/drawing/2014/main" id="{7F57843C-2DC4-4878-A359-83152E6CF034}"/>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B2D5A5D0-D55F-4466-9CE4-0618DB1B6434}"/>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A71718BA-176F-4DEA-B16E-4528015F88F0}"/>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lang="de-DE" sz="750" b="1" dirty="0">
                <a:solidFill>
                  <a:srgbClr val="69747D"/>
                </a:solidFill>
              </a:rPr>
              <a:t>09</a:t>
            </a:r>
            <a:endParaRPr sz="750" b="1" dirty="0">
              <a:solidFill>
                <a:srgbClr val="69747D"/>
              </a:solidFill>
            </a:endParaRPr>
          </a:p>
        </p:txBody>
      </p:sp>
      <p:sp>
        <p:nvSpPr>
          <p:cNvPr id="5" name="slide-title">
            <a:extLst>
              <a:ext uri="{FF2B5EF4-FFF2-40B4-BE49-F238E27FC236}">
                <a16:creationId xmlns:a16="http://schemas.microsoft.com/office/drawing/2014/main" id="{628890C3-1C6F-4B5C-BB58-B9F16CA8043F}"/>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Das Klassifikationsmodell</a:t>
            </a:r>
            <a:endParaRPr sz="2700" b="1" dirty="0">
              <a:solidFill>
                <a:srgbClr val="26323B"/>
              </a:solidFill>
            </a:endParaRPr>
          </a:p>
        </p:txBody>
      </p:sp>
      <p:sp>
        <p:nvSpPr>
          <p:cNvPr id="6" name="Rechteck 5">
            <a:extLst>
              <a:ext uri="{FF2B5EF4-FFF2-40B4-BE49-F238E27FC236}">
                <a16:creationId xmlns:a16="http://schemas.microsoft.com/office/drawing/2014/main" id="{6A102FFF-5BFB-48F1-BFAF-29176DB55ABA}"/>
              </a:ext>
            </a:extLst>
          </p:cNvPr>
          <p:cNvSpPr>
            <a:spLocks noGrp="1"/>
          </p:cNvSpPr>
          <p:nvPr/>
        </p:nvSpPr>
        <p:spPr>
          <a:xfrm>
            <a:off x="5943599" y="2095500"/>
            <a:ext cx="18000" cy="3162300"/>
          </a:xfrm>
          <a:prstGeom prst="rect">
            <a:avLst/>
          </a:prstGeom>
          <a:solidFill>
            <a:srgbClr val="DCE2E6"/>
          </a:solidFill>
          <a:ln w="0">
            <a:noFill/>
            <a:prstDash val="solid"/>
          </a:ln>
        </p:spPr>
        <p:txBody>
          <a:bodyPr/>
          <a:lstStyle/>
          <a:p>
            <a:endParaRPr lang="de-DE" dirty="0"/>
          </a:p>
        </p:txBody>
      </p:sp>
      <p:sp>
        <p:nvSpPr>
          <p:cNvPr id="7" name="Rechteck 6">
            <a:extLst>
              <a:ext uri="{FF2B5EF4-FFF2-40B4-BE49-F238E27FC236}">
                <a16:creationId xmlns:a16="http://schemas.microsoft.com/office/drawing/2014/main" id="{A3E25E0F-0175-4D18-BC94-348F38277E5F}"/>
              </a:ext>
            </a:extLst>
          </p:cNvPr>
          <p:cNvSpPr>
            <a:spLocks noGrp="1"/>
          </p:cNvSpPr>
          <p:nvPr/>
        </p:nvSpPr>
        <p:spPr>
          <a:xfrm>
            <a:off x="685800" y="220980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TECHNISCHE PARAMETER</a:t>
            </a:r>
          </a:p>
        </p:txBody>
      </p:sp>
      <p:sp>
        <p:nvSpPr>
          <p:cNvPr id="8" name="Rechteck 7">
            <a:extLst>
              <a:ext uri="{FF2B5EF4-FFF2-40B4-BE49-F238E27FC236}">
                <a16:creationId xmlns:a16="http://schemas.microsoft.com/office/drawing/2014/main" id="{BFEE0221-F254-4CF6-BEA8-F9FB5C6C8500}"/>
              </a:ext>
            </a:extLst>
          </p:cNvPr>
          <p:cNvSpPr>
            <a:spLocks noGrp="1"/>
          </p:cNvSpPr>
          <p:nvPr/>
        </p:nvSpPr>
        <p:spPr>
          <a:xfrm>
            <a:off x="685800" y="2667000"/>
            <a:ext cx="4762500" cy="457200"/>
          </a:xfrm>
          <a:prstGeom prst="rect">
            <a:avLst/>
          </a:prstGeom>
          <a:noFill/>
          <a:ln w="0">
            <a:noFill/>
            <a:prstDash val="solid"/>
          </a:ln>
        </p:spPr>
        <p:txBody>
          <a:bodyPr/>
          <a:lstStyle/>
          <a:p>
            <a:pPr>
              <a:defRPr sz="1800" b="1">
                <a:solidFill>
                  <a:srgbClr val="26323B"/>
                </a:solidFill>
              </a:defRPr>
            </a:pPr>
            <a:r>
              <a:rPr sz="1800" b="1" dirty="0" err="1">
                <a:solidFill>
                  <a:srgbClr val="26323B"/>
                </a:solidFill>
              </a:rPr>
              <a:t>RandomForestClassifier</a:t>
            </a:r>
            <a:endParaRPr sz="1800" b="1" dirty="0">
              <a:solidFill>
                <a:srgbClr val="26323B"/>
              </a:solidFill>
            </a:endParaRPr>
          </a:p>
        </p:txBody>
      </p:sp>
      <p:sp>
        <p:nvSpPr>
          <p:cNvPr id="9" name="Rechteck 8">
            <a:extLst>
              <a:ext uri="{FF2B5EF4-FFF2-40B4-BE49-F238E27FC236}">
                <a16:creationId xmlns:a16="http://schemas.microsoft.com/office/drawing/2014/main" id="{1D3E8DCB-8FEB-439A-B94E-33074F234391}"/>
              </a:ext>
            </a:extLst>
          </p:cNvPr>
          <p:cNvSpPr>
            <a:spLocks noGrp="1"/>
          </p:cNvSpPr>
          <p:nvPr/>
        </p:nvSpPr>
        <p:spPr>
          <a:xfrm>
            <a:off x="685800" y="3267075"/>
            <a:ext cx="4762500" cy="457200"/>
          </a:xfrm>
          <a:prstGeom prst="rect">
            <a:avLst/>
          </a:prstGeom>
          <a:noFill/>
          <a:ln w="0">
            <a:noFill/>
            <a:prstDash val="solid"/>
          </a:ln>
        </p:spPr>
        <p:txBody>
          <a:bodyPr/>
          <a:lstStyle/>
          <a:p>
            <a:pPr>
              <a:defRPr sz="1800" b="0">
                <a:solidFill>
                  <a:srgbClr val="26323B"/>
                </a:solidFill>
              </a:defRPr>
            </a:pPr>
            <a:r>
              <a:rPr sz="1800" b="0" dirty="0">
                <a:solidFill>
                  <a:srgbClr val="26323B"/>
                </a:solidFill>
              </a:rPr>
              <a:t>300 Ensemble-</a:t>
            </a:r>
            <a:r>
              <a:rPr sz="1800" b="0" dirty="0" err="1">
                <a:solidFill>
                  <a:srgbClr val="26323B"/>
                </a:solidFill>
              </a:rPr>
              <a:t>Strukturen</a:t>
            </a:r>
            <a:r>
              <a:rPr sz="1800" b="0" dirty="0">
                <a:solidFill>
                  <a:srgbClr val="26323B"/>
                </a:solidFill>
              </a:rPr>
              <a:t> (</a:t>
            </a:r>
            <a:r>
              <a:rPr sz="1800" b="0" dirty="0" err="1">
                <a:solidFill>
                  <a:srgbClr val="26323B"/>
                </a:solidFill>
              </a:rPr>
              <a:t>Bäume</a:t>
            </a:r>
            <a:r>
              <a:rPr sz="1800" b="0" dirty="0">
                <a:solidFill>
                  <a:srgbClr val="26323B"/>
                </a:solidFill>
              </a:rPr>
              <a:t>)</a:t>
            </a:r>
          </a:p>
        </p:txBody>
      </p:sp>
      <p:sp>
        <p:nvSpPr>
          <p:cNvPr id="10" name="Rechteck 9">
            <a:extLst>
              <a:ext uri="{FF2B5EF4-FFF2-40B4-BE49-F238E27FC236}">
                <a16:creationId xmlns:a16="http://schemas.microsoft.com/office/drawing/2014/main" id="{AEF1482A-C2FE-430E-AC49-D5D3E54118F6}"/>
              </a:ext>
            </a:extLst>
          </p:cNvPr>
          <p:cNvSpPr>
            <a:spLocks noGrp="1"/>
          </p:cNvSpPr>
          <p:nvPr/>
        </p:nvSpPr>
        <p:spPr>
          <a:xfrm>
            <a:off x="685800" y="3867150"/>
            <a:ext cx="4762500" cy="457200"/>
          </a:xfrm>
          <a:prstGeom prst="rect">
            <a:avLst/>
          </a:prstGeom>
          <a:noFill/>
          <a:ln w="0">
            <a:noFill/>
            <a:prstDash val="solid"/>
          </a:ln>
        </p:spPr>
        <p:txBody>
          <a:bodyPr/>
          <a:lstStyle/>
          <a:p>
            <a:pPr>
              <a:defRPr sz="1800" b="0">
                <a:solidFill>
                  <a:srgbClr val="26323B"/>
                </a:solidFill>
              </a:defRPr>
            </a:pPr>
            <a:r>
              <a:rPr sz="1800" b="0" dirty="0" err="1">
                <a:solidFill>
                  <a:srgbClr val="26323B"/>
                </a:solidFill>
              </a:rPr>
              <a:t>max_depth</a:t>
            </a:r>
            <a:r>
              <a:rPr sz="1800" b="0" dirty="0">
                <a:solidFill>
                  <a:srgbClr val="26323B"/>
                </a:solidFill>
              </a:rPr>
              <a:t>=8 </a:t>
            </a:r>
          </a:p>
        </p:txBody>
      </p:sp>
      <p:sp>
        <p:nvSpPr>
          <p:cNvPr id="11" name="Rechteck 10">
            <a:extLst>
              <a:ext uri="{FF2B5EF4-FFF2-40B4-BE49-F238E27FC236}">
                <a16:creationId xmlns:a16="http://schemas.microsoft.com/office/drawing/2014/main" id="{A8A77D54-BC41-4C51-B14B-3D3AF6FF24C7}"/>
              </a:ext>
            </a:extLst>
          </p:cNvPr>
          <p:cNvSpPr>
            <a:spLocks noGrp="1"/>
          </p:cNvSpPr>
          <p:nvPr/>
        </p:nvSpPr>
        <p:spPr>
          <a:xfrm>
            <a:off x="685800" y="4467225"/>
            <a:ext cx="4762500" cy="457200"/>
          </a:xfrm>
          <a:prstGeom prst="rect">
            <a:avLst/>
          </a:prstGeom>
          <a:noFill/>
          <a:ln w="0">
            <a:noFill/>
            <a:prstDash val="solid"/>
          </a:ln>
        </p:spPr>
        <p:txBody>
          <a:bodyPr/>
          <a:lstStyle/>
          <a:p>
            <a:pPr>
              <a:defRPr sz="1800" b="0">
                <a:solidFill>
                  <a:srgbClr val="26323B"/>
                </a:solidFill>
              </a:defRPr>
            </a:pPr>
            <a:r>
              <a:rPr sz="1800" b="0" dirty="0" err="1">
                <a:solidFill>
                  <a:srgbClr val="26323B"/>
                </a:solidFill>
              </a:rPr>
              <a:t>predict_proba</a:t>
            </a:r>
            <a:r>
              <a:rPr sz="1800" b="0" dirty="0">
                <a:solidFill>
                  <a:srgbClr val="26323B"/>
                </a:solidFill>
              </a:rPr>
              <a:t>() </a:t>
            </a:r>
            <a:r>
              <a:rPr sz="1800" b="0" dirty="0" err="1">
                <a:solidFill>
                  <a:srgbClr val="26323B"/>
                </a:solidFill>
              </a:rPr>
              <a:t>über</a:t>
            </a:r>
            <a:r>
              <a:rPr sz="1800" b="0" dirty="0">
                <a:solidFill>
                  <a:srgbClr val="26323B"/>
                </a:solidFill>
              </a:rPr>
              <a:t> 8 Klassen</a:t>
            </a:r>
          </a:p>
        </p:txBody>
      </p:sp>
      <p:sp>
        <p:nvSpPr>
          <p:cNvPr id="12" name="Rechteck 11">
            <a:extLst>
              <a:ext uri="{FF2B5EF4-FFF2-40B4-BE49-F238E27FC236}">
                <a16:creationId xmlns:a16="http://schemas.microsoft.com/office/drawing/2014/main" id="{5908070A-5AE4-4985-9BC0-726696FFD61C}"/>
              </a:ext>
            </a:extLst>
          </p:cNvPr>
          <p:cNvSpPr>
            <a:spLocks noGrp="1"/>
          </p:cNvSpPr>
          <p:nvPr/>
        </p:nvSpPr>
        <p:spPr>
          <a:xfrm>
            <a:off x="6381750" y="220980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FACHLICHE BEGRÜNDUNG</a:t>
            </a:r>
          </a:p>
        </p:txBody>
      </p:sp>
      <p:sp>
        <p:nvSpPr>
          <p:cNvPr id="13" name="Rechteck 12">
            <a:extLst>
              <a:ext uri="{FF2B5EF4-FFF2-40B4-BE49-F238E27FC236}">
                <a16:creationId xmlns:a16="http://schemas.microsoft.com/office/drawing/2014/main" id="{0B478FA0-CEDE-415C-BD2D-54182A519EDF}"/>
              </a:ext>
            </a:extLst>
          </p:cNvPr>
          <p:cNvSpPr>
            <a:spLocks noGrp="1"/>
          </p:cNvSpPr>
          <p:nvPr/>
        </p:nvSpPr>
        <p:spPr>
          <a:xfrm>
            <a:off x="6381750" y="2667000"/>
            <a:ext cx="4572000" cy="523875"/>
          </a:xfrm>
          <a:prstGeom prst="rect">
            <a:avLst/>
          </a:prstGeom>
          <a:noFill/>
          <a:ln w="0">
            <a:noFill/>
            <a:prstDash val="solid"/>
          </a:ln>
        </p:spPr>
        <p:txBody>
          <a:bodyPr/>
          <a:lstStyle/>
          <a:p>
            <a:pPr>
              <a:defRPr sz="1725" b="1">
                <a:solidFill>
                  <a:srgbClr val="26323B"/>
                </a:solidFill>
              </a:defRPr>
            </a:pPr>
            <a:r>
              <a:rPr sz="1725" b="1" dirty="0" err="1">
                <a:solidFill>
                  <a:srgbClr val="26323B"/>
                </a:solidFill>
              </a:rPr>
              <a:t>Gemischte</a:t>
            </a:r>
            <a:r>
              <a:rPr sz="1725" b="1" dirty="0">
                <a:solidFill>
                  <a:srgbClr val="26323B"/>
                </a:solidFill>
              </a:rPr>
              <a:t> </a:t>
            </a:r>
            <a:r>
              <a:rPr sz="1725" b="1" dirty="0" err="1">
                <a:solidFill>
                  <a:srgbClr val="26323B"/>
                </a:solidFill>
              </a:rPr>
              <a:t>Datentypen</a:t>
            </a:r>
            <a:endParaRPr sz="1725" b="1" dirty="0">
              <a:solidFill>
                <a:srgbClr val="26323B"/>
              </a:solidFill>
            </a:endParaRPr>
          </a:p>
        </p:txBody>
      </p:sp>
      <p:sp>
        <p:nvSpPr>
          <p:cNvPr id="14" name="Rechteck 13">
            <a:extLst>
              <a:ext uri="{FF2B5EF4-FFF2-40B4-BE49-F238E27FC236}">
                <a16:creationId xmlns:a16="http://schemas.microsoft.com/office/drawing/2014/main" id="{AF22C474-3D65-4C9E-807F-285F1A2B89F9}"/>
              </a:ext>
            </a:extLst>
          </p:cNvPr>
          <p:cNvSpPr>
            <a:spLocks noGrp="1"/>
          </p:cNvSpPr>
          <p:nvPr/>
        </p:nvSpPr>
        <p:spPr>
          <a:xfrm>
            <a:off x="6381750" y="3333750"/>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Robustheit</a:t>
            </a:r>
            <a:r>
              <a:rPr sz="1725" b="0" dirty="0">
                <a:solidFill>
                  <a:srgbClr val="26323B"/>
                </a:solidFill>
              </a:rPr>
              <a:t> </a:t>
            </a:r>
            <a:r>
              <a:rPr sz="1725" b="0" dirty="0" err="1">
                <a:solidFill>
                  <a:srgbClr val="26323B"/>
                </a:solidFill>
              </a:rPr>
              <a:t>gegen</a:t>
            </a:r>
            <a:r>
              <a:rPr sz="1725" b="0" dirty="0">
                <a:solidFill>
                  <a:srgbClr val="26323B"/>
                </a:solidFill>
              </a:rPr>
              <a:t> Overfitting</a:t>
            </a:r>
          </a:p>
        </p:txBody>
      </p:sp>
      <p:sp>
        <p:nvSpPr>
          <p:cNvPr id="15" name="Rechteck 14">
            <a:extLst>
              <a:ext uri="{FF2B5EF4-FFF2-40B4-BE49-F238E27FC236}">
                <a16:creationId xmlns:a16="http://schemas.microsoft.com/office/drawing/2014/main" id="{716533C6-4AE8-4B66-9BF4-E401CE2C0FA8}"/>
              </a:ext>
            </a:extLst>
          </p:cNvPr>
          <p:cNvSpPr>
            <a:spLocks noGrp="1"/>
          </p:cNvSpPr>
          <p:nvPr/>
        </p:nvSpPr>
        <p:spPr>
          <a:xfrm>
            <a:off x="6381750" y="4000500"/>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Wahrscheinlichkeitsverteilung</a:t>
            </a:r>
            <a:r>
              <a:rPr sz="1725" b="0" dirty="0">
                <a:solidFill>
                  <a:srgbClr val="26323B"/>
                </a:solidFill>
              </a:rPr>
              <a:t> </a:t>
            </a:r>
            <a:r>
              <a:rPr sz="1725" b="0" dirty="0" err="1">
                <a:solidFill>
                  <a:srgbClr val="26323B"/>
                </a:solidFill>
              </a:rPr>
              <a:t>statt</a:t>
            </a:r>
            <a:r>
              <a:rPr sz="1725" b="0" dirty="0">
                <a:solidFill>
                  <a:srgbClr val="26323B"/>
                </a:solidFill>
              </a:rPr>
              <a:t> </a:t>
            </a:r>
            <a:r>
              <a:rPr sz="1725" b="0" dirty="0" err="1">
                <a:solidFill>
                  <a:srgbClr val="26323B"/>
                </a:solidFill>
              </a:rPr>
              <a:t>Scheinsicherheit</a:t>
            </a:r>
            <a:endParaRPr sz="1725" b="0" dirty="0">
              <a:solidFill>
                <a:srgbClr val="26323B"/>
              </a:solidFill>
            </a:endParaRPr>
          </a:p>
        </p:txBody>
      </p:sp>
    </p:spTree>
    <p:extLst>
      <p:ext uri="{BB962C8B-B14F-4D97-AF65-F5344CB8AC3E}">
        <p14:creationId xmlns:p14="http://schemas.microsoft.com/office/powerpoint/2010/main" val="199556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hase">
            <a:extLst>
              <a:ext uri="{FF2B5EF4-FFF2-40B4-BE49-F238E27FC236}">
                <a16:creationId xmlns:a16="http://schemas.microsoft.com/office/drawing/2014/main" id="{80E480EC-8B19-4F7B-8F8A-B3553DA28DE1}"/>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A³ · </a:t>
            </a:r>
            <a:r>
              <a:rPr lang="de-DE" sz="975" b="1" dirty="0">
                <a:solidFill>
                  <a:srgbClr val="2980B9"/>
                </a:solidFill>
              </a:rPr>
              <a:t>Algorithmen</a:t>
            </a:r>
            <a:endParaRPr sz="975" b="1" dirty="0">
              <a:solidFill>
                <a:srgbClr val="2980B9"/>
              </a:solidFill>
            </a:endParaRPr>
          </a:p>
        </p:txBody>
      </p:sp>
      <p:sp>
        <p:nvSpPr>
          <p:cNvPr id="2" name="Rechteck 1">
            <a:extLst>
              <a:ext uri="{FF2B5EF4-FFF2-40B4-BE49-F238E27FC236}">
                <a16:creationId xmlns:a16="http://schemas.microsoft.com/office/drawing/2014/main" id="{340E965E-2783-4E9A-A64B-7A538B254FC5}"/>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724F18B9-47D9-4046-9F4D-B78E81E1A07A}"/>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8220CFE2-E672-45B6-9084-1181875B6271}"/>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0</a:t>
            </a:r>
            <a:endParaRPr sz="750" b="1" dirty="0">
              <a:solidFill>
                <a:srgbClr val="69747D"/>
              </a:solidFill>
            </a:endParaRPr>
          </a:p>
        </p:txBody>
      </p:sp>
      <p:sp>
        <p:nvSpPr>
          <p:cNvPr id="5" name="slide-title">
            <a:extLst>
              <a:ext uri="{FF2B5EF4-FFF2-40B4-BE49-F238E27FC236}">
                <a16:creationId xmlns:a16="http://schemas.microsoft.com/office/drawing/2014/main" id="{F7BE29D5-9279-4570-9892-1961D564B47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Das Regressionsmodell</a:t>
            </a:r>
            <a:endParaRPr sz="2700" b="1" dirty="0">
              <a:solidFill>
                <a:srgbClr val="26323B"/>
              </a:solidFill>
            </a:endParaRPr>
          </a:p>
        </p:txBody>
      </p:sp>
      <p:sp>
        <p:nvSpPr>
          <p:cNvPr id="6" name="Rechteck 5">
            <a:extLst>
              <a:ext uri="{FF2B5EF4-FFF2-40B4-BE49-F238E27FC236}">
                <a16:creationId xmlns:a16="http://schemas.microsoft.com/office/drawing/2014/main" id="{1BA5C741-747C-4AE9-8038-D7B7B6F9187B}"/>
              </a:ext>
            </a:extLst>
          </p:cNvPr>
          <p:cNvSpPr>
            <a:spLocks noGrp="1"/>
          </p:cNvSpPr>
          <p:nvPr/>
        </p:nvSpPr>
        <p:spPr>
          <a:xfrm>
            <a:off x="5943598" y="2095500"/>
            <a:ext cx="18000" cy="2664069"/>
          </a:xfrm>
          <a:prstGeom prst="rect">
            <a:avLst/>
          </a:prstGeom>
          <a:solidFill>
            <a:srgbClr val="DCE2E6"/>
          </a:solidFill>
          <a:ln w="0">
            <a:noFill/>
            <a:prstDash val="solid"/>
          </a:ln>
        </p:spPr>
        <p:txBody>
          <a:bodyPr/>
          <a:lstStyle/>
          <a:p>
            <a:endParaRPr lang="de-DE" dirty="0"/>
          </a:p>
        </p:txBody>
      </p:sp>
      <p:sp>
        <p:nvSpPr>
          <p:cNvPr id="7" name="Rechteck 6">
            <a:extLst>
              <a:ext uri="{FF2B5EF4-FFF2-40B4-BE49-F238E27FC236}">
                <a16:creationId xmlns:a16="http://schemas.microsoft.com/office/drawing/2014/main" id="{FCD36573-00BE-42CF-8AC7-881C45EC6814}"/>
              </a:ext>
            </a:extLst>
          </p:cNvPr>
          <p:cNvSpPr>
            <a:spLocks noGrp="1"/>
          </p:cNvSpPr>
          <p:nvPr/>
        </p:nvSpPr>
        <p:spPr>
          <a:xfrm>
            <a:off x="685800" y="220980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TECHNISCHE PARAMETER</a:t>
            </a:r>
          </a:p>
        </p:txBody>
      </p:sp>
      <p:sp>
        <p:nvSpPr>
          <p:cNvPr id="8" name="Rechteck 7">
            <a:extLst>
              <a:ext uri="{FF2B5EF4-FFF2-40B4-BE49-F238E27FC236}">
                <a16:creationId xmlns:a16="http://schemas.microsoft.com/office/drawing/2014/main" id="{64BAF51D-347E-4699-87F9-EC8C148B62E1}"/>
              </a:ext>
            </a:extLst>
          </p:cNvPr>
          <p:cNvSpPr>
            <a:spLocks noGrp="1"/>
          </p:cNvSpPr>
          <p:nvPr/>
        </p:nvSpPr>
        <p:spPr>
          <a:xfrm>
            <a:off x="685800" y="2667000"/>
            <a:ext cx="4762500" cy="457200"/>
          </a:xfrm>
          <a:prstGeom prst="rect">
            <a:avLst/>
          </a:prstGeom>
          <a:noFill/>
          <a:ln w="0">
            <a:noFill/>
            <a:prstDash val="solid"/>
          </a:ln>
        </p:spPr>
        <p:txBody>
          <a:bodyPr/>
          <a:lstStyle/>
          <a:p>
            <a:pPr>
              <a:defRPr sz="1800" b="1">
                <a:solidFill>
                  <a:srgbClr val="26323B"/>
                </a:solidFill>
              </a:defRPr>
            </a:pPr>
            <a:r>
              <a:rPr sz="1800" b="1" dirty="0" err="1">
                <a:solidFill>
                  <a:srgbClr val="26323B"/>
                </a:solidFill>
              </a:rPr>
              <a:t>RandomForestRegressor</a:t>
            </a:r>
            <a:endParaRPr sz="1800" b="1" dirty="0">
              <a:solidFill>
                <a:srgbClr val="26323B"/>
              </a:solidFill>
            </a:endParaRPr>
          </a:p>
        </p:txBody>
      </p:sp>
      <p:sp>
        <p:nvSpPr>
          <p:cNvPr id="9" name="Rechteck 8">
            <a:extLst>
              <a:ext uri="{FF2B5EF4-FFF2-40B4-BE49-F238E27FC236}">
                <a16:creationId xmlns:a16="http://schemas.microsoft.com/office/drawing/2014/main" id="{8322729D-F0FD-4A36-A5D2-987F00EDF086}"/>
              </a:ext>
            </a:extLst>
          </p:cNvPr>
          <p:cNvSpPr>
            <a:spLocks noGrp="1"/>
          </p:cNvSpPr>
          <p:nvPr/>
        </p:nvSpPr>
        <p:spPr>
          <a:xfrm>
            <a:off x="685800" y="3267075"/>
            <a:ext cx="4762500" cy="457200"/>
          </a:xfrm>
          <a:prstGeom prst="rect">
            <a:avLst/>
          </a:prstGeom>
          <a:noFill/>
          <a:ln w="0">
            <a:noFill/>
            <a:prstDash val="solid"/>
          </a:ln>
        </p:spPr>
        <p:txBody>
          <a:bodyPr/>
          <a:lstStyle/>
          <a:p>
            <a:pPr>
              <a:defRPr sz="1800" b="0">
                <a:solidFill>
                  <a:srgbClr val="26323B"/>
                </a:solidFill>
              </a:defRPr>
            </a:pPr>
            <a:r>
              <a:rPr sz="1800" b="0" dirty="0">
                <a:solidFill>
                  <a:srgbClr val="26323B"/>
                </a:solidFill>
              </a:rPr>
              <a:t>300 </a:t>
            </a:r>
            <a:r>
              <a:rPr sz="1800" b="0" dirty="0" err="1">
                <a:solidFill>
                  <a:srgbClr val="26323B"/>
                </a:solidFill>
              </a:rPr>
              <a:t>Bäume</a:t>
            </a:r>
            <a:endParaRPr sz="1800" b="0" dirty="0">
              <a:solidFill>
                <a:srgbClr val="26323B"/>
              </a:solidFill>
            </a:endParaRPr>
          </a:p>
        </p:txBody>
      </p:sp>
      <p:sp>
        <p:nvSpPr>
          <p:cNvPr id="10" name="Rechteck 9">
            <a:extLst>
              <a:ext uri="{FF2B5EF4-FFF2-40B4-BE49-F238E27FC236}">
                <a16:creationId xmlns:a16="http://schemas.microsoft.com/office/drawing/2014/main" id="{1547F058-C406-42A8-8473-A029B71949A5}"/>
              </a:ext>
            </a:extLst>
          </p:cNvPr>
          <p:cNvSpPr>
            <a:spLocks noGrp="1"/>
          </p:cNvSpPr>
          <p:nvPr/>
        </p:nvSpPr>
        <p:spPr>
          <a:xfrm>
            <a:off x="685800" y="3867150"/>
            <a:ext cx="4762500" cy="457200"/>
          </a:xfrm>
          <a:prstGeom prst="rect">
            <a:avLst/>
          </a:prstGeom>
          <a:noFill/>
          <a:ln w="0">
            <a:noFill/>
            <a:prstDash val="solid"/>
          </a:ln>
        </p:spPr>
        <p:txBody>
          <a:bodyPr/>
          <a:lstStyle/>
          <a:p>
            <a:pPr>
              <a:defRPr sz="1800" b="0">
                <a:solidFill>
                  <a:srgbClr val="26323B"/>
                </a:solidFill>
              </a:defRPr>
            </a:pPr>
            <a:r>
              <a:rPr lang="de-DE" sz="1800" b="0" dirty="0">
                <a:solidFill>
                  <a:srgbClr val="26323B"/>
                </a:solidFill>
              </a:rPr>
              <a:t>5-Fold </a:t>
            </a:r>
            <a:r>
              <a:rPr lang="de-DE" sz="1800" b="0" dirty="0" err="1">
                <a:solidFill>
                  <a:srgbClr val="26323B"/>
                </a:solidFill>
              </a:rPr>
              <a:t>Stratified</a:t>
            </a:r>
            <a:r>
              <a:rPr lang="de-DE" sz="1800" b="0" dirty="0">
                <a:solidFill>
                  <a:srgbClr val="26323B"/>
                </a:solidFill>
              </a:rPr>
              <a:t> Cross-Validation</a:t>
            </a:r>
            <a:endParaRPr sz="1800" b="0" dirty="0">
              <a:solidFill>
                <a:srgbClr val="26323B"/>
              </a:solidFill>
            </a:endParaRPr>
          </a:p>
        </p:txBody>
      </p:sp>
      <p:sp>
        <p:nvSpPr>
          <p:cNvPr id="12" name="Rechteck 11">
            <a:extLst>
              <a:ext uri="{FF2B5EF4-FFF2-40B4-BE49-F238E27FC236}">
                <a16:creationId xmlns:a16="http://schemas.microsoft.com/office/drawing/2014/main" id="{28DE64CE-620E-406C-B0AA-9B108A138726}"/>
              </a:ext>
            </a:extLst>
          </p:cNvPr>
          <p:cNvSpPr>
            <a:spLocks noGrp="1"/>
          </p:cNvSpPr>
          <p:nvPr/>
        </p:nvSpPr>
        <p:spPr>
          <a:xfrm>
            <a:off x="6381750" y="220980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FACHLICHE BEGRÜNDUNG</a:t>
            </a:r>
          </a:p>
        </p:txBody>
      </p:sp>
      <p:sp>
        <p:nvSpPr>
          <p:cNvPr id="13" name="Rechteck 12">
            <a:extLst>
              <a:ext uri="{FF2B5EF4-FFF2-40B4-BE49-F238E27FC236}">
                <a16:creationId xmlns:a16="http://schemas.microsoft.com/office/drawing/2014/main" id="{B7A682EF-4924-4F74-84ED-56665380AAA0}"/>
              </a:ext>
            </a:extLst>
          </p:cNvPr>
          <p:cNvSpPr>
            <a:spLocks noGrp="1"/>
          </p:cNvSpPr>
          <p:nvPr/>
        </p:nvSpPr>
        <p:spPr>
          <a:xfrm>
            <a:off x="6381750" y="2667000"/>
            <a:ext cx="4572000" cy="523875"/>
          </a:xfrm>
          <a:prstGeom prst="rect">
            <a:avLst/>
          </a:prstGeom>
          <a:noFill/>
          <a:ln w="0">
            <a:noFill/>
            <a:prstDash val="solid"/>
          </a:ln>
        </p:spPr>
        <p:txBody>
          <a:bodyPr/>
          <a:lstStyle/>
          <a:p>
            <a:pPr>
              <a:defRPr sz="1725" b="1">
                <a:solidFill>
                  <a:srgbClr val="26323B"/>
                </a:solidFill>
              </a:defRPr>
            </a:pPr>
            <a:r>
              <a:rPr sz="1725" b="1" dirty="0">
                <a:solidFill>
                  <a:srgbClr val="26323B"/>
                </a:solidFill>
              </a:rPr>
              <a:t>Soll und </a:t>
            </a:r>
            <a:r>
              <a:rPr sz="1725" b="1" dirty="0" err="1">
                <a:solidFill>
                  <a:srgbClr val="26323B"/>
                </a:solidFill>
              </a:rPr>
              <a:t>Ist</a:t>
            </a:r>
            <a:r>
              <a:rPr sz="1725" b="1" dirty="0">
                <a:solidFill>
                  <a:srgbClr val="26323B"/>
                </a:solidFill>
              </a:rPr>
              <a:t> </a:t>
            </a:r>
            <a:r>
              <a:rPr sz="1725" b="1" dirty="0" err="1">
                <a:solidFill>
                  <a:srgbClr val="26323B"/>
                </a:solidFill>
              </a:rPr>
              <a:t>im</a:t>
            </a:r>
            <a:r>
              <a:rPr sz="1725" b="1" dirty="0">
                <a:solidFill>
                  <a:srgbClr val="26323B"/>
                </a:solidFill>
              </a:rPr>
              <a:t> Check-in </a:t>
            </a:r>
            <a:r>
              <a:rPr sz="1725" b="1" dirty="0" err="1">
                <a:solidFill>
                  <a:srgbClr val="26323B"/>
                </a:solidFill>
              </a:rPr>
              <a:t>vergleichen</a:t>
            </a:r>
            <a:endParaRPr sz="1725" b="1" dirty="0">
              <a:solidFill>
                <a:srgbClr val="26323B"/>
              </a:solidFill>
            </a:endParaRPr>
          </a:p>
        </p:txBody>
      </p:sp>
      <p:sp>
        <p:nvSpPr>
          <p:cNvPr id="14" name="Rechteck 13">
            <a:extLst>
              <a:ext uri="{FF2B5EF4-FFF2-40B4-BE49-F238E27FC236}">
                <a16:creationId xmlns:a16="http://schemas.microsoft.com/office/drawing/2014/main" id="{BE24857C-FBF6-4762-9B84-2225DE182832}"/>
              </a:ext>
            </a:extLst>
          </p:cNvPr>
          <p:cNvSpPr>
            <a:spLocks noGrp="1"/>
          </p:cNvSpPr>
          <p:nvPr/>
        </p:nvSpPr>
        <p:spPr>
          <a:xfrm>
            <a:off x="6381750" y="3333750"/>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Langfristige</a:t>
            </a:r>
            <a:r>
              <a:rPr sz="1725" b="0" dirty="0">
                <a:solidFill>
                  <a:srgbClr val="26323B"/>
                </a:solidFill>
              </a:rPr>
              <a:t> </a:t>
            </a:r>
            <a:r>
              <a:rPr sz="1725" b="0" dirty="0" err="1">
                <a:solidFill>
                  <a:srgbClr val="26323B"/>
                </a:solidFill>
              </a:rPr>
              <a:t>Entwicklung</a:t>
            </a:r>
            <a:r>
              <a:rPr sz="1725" b="0" dirty="0">
                <a:solidFill>
                  <a:srgbClr val="26323B"/>
                </a:solidFill>
              </a:rPr>
              <a:t> </a:t>
            </a:r>
            <a:r>
              <a:rPr sz="1725" b="0" dirty="0" err="1">
                <a:solidFill>
                  <a:srgbClr val="26323B"/>
                </a:solidFill>
              </a:rPr>
              <a:t>aus</a:t>
            </a:r>
            <a:r>
              <a:rPr sz="1725" b="0" dirty="0">
                <a:solidFill>
                  <a:srgbClr val="26323B"/>
                </a:solidFill>
              </a:rPr>
              <a:t> </a:t>
            </a:r>
            <a:r>
              <a:rPr sz="1725" b="0" dirty="0" err="1">
                <a:solidFill>
                  <a:srgbClr val="26323B"/>
                </a:solidFill>
              </a:rPr>
              <a:t>Verhalten</a:t>
            </a:r>
            <a:r>
              <a:rPr sz="1725" b="0" dirty="0">
                <a:solidFill>
                  <a:srgbClr val="26323B"/>
                </a:solidFill>
              </a:rPr>
              <a:t> </a:t>
            </a:r>
            <a:r>
              <a:rPr sz="1725" b="0" dirty="0" err="1">
                <a:solidFill>
                  <a:srgbClr val="26323B"/>
                </a:solidFill>
              </a:rPr>
              <a:t>ableiten</a:t>
            </a:r>
            <a:endParaRPr sz="1725" b="0" dirty="0">
              <a:solidFill>
                <a:srgbClr val="26323B"/>
              </a:solidFill>
            </a:endParaRPr>
          </a:p>
        </p:txBody>
      </p:sp>
      <p:sp>
        <p:nvSpPr>
          <p:cNvPr id="15" name="Rechteck 14">
            <a:extLst>
              <a:ext uri="{FF2B5EF4-FFF2-40B4-BE49-F238E27FC236}">
                <a16:creationId xmlns:a16="http://schemas.microsoft.com/office/drawing/2014/main" id="{0148A3AB-D7A4-4E03-8FDB-D4C6F7B40DA1}"/>
              </a:ext>
            </a:extLst>
          </p:cNvPr>
          <p:cNvSpPr>
            <a:spLocks noGrp="1"/>
          </p:cNvSpPr>
          <p:nvPr/>
        </p:nvSpPr>
        <p:spPr>
          <a:xfrm>
            <a:off x="6381750" y="4000500"/>
            <a:ext cx="4572000" cy="523875"/>
          </a:xfrm>
          <a:prstGeom prst="rect">
            <a:avLst/>
          </a:prstGeom>
          <a:noFill/>
          <a:ln w="0">
            <a:noFill/>
            <a:prstDash val="solid"/>
          </a:ln>
        </p:spPr>
        <p:txBody>
          <a:bodyPr/>
          <a:lstStyle/>
          <a:p>
            <a:pPr>
              <a:defRPr sz="1725" b="0">
                <a:solidFill>
                  <a:srgbClr val="26323B"/>
                </a:solidFill>
              </a:defRPr>
            </a:pPr>
            <a:r>
              <a:rPr lang="de-DE" dirty="0"/>
              <a:t>Mögliche Stagnationen in der Entwicklung einordnen</a:t>
            </a:r>
            <a:endParaRPr sz="1725" b="0" dirty="0">
              <a:solidFill>
                <a:srgbClr val="26323B"/>
              </a:solidFill>
            </a:endParaRPr>
          </a:p>
        </p:txBody>
      </p:sp>
    </p:spTree>
    <p:extLst>
      <p:ext uri="{BB962C8B-B14F-4D97-AF65-F5344CB8AC3E}">
        <p14:creationId xmlns:p14="http://schemas.microsoft.com/office/powerpoint/2010/main" val="1072783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hase">
            <a:extLst>
              <a:ext uri="{FF2B5EF4-FFF2-40B4-BE49-F238E27FC236}">
                <a16:creationId xmlns:a16="http://schemas.microsoft.com/office/drawing/2014/main" id="{AC65DB7A-66D9-4298-B3BE-81D37DD77A97}"/>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C · Conclude &amp; Compare</a:t>
            </a:r>
          </a:p>
        </p:txBody>
      </p:sp>
      <p:sp>
        <p:nvSpPr>
          <p:cNvPr id="2" name="Rechteck 1">
            <a:extLst>
              <a:ext uri="{FF2B5EF4-FFF2-40B4-BE49-F238E27FC236}">
                <a16:creationId xmlns:a16="http://schemas.microsoft.com/office/drawing/2014/main" id="{4E7113DF-4451-402E-9BE5-F4A8C3C0818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109BB5A-2206-4E52-A143-FA82267C48A5}"/>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F84FBDD5-6532-4AB2-9AA7-A3F08F7BDC8E}"/>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1</a:t>
            </a:r>
            <a:endParaRPr sz="750" b="1" dirty="0">
              <a:solidFill>
                <a:srgbClr val="69747D"/>
              </a:solidFill>
            </a:endParaRPr>
          </a:p>
        </p:txBody>
      </p:sp>
      <p:sp>
        <p:nvSpPr>
          <p:cNvPr id="5" name="slide-title">
            <a:extLst>
              <a:ext uri="{FF2B5EF4-FFF2-40B4-BE49-F238E27FC236}">
                <a16:creationId xmlns:a16="http://schemas.microsoft.com/office/drawing/2014/main" id="{46EE19A2-EC59-4106-8AC4-F1D3E174F8D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Evaluation: Klassifikations-</a:t>
            </a:r>
            <a:r>
              <a:rPr lang="de-DE" dirty="0" err="1"/>
              <a:t>Accuracy</a:t>
            </a:r>
            <a:endParaRPr sz="2700" b="1" dirty="0">
              <a:solidFill>
                <a:srgbClr val="26323B"/>
              </a:solidFill>
            </a:endParaRPr>
          </a:p>
        </p:txBody>
      </p:sp>
      <p:sp>
        <p:nvSpPr>
          <p:cNvPr id="6" name="metric-card">
            <a:extLst>
              <a:ext uri="{FF2B5EF4-FFF2-40B4-BE49-F238E27FC236}">
                <a16:creationId xmlns:a16="http://schemas.microsoft.com/office/drawing/2014/main" id="{B8556FC9-DBE1-43D0-B1A7-21DA63FBE656}"/>
              </a:ext>
            </a:extLst>
          </p:cNvPr>
          <p:cNvSpPr>
            <a:spLocks noGrp="1"/>
          </p:cNvSpPr>
          <p:nvPr/>
        </p:nvSpPr>
        <p:spPr>
          <a:xfrm>
            <a:off x="685800" y="2286000"/>
            <a:ext cx="4762500" cy="2514600"/>
          </a:xfrm>
          <a:prstGeom prst="rect">
            <a:avLst/>
          </a:prstGeom>
          <a:solidFill>
            <a:srgbClr val="F5F7F8"/>
          </a:solidFill>
          <a:ln w="9525">
            <a:solidFill>
              <a:srgbClr val="DCE2E6"/>
            </a:solidFill>
            <a:prstDash val="solid"/>
          </a:ln>
        </p:spPr>
        <p:txBody>
          <a:bodyPr/>
          <a:lstStyle/>
          <a:p>
            <a:endParaRPr lang="de-DE" dirty="0"/>
          </a:p>
        </p:txBody>
      </p:sp>
      <p:sp>
        <p:nvSpPr>
          <p:cNvPr id="7" name="metric-value">
            <a:extLst>
              <a:ext uri="{FF2B5EF4-FFF2-40B4-BE49-F238E27FC236}">
                <a16:creationId xmlns:a16="http://schemas.microsoft.com/office/drawing/2014/main" id="{C1D91696-12F5-49DE-BD82-A4D258B30480}"/>
              </a:ext>
            </a:extLst>
          </p:cNvPr>
          <p:cNvSpPr>
            <a:spLocks noGrp="1"/>
          </p:cNvSpPr>
          <p:nvPr/>
        </p:nvSpPr>
        <p:spPr>
          <a:xfrm>
            <a:off x="1085850" y="2638425"/>
            <a:ext cx="2952750" cy="819150"/>
          </a:xfrm>
          <a:prstGeom prst="rect">
            <a:avLst/>
          </a:prstGeom>
          <a:noFill/>
          <a:ln w="0">
            <a:noFill/>
            <a:prstDash val="solid"/>
          </a:ln>
        </p:spPr>
        <p:txBody>
          <a:bodyPr/>
          <a:lstStyle/>
          <a:p>
            <a:pPr>
              <a:defRPr sz="4650" b="1">
                <a:solidFill>
                  <a:srgbClr val="2980B9"/>
                </a:solidFill>
              </a:defRPr>
            </a:pPr>
            <a:r>
              <a:rPr sz="4650" b="1" dirty="0">
                <a:solidFill>
                  <a:srgbClr val="2980B9"/>
                </a:solidFill>
              </a:rPr>
              <a:t>2</a:t>
            </a:r>
            <a:r>
              <a:rPr lang="de-DE" sz="4650" b="1" dirty="0">
                <a:solidFill>
                  <a:srgbClr val="2980B9"/>
                </a:solidFill>
              </a:rPr>
              <a:t>8,5</a:t>
            </a:r>
            <a:r>
              <a:rPr sz="4650" b="1" dirty="0">
                <a:solidFill>
                  <a:srgbClr val="2980B9"/>
                </a:solidFill>
              </a:rPr>
              <a:t> %</a:t>
            </a:r>
          </a:p>
        </p:txBody>
      </p:sp>
      <p:sp>
        <p:nvSpPr>
          <p:cNvPr id="8" name="metric-label">
            <a:extLst>
              <a:ext uri="{FF2B5EF4-FFF2-40B4-BE49-F238E27FC236}">
                <a16:creationId xmlns:a16="http://schemas.microsoft.com/office/drawing/2014/main" id="{B37AD15D-CF98-472E-BC39-201911CFD06C}"/>
              </a:ext>
            </a:extLst>
          </p:cNvPr>
          <p:cNvSpPr>
            <a:spLocks noGrp="1"/>
          </p:cNvSpPr>
          <p:nvPr/>
        </p:nvSpPr>
        <p:spPr>
          <a:xfrm>
            <a:off x="1085850" y="3533775"/>
            <a:ext cx="2952750" cy="400050"/>
          </a:xfrm>
          <a:prstGeom prst="rect">
            <a:avLst/>
          </a:prstGeom>
          <a:noFill/>
          <a:ln w="0">
            <a:noFill/>
            <a:prstDash val="solid"/>
          </a:ln>
        </p:spPr>
        <p:txBody>
          <a:bodyPr/>
          <a:lstStyle/>
          <a:p>
            <a:pPr>
              <a:defRPr sz="1350" b="1">
                <a:solidFill>
                  <a:srgbClr val="26323B"/>
                </a:solidFill>
              </a:defRPr>
            </a:pPr>
            <a:r>
              <a:rPr sz="1350" b="1" dirty="0">
                <a:solidFill>
                  <a:srgbClr val="26323B"/>
                </a:solidFill>
              </a:rPr>
              <a:t>Test-Accuracy auf </a:t>
            </a:r>
            <a:r>
              <a:rPr sz="1350" b="1" dirty="0" err="1">
                <a:solidFill>
                  <a:srgbClr val="26323B"/>
                </a:solidFill>
              </a:rPr>
              <a:t>ungesehenen</a:t>
            </a:r>
            <a:r>
              <a:rPr sz="1350" b="1" dirty="0">
                <a:solidFill>
                  <a:srgbClr val="26323B"/>
                </a:solidFill>
              </a:rPr>
              <a:t> </a:t>
            </a:r>
            <a:r>
              <a:rPr sz="1350" b="1" dirty="0" err="1">
                <a:solidFill>
                  <a:srgbClr val="26323B"/>
                </a:solidFill>
              </a:rPr>
              <a:t>Testdaten</a:t>
            </a:r>
            <a:endParaRPr sz="1350" b="1" dirty="0">
              <a:solidFill>
                <a:srgbClr val="26323B"/>
              </a:solidFill>
            </a:endParaRPr>
          </a:p>
        </p:txBody>
      </p:sp>
      <p:sp>
        <p:nvSpPr>
          <p:cNvPr id="9" name="Rechteck 8">
            <a:extLst>
              <a:ext uri="{FF2B5EF4-FFF2-40B4-BE49-F238E27FC236}">
                <a16:creationId xmlns:a16="http://schemas.microsoft.com/office/drawing/2014/main" id="{42E447D3-D051-4EEE-A84E-709DCC0167BE}"/>
              </a:ext>
            </a:extLst>
          </p:cNvPr>
          <p:cNvSpPr>
            <a:spLocks noGrp="1"/>
          </p:cNvSpPr>
          <p:nvPr/>
        </p:nvSpPr>
        <p:spPr>
          <a:xfrm>
            <a:off x="1085850" y="4171950"/>
            <a:ext cx="2857500" cy="200025"/>
          </a:xfrm>
          <a:prstGeom prst="rect">
            <a:avLst/>
          </a:prstGeom>
          <a:noFill/>
          <a:ln w="0">
            <a:noFill/>
            <a:prstDash val="solid"/>
          </a:ln>
        </p:spPr>
        <p:txBody>
          <a:bodyPr/>
          <a:lstStyle/>
          <a:p>
            <a:pPr>
              <a:defRPr sz="1200" b="0">
                <a:solidFill>
                  <a:srgbClr val="69747D"/>
                </a:solidFill>
              </a:defRPr>
            </a:pPr>
            <a:r>
              <a:rPr sz="1200" b="0" dirty="0">
                <a:solidFill>
                  <a:srgbClr val="69747D"/>
                </a:solidFill>
              </a:rPr>
              <a:t>8 Supplement-Klassen</a:t>
            </a:r>
          </a:p>
        </p:txBody>
      </p:sp>
      <p:sp>
        <p:nvSpPr>
          <p:cNvPr id="10" name="Rechteck 9">
            <a:extLst>
              <a:ext uri="{FF2B5EF4-FFF2-40B4-BE49-F238E27FC236}">
                <a16:creationId xmlns:a16="http://schemas.microsoft.com/office/drawing/2014/main" id="{7D7E1E3E-9743-4055-97C3-7B96973080D9}"/>
              </a:ext>
            </a:extLst>
          </p:cNvPr>
          <p:cNvSpPr>
            <a:spLocks noGrp="1"/>
          </p:cNvSpPr>
          <p:nvPr/>
        </p:nvSpPr>
        <p:spPr>
          <a:xfrm>
            <a:off x="6477000" y="2495550"/>
            <a:ext cx="3333750" cy="590550"/>
          </a:xfrm>
          <a:prstGeom prst="rect">
            <a:avLst/>
          </a:prstGeom>
          <a:noFill/>
          <a:ln w="0">
            <a:noFill/>
            <a:prstDash val="solid"/>
          </a:ln>
        </p:spPr>
        <p:txBody>
          <a:bodyPr/>
          <a:lstStyle/>
          <a:p>
            <a:pPr>
              <a:defRPr sz="3600" b="1">
                <a:solidFill>
                  <a:srgbClr val="2980B9"/>
                </a:solidFill>
              </a:defRPr>
            </a:pPr>
            <a:r>
              <a:rPr sz="3600" b="1" dirty="0">
                <a:solidFill>
                  <a:srgbClr val="2980B9"/>
                </a:solidFill>
              </a:rPr>
              <a:t>12,5 %</a:t>
            </a:r>
          </a:p>
        </p:txBody>
      </p:sp>
      <p:sp>
        <p:nvSpPr>
          <p:cNvPr id="11" name="Rechteck 10">
            <a:extLst>
              <a:ext uri="{FF2B5EF4-FFF2-40B4-BE49-F238E27FC236}">
                <a16:creationId xmlns:a16="http://schemas.microsoft.com/office/drawing/2014/main" id="{048FE0B3-14E6-4AE1-9B75-894373DA44B5}"/>
              </a:ext>
            </a:extLst>
          </p:cNvPr>
          <p:cNvSpPr>
            <a:spLocks noGrp="1"/>
          </p:cNvSpPr>
          <p:nvPr/>
        </p:nvSpPr>
        <p:spPr>
          <a:xfrm>
            <a:off x="6477000" y="3238500"/>
            <a:ext cx="2857500" cy="247650"/>
          </a:xfrm>
          <a:prstGeom prst="rect">
            <a:avLst/>
          </a:prstGeom>
          <a:noFill/>
          <a:ln w="0">
            <a:noFill/>
            <a:prstDash val="solid"/>
          </a:ln>
        </p:spPr>
        <p:txBody>
          <a:bodyPr/>
          <a:lstStyle/>
          <a:p>
            <a:pPr>
              <a:defRPr sz="1425" b="1">
                <a:solidFill>
                  <a:srgbClr val="26323B"/>
                </a:solidFill>
              </a:defRPr>
            </a:pPr>
            <a:r>
              <a:rPr sz="1425" b="1" dirty="0" err="1">
                <a:solidFill>
                  <a:srgbClr val="26323B"/>
                </a:solidFill>
              </a:rPr>
              <a:t>Zufalls</a:t>
            </a:r>
            <a:r>
              <a:rPr sz="1425" b="1" dirty="0">
                <a:solidFill>
                  <a:srgbClr val="26323B"/>
                </a:solidFill>
              </a:rPr>
              <a:t>-Baseline</a:t>
            </a:r>
          </a:p>
        </p:txBody>
      </p:sp>
      <p:sp>
        <p:nvSpPr>
          <p:cNvPr id="12" name="Rechteck 11">
            <a:extLst>
              <a:ext uri="{FF2B5EF4-FFF2-40B4-BE49-F238E27FC236}">
                <a16:creationId xmlns:a16="http://schemas.microsoft.com/office/drawing/2014/main" id="{645C55BF-10D5-48C7-86F3-E808A8B6A22C}"/>
              </a:ext>
            </a:extLst>
          </p:cNvPr>
          <p:cNvSpPr>
            <a:spLocks noGrp="1"/>
          </p:cNvSpPr>
          <p:nvPr/>
        </p:nvSpPr>
        <p:spPr>
          <a:xfrm>
            <a:off x="6477000" y="3943350"/>
            <a:ext cx="4267200" cy="781050"/>
          </a:xfrm>
          <a:prstGeom prst="rect">
            <a:avLst/>
          </a:prstGeom>
          <a:noFill/>
          <a:ln w="0">
            <a:noFill/>
            <a:prstDash val="solid"/>
          </a:ln>
        </p:spPr>
        <p:txBody>
          <a:bodyPr/>
          <a:lstStyle/>
          <a:p>
            <a:pPr>
              <a:defRPr sz="1500" b="0">
                <a:solidFill>
                  <a:srgbClr val="69747D"/>
                </a:solidFill>
              </a:defRPr>
            </a:pPr>
            <a:r>
              <a:rPr lang="de-DE" sz="1600" dirty="0"/>
              <a:t>Trainingsdaten sind vergleichsweise klein </a:t>
            </a:r>
            <a:r>
              <a:rPr sz="1500" b="0" dirty="0" err="1">
                <a:solidFill>
                  <a:srgbClr val="69747D"/>
                </a:solidFill>
              </a:rPr>
              <a:t>Konsequenz</a:t>
            </a:r>
            <a:r>
              <a:rPr sz="1500" b="0" dirty="0">
                <a:solidFill>
                  <a:srgbClr val="69747D"/>
                </a:solidFill>
              </a:rPr>
              <a:t>: ML-</a:t>
            </a:r>
            <a:r>
              <a:rPr sz="1500" b="0" dirty="0" err="1">
                <a:solidFill>
                  <a:srgbClr val="69747D"/>
                </a:solidFill>
              </a:rPr>
              <a:t>Prädiktionen</a:t>
            </a:r>
            <a:r>
              <a:rPr sz="1500" b="0" dirty="0">
                <a:solidFill>
                  <a:srgbClr val="69747D"/>
                </a:solidFill>
              </a:rPr>
              <a:t> </a:t>
            </a:r>
            <a:r>
              <a:rPr sz="1500" b="0" dirty="0" err="1">
                <a:solidFill>
                  <a:srgbClr val="69747D"/>
                </a:solidFill>
              </a:rPr>
              <a:t>nicht</a:t>
            </a:r>
            <a:r>
              <a:rPr sz="1500" b="0" dirty="0">
                <a:solidFill>
                  <a:srgbClr val="69747D"/>
                </a:solidFill>
              </a:rPr>
              <a:t> blind </a:t>
            </a:r>
            <a:r>
              <a:rPr sz="1500" b="0" dirty="0" err="1">
                <a:solidFill>
                  <a:srgbClr val="69747D"/>
                </a:solidFill>
              </a:rPr>
              <a:t>vertrauen</a:t>
            </a:r>
            <a:r>
              <a:rPr sz="1500" b="0" dirty="0">
                <a:solidFill>
                  <a:srgbClr val="69747D"/>
                </a:solidFill>
              </a:rPr>
              <a:t>.</a:t>
            </a:r>
          </a:p>
        </p:txBody>
      </p:sp>
    </p:spTree>
    <p:extLst>
      <p:ext uri="{BB962C8B-B14F-4D97-AF65-F5344CB8AC3E}">
        <p14:creationId xmlns:p14="http://schemas.microsoft.com/office/powerpoint/2010/main" val="1979814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phase">
            <a:extLst>
              <a:ext uri="{FF2B5EF4-FFF2-40B4-BE49-F238E27FC236}">
                <a16:creationId xmlns:a16="http://schemas.microsoft.com/office/drawing/2014/main" id="{B6DCBD7D-CC73-465A-BBE6-58DDF6A105CC}"/>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C · Conclude</a:t>
            </a:r>
          </a:p>
        </p:txBody>
      </p:sp>
      <p:sp>
        <p:nvSpPr>
          <p:cNvPr id="2" name="Rechteck 1">
            <a:extLst>
              <a:ext uri="{FF2B5EF4-FFF2-40B4-BE49-F238E27FC236}">
                <a16:creationId xmlns:a16="http://schemas.microsoft.com/office/drawing/2014/main" id="{3EE6318A-1F3A-4AB8-AF3E-AA77F094C9CF}"/>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DEFE6CC1-54F2-4CAD-AE8C-36300FA74A86}"/>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8FF6163F-2091-41FE-80DB-71FE534A42B9}"/>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2</a:t>
            </a:r>
            <a:endParaRPr sz="750" b="1" dirty="0">
              <a:solidFill>
                <a:srgbClr val="69747D"/>
              </a:solidFill>
            </a:endParaRPr>
          </a:p>
        </p:txBody>
      </p:sp>
      <p:sp>
        <p:nvSpPr>
          <p:cNvPr id="5" name="slide-title">
            <a:extLst>
              <a:ext uri="{FF2B5EF4-FFF2-40B4-BE49-F238E27FC236}">
                <a16:creationId xmlns:a16="http://schemas.microsoft.com/office/drawing/2014/main" id="{07F09A4E-6DC5-4B31-BE28-4045299E235E}"/>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Evaluation: Regressions-Güte (R²)</a:t>
            </a:r>
            <a:endParaRPr sz="2700" b="1" dirty="0">
              <a:solidFill>
                <a:srgbClr val="26323B"/>
              </a:solidFill>
            </a:endParaRPr>
          </a:p>
        </p:txBody>
      </p:sp>
      <p:sp>
        <p:nvSpPr>
          <p:cNvPr id="6" name="metric-card">
            <a:extLst>
              <a:ext uri="{FF2B5EF4-FFF2-40B4-BE49-F238E27FC236}">
                <a16:creationId xmlns:a16="http://schemas.microsoft.com/office/drawing/2014/main" id="{FC9A9A98-C170-4850-BC9B-F5A1F1F83CCD}"/>
              </a:ext>
            </a:extLst>
          </p:cNvPr>
          <p:cNvSpPr>
            <a:spLocks noGrp="1"/>
          </p:cNvSpPr>
          <p:nvPr/>
        </p:nvSpPr>
        <p:spPr>
          <a:xfrm>
            <a:off x="685800" y="2286000"/>
            <a:ext cx="4191000" cy="2476500"/>
          </a:xfrm>
          <a:prstGeom prst="rect">
            <a:avLst/>
          </a:prstGeom>
          <a:solidFill>
            <a:srgbClr val="F5F7F8"/>
          </a:solidFill>
          <a:ln w="9525">
            <a:solidFill>
              <a:srgbClr val="DCE2E6"/>
            </a:solidFill>
            <a:prstDash val="solid"/>
          </a:ln>
        </p:spPr>
        <p:txBody>
          <a:bodyPr/>
          <a:lstStyle/>
          <a:p>
            <a:endParaRPr lang="de-DE" dirty="0"/>
          </a:p>
        </p:txBody>
      </p:sp>
      <p:sp>
        <p:nvSpPr>
          <p:cNvPr id="7" name="Rechteck 6">
            <a:extLst>
              <a:ext uri="{FF2B5EF4-FFF2-40B4-BE49-F238E27FC236}">
                <a16:creationId xmlns:a16="http://schemas.microsoft.com/office/drawing/2014/main" id="{36CA338C-08D2-46A8-AA33-B6720EE4CCC0}"/>
              </a:ext>
            </a:extLst>
          </p:cNvPr>
          <p:cNvSpPr>
            <a:spLocks noGrp="1"/>
          </p:cNvSpPr>
          <p:nvPr/>
        </p:nvSpPr>
        <p:spPr>
          <a:xfrm>
            <a:off x="1104900" y="2667000"/>
            <a:ext cx="1809750" cy="723900"/>
          </a:xfrm>
          <a:prstGeom prst="rect">
            <a:avLst/>
          </a:prstGeom>
          <a:noFill/>
          <a:ln w="0">
            <a:noFill/>
            <a:prstDash val="solid"/>
          </a:ln>
        </p:spPr>
        <p:txBody>
          <a:bodyPr/>
          <a:lstStyle/>
          <a:p>
            <a:pPr>
              <a:defRPr sz="4950" b="1">
                <a:solidFill>
                  <a:srgbClr val="2980B9"/>
                </a:solidFill>
              </a:defRPr>
            </a:pPr>
            <a:r>
              <a:rPr sz="4950" b="1" dirty="0">
                <a:solidFill>
                  <a:srgbClr val="2980B9"/>
                </a:solidFill>
              </a:rPr>
              <a:t>R²</a:t>
            </a:r>
          </a:p>
        </p:txBody>
      </p:sp>
      <p:sp>
        <p:nvSpPr>
          <p:cNvPr id="8" name="Rechteck 7">
            <a:extLst>
              <a:ext uri="{FF2B5EF4-FFF2-40B4-BE49-F238E27FC236}">
                <a16:creationId xmlns:a16="http://schemas.microsoft.com/office/drawing/2014/main" id="{F940C647-D24E-49F0-B909-016F728EA570}"/>
              </a:ext>
            </a:extLst>
          </p:cNvPr>
          <p:cNvSpPr>
            <a:spLocks noGrp="1"/>
          </p:cNvSpPr>
          <p:nvPr/>
        </p:nvSpPr>
        <p:spPr>
          <a:xfrm>
            <a:off x="1104900" y="3543300"/>
            <a:ext cx="2857500" cy="533400"/>
          </a:xfrm>
          <a:prstGeom prst="rect">
            <a:avLst/>
          </a:prstGeom>
          <a:noFill/>
          <a:ln w="0">
            <a:noFill/>
            <a:prstDash val="solid"/>
          </a:ln>
        </p:spPr>
        <p:txBody>
          <a:bodyPr/>
          <a:lstStyle/>
          <a:p>
            <a:pPr>
              <a:defRPr sz="1575" b="1">
                <a:solidFill>
                  <a:srgbClr val="26323B"/>
                </a:solidFill>
              </a:defRPr>
            </a:pPr>
            <a:r>
              <a:rPr sz="1575" b="1" dirty="0" err="1">
                <a:solidFill>
                  <a:srgbClr val="26323B"/>
                </a:solidFill>
              </a:rPr>
              <a:t>niedrig</a:t>
            </a:r>
            <a:r>
              <a:rPr sz="1575" b="1" dirty="0">
                <a:solidFill>
                  <a:srgbClr val="26323B"/>
                </a:solidFill>
              </a:rPr>
              <a:t> bis </a:t>
            </a:r>
            <a:r>
              <a:rPr sz="1575" b="1" dirty="0" err="1">
                <a:solidFill>
                  <a:srgbClr val="26323B"/>
                </a:solidFill>
              </a:rPr>
              <a:t>negativ</a:t>
            </a:r>
            <a:endParaRPr sz="1575" b="1" dirty="0">
              <a:solidFill>
                <a:srgbClr val="26323B"/>
              </a:solidFill>
            </a:endParaRPr>
          </a:p>
          <a:p>
            <a:pPr>
              <a:defRPr sz="1575" b="1">
                <a:solidFill>
                  <a:srgbClr val="26323B"/>
                </a:solidFill>
              </a:defRPr>
            </a:pPr>
            <a:r>
              <a:rPr sz="1575" b="1" dirty="0">
                <a:solidFill>
                  <a:srgbClr val="26323B"/>
                </a:solidFill>
              </a:rPr>
              <a:t>auf </a:t>
            </a:r>
            <a:r>
              <a:rPr sz="1575" b="1" dirty="0" err="1">
                <a:solidFill>
                  <a:srgbClr val="26323B"/>
                </a:solidFill>
              </a:rPr>
              <a:t>Validierungsdaten</a:t>
            </a:r>
            <a:endParaRPr sz="1575" b="1" dirty="0">
              <a:solidFill>
                <a:srgbClr val="26323B"/>
              </a:solidFill>
            </a:endParaRPr>
          </a:p>
        </p:txBody>
      </p:sp>
      <p:sp>
        <p:nvSpPr>
          <p:cNvPr id="9" name="Rechteck 8">
            <a:extLst>
              <a:ext uri="{FF2B5EF4-FFF2-40B4-BE49-F238E27FC236}">
                <a16:creationId xmlns:a16="http://schemas.microsoft.com/office/drawing/2014/main" id="{3AA04F20-A72D-457E-BDE5-91B54104DFB7}"/>
              </a:ext>
            </a:extLst>
          </p:cNvPr>
          <p:cNvSpPr>
            <a:spLocks noGrp="1"/>
          </p:cNvSpPr>
          <p:nvPr/>
        </p:nvSpPr>
        <p:spPr>
          <a:xfrm>
            <a:off x="5953125" y="2514600"/>
            <a:ext cx="4572000" cy="323850"/>
          </a:xfrm>
          <a:prstGeom prst="rect">
            <a:avLst/>
          </a:prstGeom>
          <a:noFill/>
          <a:ln w="0">
            <a:noFill/>
            <a:prstDash val="solid"/>
          </a:ln>
        </p:spPr>
        <p:txBody>
          <a:bodyPr/>
          <a:lstStyle/>
          <a:p>
            <a:pPr>
              <a:defRPr sz="2025" b="1">
                <a:solidFill>
                  <a:srgbClr val="26323B"/>
                </a:solidFill>
              </a:defRPr>
            </a:pPr>
            <a:r>
              <a:rPr sz="2025" b="1" dirty="0">
                <a:solidFill>
                  <a:srgbClr val="26323B"/>
                </a:solidFill>
              </a:rPr>
              <a:t>Kein </a:t>
            </a:r>
            <a:r>
              <a:rPr sz="2025" b="1" dirty="0" err="1">
                <a:solidFill>
                  <a:srgbClr val="26323B"/>
                </a:solidFill>
              </a:rPr>
              <a:t>Implementierungsfehler</a:t>
            </a:r>
            <a:r>
              <a:rPr sz="2025" b="1" dirty="0">
                <a:solidFill>
                  <a:srgbClr val="26323B"/>
                </a:solidFill>
              </a:rPr>
              <a:t>.</a:t>
            </a:r>
          </a:p>
        </p:txBody>
      </p:sp>
      <p:sp>
        <p:nvSpPr>
          <p:cNvPr id="10" name="Rechteck 9">
            <a:extLst>
              <a:ext uri="{FF2B5EF4-FFF2-40B4-BE49-F238E27FC236}">
                <a16:creationId xmlns:a16="http://schemas.microsoft.com/office/drawing/2014/main" id="{1E7CCE78-0D3A-4856-A0C4-28AF06899709}"/>
              </a:ext>
            </a:extLst>
          </p:cNvPr>
          <p:cNvSpPr>
            <a:spLocks noGrp="1"/>
          </p:cNvSpPr>
          <p:nvPr/>
        </p:nvSpPr>
        <p:spPr>
          <a:xfrm>
            <a:off x="6057631" y="3438525"/>
            <a:ext cx="152400" cy="19050"/>
          </a:xfrm>
          <a:prstGeom prst="rect">
            <a:avLst/>
          </a:prstGeom>
          <a:solidFill>
            <a:srgbClr val="2980B9"/>
          </a:solidFill>
          <a:ln w="0">
            <a:noFill/>
            <a:prstDash val="solid"/>
          </a:ln>
        </p:spPr>
        <p:txBody>
          <a:bodyPr/>
          <a:lstStyle/>
          <a:p>
            <a:endParaRPr lang="de-DE" dirty="0"/>
          </a:p>
        </p:txBody>
      </p:sp>
      <p:sp>
        <p:nvSpPr>
          <p:cNvPr id="11" name="Rechteck 10">
            <a:extLst>
              <a:ext uri="{FF2B5EF4-FFF2-40B4-BE49-F238E27FC236}">
                <a16:creationId xmlns:a16="http://schemas.microsoft.com/office/drawing/2014/main" id="{94ADE29C-C365-460B-8A4A-8A35E9B8CA20}"/>
              </a:ext>
            </a:extLst>
          </p:cNvPr>
          <p:cNvSpPr>
            <a:spLocks noGrp="1"/>
          </p:cNvSpPr>
          <p:nvPr/>
        </p:nvSpPr>
        <p:spPr>
          <a:xfrm>
            <a:off x="6343381" y="3314700"/>
            <a:ext cx="4476750" cy="457200"/>
          </a:xfrm>
          <a:prstGeom prst="rect">
            <a:avLst/>
          </a:prstGeom>
          <a:noFill/>
          <a:ln w="0">
            <a:noFill/>
            <a:prstDash val="solid"/>
          </a:ln>
        </p:spPr>
        <p:txBody>
          <a:bodyPr/>
          <a:lstStyle/>
          <a:p>
            <a:pPr>
              <a:defRPr sz="1500" b="0">
                <a:solidFill>
                  <a:srgbClr val="26323B"/>
                </a:solidFill>
              </a:defRPr>
            </a:pPr>
            <a:r>
              <a:rPr sz="1500" b="0" dirty="0" err="1">
                <a:solidFill>
                  <a:srgbClr val="26323B"/>
                </a:solidFill>
              </a:rPr>
              <a:t>Tägliche</a:t>
            </a:r>
            <a:r>
              <a:rPr sz="1500" b="0" dirty="0">
                <a:solidFill>
                  <a:srgbClr val="26323B"/>
                </a:solidFill>
              </a:rPr>
              <a:t> </a:t>
            </a:r>
            <a:r>
              <a:rPr sz="1500" b="0" dirty="0" err="1">
                <a:solidFill>
                  <a:srgbClr val="26323B"/>
                </a:solidFill>
              </a:rPr>
              <a:t>Gewichtsschwankungen</a:t>
            </a:r>
            <a:r>
              <a:rPr sz="1500" b="0" dirty="0">
                <a:solidFill>
                  <a:srgbClr val="26323B"/>
                </a:solidFill>
              </a:rPr>
              <a:t> </a:t>
            </a:r>
            <a:r>
              <a:rPr sz="1500" b="0" dirty="0" err="1">
                <a:solidFill>
                  <a:srgbClr val="26323B"/>
                </a:solidFill>
              </a:rPr>
              <a:t>enthalten</a:t>
            </a:r>
            <a:r>
              <a:rPr sz="1500" b="0" dirty="0">
                <a:solidFill>
                  <a:srgbClr val="26323B"/>
                </a:solidFill>
              </a:rPr>
              <a:t> </a:t>
            </a:r>
            <a:r>
              <a:rPr sz="1500" b="0" dirty="0" err="1">
                <a:solidFill>
                  <a:srgbClr val="26323B"/>
                </a:solidFill>
              </a:rPr>
              <a:t>stochastisches</a:t>
            </a:r>
            <a:r>
              <a:rPr sz="1500" b="0" dirty="0">
                <a:solidFill>
                  <a:srgbClr val="26323B"/>
                </a:solidFill>
              </a:rPr>
              <a:t> </a:t>
            </a:r>
            <a:r>
              <a:rPr sz="1500" b="0" dirty="0" err="1">
                <a:solidFill>
                  <a:srgbClr val="26323B"/>
                </a:solidFill>
              </a:rPr>
              <a:t>Rauschen</a:t>
            </a:r>
            <a:r>
              <a:rPr sz="1500" b="0" dirty="0">
                <a:solidFill>
                  <a:srgbClr val="26323B"/>
                </a:solidFill>
              </a:rPr>
              <a:t>.</a:t>
            </a:r>
          </a:p>
        </p:txBody>
      </p:sp>
      <p:sp>
        <p:nvSpPr>
          <p:cNvPr id="12" name="Rechteck 11">
            <a:extLst>
              <a:ext uri="{FF2B5EF4-FFF2-40B4-BE49-F238E27FC236}">
                <a16:creationId xmlns:a16="http://schemas.microsoft.com/office/drawing/2014/main" id="{3A293A3A-C299-4005-8E14-52C1C3AB28DA}"/>
              </a:ext>
            </a:extLst>
          </p:cNvPr>
          <p:cNvSpPr>
            <a:spLocks noGrp="1"/>
          </p:cNvSpPr>
          <p:nvPr/>
        </p:nvSpPr>
        <p:spPr>
          <a:xfrm>
            <a:off x="6057631" y="4276725"/>
            <a:ext cx="152400" cy="19050"/>
          </a:xfrm>
          <a:prstGeom prst="rect">
            <a:avLst/>
          </a:prstGeom>
          <a:solidFill>
            <a:srgbClr val="2980B9"/>
          </a:solidFill>
          <a:ln w="0">
            <a:noFill/>
            <a:prstDash val="solid"/>
          </a:ln>
        </p:spPr>
        <p:txBody>
          <a:bodyPr/>
          <a:lstStyle/>
          <a:p>
            <a:endParaRPr lang="de-DE" dirty="0"/>
          </a:p>
        </p:txBody>
      </p:sp>
      <p:sp>
        <p:nvSpPr>
          <p:cNvPr id="13" name="Rechteck 12">
            <a:extLst>
              <a:ext uri="{FF2B5EF4-FFF2-40B4-BE49-F238E27FC236}">
                <a16:creationId xmlns:a16="http://schemas.microsoft.com/office/drawing/2014/main" id="{68006A05-E29D-4ED9-AA99-077990ACF9D6}"/>
              </a:ext>
            </a:extLst>
          </p:cNvPr>
          <p:cNvSpPr>
            <a:spLocks noGrp="1"/>
          </p:cNvSpPr>
          <p:nvPr/>
        </p:nvSpPr>
        <p:spPr>
          <a:xfrm>
            <a:off x="6343381" y="4152900"/>
            <a:ext cx="4476750" cy="457200"/>
          </a:xfrm>
          <a:prstGeom prst="rect">
            <a:avLst/>
          </a:prstGeom>
          <a:noFill/>
          <a:ln w="0">
            <a:noFill/>
            <a:prstDash val="solid"/>
          </a:ln>
        </p:spPr>
        <p:txBody>
          <a:bodyPr/>
          <a:lstStyle/>
          <a:p>
            <a:pPr>
              <a:defRPr sz="1500" b="0">
                <a:solidFill>
                  <a:srgbClr val="26323B"/>
                </a:solidFill>
              </a:defRPr>
            </a:pPr>
            <a:r>
              <a:rPr sz="1500" b="0" dirty="0">
                <a:solidFill>
                  <a:srgbClr val="26323B"/>
                </a:solidFill>
              </a:rPr>
              <a:t>Das Modell </a:t>
            </a:r>
            <a:r>
              <a:rPr sz="1500" b="0" dirty="0" err="1">
                <a:solidFill>
                  <a:srgbClr val="26323B"/>
                </a:solidFill>
              </a:rPr>
              <a:t>dient</a:t>
            </a:r>
            <a:r>
              <a:rPr sz="1500" b="0" dirty="0">
                <a:solidFill>
                  <a:srgbClr val="26323B"/>
                </a:solidFill>
              </a:rPr>
              <a:t> </a:t>
            </a:r>
            <a:r>
              <a:rPr sz="1500" b="0" dirty="0" err="1">
                <a:solidFill>
                  <a:srgbClr val="26323B"/>
                </a:solidFill>
              </a:rPr>
              <a:t>als</a:t>
            </a:r>
            <a:r>
              <a:rPr sz="1500" b="0" dirty="0">
                <a:solidFill>
                  <a:srgbClr val="26323B"/>
                </a:solidFill>
              </a:rPr>
              <a:t> </a:t>
            </a:r>
            <a:r>
              <a:rPr sz="1500" b="0" dirty="0" err="1">
                <a:solidFill>
                  <a:srgbClr val="26323B"/>
                </a:solidFill>
              </a:rPr>
              <a:t>Indikator</a:t>
            </a:r>
            <a:r>
              <a:rPr sz="1500" b="0" dirty="0">
                <a:solidFill>
                  <a:srgbClr val="26323B"/>
                </a:solidFill>
              </a:rPr>
              <a:t> – </a:t>
            </a:r>
            <a:r>
              <a:rPr sz="1500" b="0" dirty="0" err="1">
                <a:solidFill>
                  <a:srgbClr val="26323B"/>
                </a:solidFill>
              </a:rPr>
              <a:t>eingebettet</a:t>
            </a:r>
            <a:r>
              <a:rPr sz="1500" b="0" dirty="0">
                <a:solidFill>
                  <a:srgbClr val="26323B"/>
                </a:solidFill>
              </a:rPr>
              <a:t> in </a:t>
            </a:r>
            <a:r>
              <a:rPr sz="1500" b="0" dirty="0" err="1">
                <a:solidFill>
                  <a:srgbClr val="26323B"/>
                </a:solidFill>
              </a:rPr>
              <a:t>ein</a:t>
            </a:r>
            <a:r>
              <a:rPr sz="1500" b="0" dirty="0">
                <a:solidFill>
                  <a:srgbClr val="26323B"/>
                </a:solidFill>
              </a:rPr>
              <a:t> </a:t>
            </a:r>
            <a:r>
              <a:rPr sz="1500" b="0" dirty="0" err="1">
                <a:solidFill>
                  <a:srgbClr val="26323B"/>
                </a:solidFill>
              </a:rPr>
              <a:t>übergeordnetes</a:t>
            </a:r>
            <a:r>
              <a:rPr sz="1500" b="0" dirty="0">
                <a:solidFill>
                  <a:srgbClr val="26323B"/>
                </a:solidFill>
              </a:rPr>
              <a:t> System.</a:t>
            </a:r>
          </a:p>
        </p:txBody>
      </p:sp>
    </p:spTree>
    <p:extLst>
      <p:ext uri="{BB962C8B-B14F-4D97-AF65-F5344CB8AC3E}">
        <p14:creationId xmlns:p14="http://schemas.microsoft.com/office/powerpoint/2010/main" val="1708767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hase">
            <a:extLst>
              <a:ext uri="{FF2B5EF4-FFF2-40B4-BE49-F238E27FC236}">
                <a16:creationId xmlns:a16="http://schemas.microsoft.com/office/drawing/2014/main" id="{AC65DB7A-66D9-4298-B3BE-81D37DD77A97}"/>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C · Conclude &amp; Compare</a:t>
            </a:r>
          </a:p>
        </p:txBody>
      </p:sp>
      <p:sp>
        <p:nvSpPr>
          <p:cNvPr id="2" name="Rechteck 1">
            <a:extLst>
              <a:ext uri="{FF2B5EF4-FFF2-40B4-BE49-F238E27FC236}">
                <a16:creationId xmlns:a16="http://schemas.microsoft.com/office/drawing/2014/main" id="{4E7113DF-4451-402E-9BE5-F4A8C3C0818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109BB5A-2206-4E52-A143-FA82267C48A5}"/>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F84FBDD5-6532-4AB2-9AA7-A3F08F7BDC8E}"/>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3</a:t>
            </a:r>
            <a:endParaRPr sz="750" b="1" dirty="0">
              <a:solidFill>
                <a:srgbClr val="69747D"/>
              </a:solidFill>
            </a:endParaRPr>
          </a:p>
        </p:txBody>
      </p:sp>
      <p:sp>
        <p:nvSpPr>
          <p:cNvPr id="5" name="slide-title">
            <a:extLst>
              <a:ext uri="{FF2B5EF4-FFF2-40B4-BE49-F238E27FC236}">
                <a16:creationId xmlns:a16="http://schemas.microsoft.com/office/drawing/2014/main" id="{46EE19A2-EC59-4106-8AC4-F1D3E174F8D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Modellvergleich im Detail</a:t>
            </a:r>
            <a:endParaRPr sz="2700" b="1" dirty="0">
              <a:solidFill>
                <a:srgbClr val="26323B"/>
              </a:solidFill>
            </a:endParaRPr>
          </a:p>
        </p:txBody>
      </p:sp>
      <p:sp>
        <p:nvSpPr>
          <p:cNvPr id="14" name="Rectangle 13"/>
          <p:cNvSpPr/>
          <p:nvPr/>
        </p:nvSpPr>
        <p:spPr>
          <a:xfrm>
            <a:off x="5943600" y="1783080"/>
            <a:ext cx="9525" cy="4206240"/>
          </a:xfrm>
          <a:prstGeom prst="rect">
            <a:avLst/>
          </a:prstGeom>
          <a:solidFill>
            <a:srgbClr val="DC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783080"/>
            <a:ext cx="4114800" cy="274320"/>
          </a:xfrm>
          <a:prstGeom prst="rect">
            <a:avLst/>
          </a:prstGeom>
          <a:noFill/>
        </p:spPr>
        <p:txBody>
          <a:bodyPr wrap="square">
            <a:spAutoFit/>
          </a:bodyPr>
          <a:lstStyle/>
          <a:p>
            <a:pPr algn="l"/>
            <a:r>
              <a:rPr sz="1125" b="1">
                <a:solidFill>
                  <a:srgbClr val="2980B9"/>
                </a:solidFill>
                <a:latin typeface="Calibri"/>
              </a:rPr>
              <a:t>KLASSIFIKATOR</a:t>
            </a:r>
          </a:p>
        </p:txBody>
      </p:sp>
      <p:sp>
        <p:nvSpPr>
          <p:cNvPr id="16" name="TextBox 15"/>
          <p:cNvSpPr txBox="1"/>
          <p:nvPr/>
        </p:nvSpPr>
        <p:spPr>
          <a:xfrm>
            <a:off x="6522928" y="1783080"/>
            <a:ext cx="4114800" cy="274320"/>
          </a:xfrm>
          <a:prstGeom prst="rect">
            <a:avLst/>
          </a:prstGeom>
          <a:noFill/>
        </p:spPr>
        <p:txBody>
          <a:bodyPr wrap="square">
            <a:spAutoFit/>
          </a:bodyPr>
          <a:lstStyle/>
          <a:p>
            <a:pPr algn="l"/>
            <a:r>
              <a:rPr sz="1125" b="1">
                <a:solidFill>
                  <a:srgbClr val="2980B9"/>
                </a:solidFill>
                <a:latin typeface="Calibri"/>
              </a:rPr>
              <a:t>REGRESSOR</a:t>
            </a:r>
          </a:p>
        </p:txBody>
      </p:sp>
      <p:sp>
        <p:nvSpPr>
          <p:cNvPr id="17" name="Rounded Rectangle 16"/>
          <p:cNvSpPr/>
          <p:nvPr/>
        </p:nvSpPr>
        <p:spPr>
          <a:xfrm>
            <a:off x="557784" y="2203703"/>
            <a:ext cx="4445646" cy="3136391"/>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rcRect/>
          <a:stretch/>
        </p:blipFill>
        <p:spPr>
          <a:xfrm>
            <a:off x="685800" y="2331720"/>
            <a:ext cx="4189613" cy="2880359"/>
          </a:xfrm>
          <a:prstGeom prst="rect">
            <a:avLst/>
          </a:prstGeom>
        </p:spPr>
      </p:pic>
      <p:sp>
        <p:nvSpPr>
          <p:cNvPr id="19" name="TextBox 18"/>
          <p:cNvSpPr txBox="1"/>
          <p:nvPr/>
        </p:nvSpPr>
        <p:spPr>
          <a:xfrm>
            <a:off x="685800" y="5486399"/>
            <a:ext cx="4754880" cy="461665"/>
          </a:xfrm>
          <a:prstGeom prst="rect">
            <a:avLst/>
          </a:prstGeom>
          <a:noFill/>
        </p:spPr>
        <p:txBody>
          <a:bodyPr wrap="square">
            <a:spAutoFit/>
          </a:bodyPr>
          <a:lstStyle/>
          <a:p>
            <a:pPr algn="l"/>
            <a:r>
              <a:rPr sz="1200" b="0" dirty="0">
                <a:solidFill>
                  <a:srgbClr val="69747D"/>
                </a:solidFill>
                <a:latin typeface="Calibri"/>
              </a:rPr>
              <a:t>Random Forest (2</a:t>
            </a:r>
            <a:r>
              <a:rPr lang="de-DE" sz="1200" b="0" dirty="0">
                <a:solidFill>
                  <a:srgbClr val="69747D"/>
                </a:solidFill>
                <a:latin typeface="Calibri"/>
              </a:rPr>
              <a:t>8,5</a:t>
            </a:r>
            <a:r>
              <a:rPr sz="1200" b="0" dirty="0">
                <a:solidFill>
                  <a:srgbClr val="69747D"/>
                </a:solidFill>
                <a:latin typeface="Calibri"/>
              </a:rPr>
              <a:t> %), SVM (28,6 %) und Decision Tree (28,8 %) </a:t>
            </a:r>
            <a:r>
              <a:rPr sz="1200" b="0" dirty="0" err="1">
                <a:solidFill>
                  <a:srgbClr val="69747D"/>
                </a:solidFill>
                <a:latin typeface="Calibri"/>
              </a:rPr>
              <a:t>liegen</a:t>
            </a:r>
            <a:r>
              <a:rPr sz="1200" b="0" dirty="0">
                <a:solidFill>
                  <a:srgbClr val="69747D"/>
                </a:solidFill>
                <a:latin typeface="Calibri"/>
              </a:rPr>
              <a:t> alle </a:t>
            </a:r>
            <a:r>
              <a:rPr sz="1200" b="0" dirty="0" err="1">
                <a:solidFill>
                  <a:srgbClr val="69747D"/>
                </a:solidFill>
                <a:latin typeface="Calibri"/>
              </a:rPr>
              <a:t>klar</a:t>
            </a:r>
            <a:r>
              <a:rPr sz="1200" b="0" dirty="0">
                <a:solidFill>
                  <a:srgbClr val="69747D"/>
                </a:solidFill>
                <a:latin typeface="Calibri"/>
              </a:rPr>
              <a:t> </a:t>
            </a:r>
            <a:r>
              <a:rPr sz="1200" b="0" dirty="0" err="1">
                <a:solidFill>
                  <a:srgbClr val="69747D"/>
                </a:solidFill>
                <a:latin typeface="Calibri"/>
              </a:rPr>
              <a:t>über</a:t>
            </a:r>
            <a:r>
              <a:rPr sz="1200" b="0" dirty="0">
                <a:solidFill>
                  <a:srgbClr val="69747D"/>
                </a:solidFill>
                <a:latin typeface="Calibri"/>
              </a:rPr>
              <a:t> der </a:t>
            </a:r>
            <a:r>
              <a:rPr sz="1200" b="0" dirty="0" err="1">
                <a:solidFill>
                  <a:srgbClr val="69747D"/>
                </a:solidFill>
                <a:latin typeface="Calibri"/>
              </a:rPr>
              <a:t>Zufalls</a:t>
            </a:r>
            <a:r>
              <a:rPr sz="1200" b="0" dirty="0">
                <a:solidFill>
                  <a:srgbClr val="69747D"/>
                </a:solidFill>
                <a:latin typeface="Calibri"/>
              </a:rPr>
              <a:t>-Baseline von 12,5 %.</a:t>
            </a:r>
          </a:p>
        </p:txBody>
      </p:sp>
      <p:sp>
        <p:nvSpPr>
          <p:cNvPr id="20" name="Rounded Rectangle 19"/>
          <p:cNvSpPr/>
          <p:nvPr/>
        </p:nvSpPr>
        <p:spPr>
          <a:xfrm>
            <a:off x="6394912" y="2203703"/>
            <a:ext cx="3136391" cy="3136391"/>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p:cNvPicPr>
            <a:picLocks noChangeAspect="1"/>
          </p:cNvPicPr>
          <p:nvPr/>
        </p:nvPicPr>
        <p:blipFill>
          <a:blip r:embed="rId4">
            <a:extLst>
              <a:ext uri="{28A0092B-C50C-407E-A947-70E740481C1C}">
                <a14:useLocalDpi xmlns:a14="http://schemas.microsoft.com/office/drawing/2010/main" val="0"/>
              </a:ext>
            </a:extLst>
          </a:blip>
          <a:srcRect/>
          <a:stretch/>
        </p:blipFill>
        <p:spPr>
          <a:xfrm>
            <a:off x="6522928" y="2331720"/>
            <a:ext cx="2880360" cy="2880360"/>
          </a:xfrm>
          <a:prstGeom prst="rect">
            <a:avLst/>
          </a:prstGeom>
        </p:spPr>
      </p:pic>
      <p:sp>
        <p:nvSpPr>
          <p:cNvPr id="22" name="TextBox 21"/>
          <p:cNvSpPr txBox="1"/>
          <p:nvPr/>
        </p:nvSpPr>
        <p:spPr>
          <a:xfrm>
            <a:off x="6522928" y="5486399"/>
            <a:ext cx="4754880" cy="822960"/>
          </a:xfrm>
          <a:prstGeom prst="rect">
            <a:avLst/>
          </a:prstGeom>
          <a:noFill/>
        </p:spPr>
        <p:txBody>
          <a:bodyPr wrap="square">
            <a:spAutoFit/>
          </a:bodyPr>
          <a:lstStyle/>
          <a:p>
            <a:pPr algn="l"/>
            <a:r>
              <a:rPr sz="1200" b="0">
                <a:solidFill>
                  <a:srgbClr val="69747D"/>
                </a:solidFill>
                <a:latin typeface="Calibri"/>
              </a:rPr>
              <a:t>Prognose vs. tatsächliches Gewicht: Punkte weit von der Diagonale entfernt spiegeln den niedrigen R²-Wert wider.</a:t>
            </a:r>
          </a:p>
        </p:txBody>
      </p:sp>
    </p:spTree>
    <p:extLst>
      <p:ext uri="{BB962C8B-B14F-4D97-AF65-F5344CB8AC3E}">
        <p14:creationId xmlns:p14="http://schemas.microsoft.com/office/powerpoint/2010/main" val="1979814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phase">
            <a:extLst>
              <a:ext uri="{FF2B5EF4-FFF2-40B4-BE49-F238E27FC236}">
                <a16:creationId xmlns:a16="http://schemas.microsoft.com/office/drawing/2014/main" id="{05766B62-6EF1-4C53-B072-1E2100F2AF28}"/>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C · Conclude</a:t>
            </a:r>
          </a:p>
        </p:txBody>
      </p:sp>
      <p:sp>
        <p:nvSpPr>
          <p:cNvPr id="2" name="Rechteck 1">
            <a:extLst>
              <a:ext uri="{FF2B5EF4-FFF2-40B4-BE49-F238E27FC236}">
                <a16:creationId xmlns:a16="http://schemas.microsoft.com/office/drawing/2014/main" id="{3DD6BA6E-58EF-4831-8326-4C3B70D7E46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18F92C5E-2339-4F00-9FAD-EE0C3C744839}"/>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DE1AFE24-E0AB-4996-88AA-9833CE4AFA5B}"/>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4</a:t>
            </a:r>
            <a:endParaRPr sz="750" b="1" dirty="0">
              <a:solidFill>
                <a:srgbClr val="69747D"/>
              </a:solidFill>
            </a:endParaRPr>
          </a:p>
        </p:txBody>
      </p:sp>
      <p:sp>
        <p:nvSpPr>
          <p:cNvPr id="5" name="slide-title">
            <a:extLst>
              <a:ext uri="{FF2B5EF4-FFF2-40B4-BE49-F238E27FC236}">
                <a16:creationId xmlns:a16="http://schemas.microsoft.com/office/drawing/2014/main" id="{EEF55F6A-CDEB-4105-B405-4AB32A0FF01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Die Hybrid-Architektur</a:t>
            </a:r>
            <a:endParaRPr sz="2700" b="1" dirty="0">
              <a:solidFill>
                <a:srgbClr val="26323B"/>
              </a:solidFill>
            </a:endParaRPr>
          </a:p>
        </p:txBody>
      </p:sp>
      <p:sp>
        <p:nvSpPr>
          <p:cNvPr id="6" name="Rechteck 5">
            <a:extLst>
              <a:ext uri="{FF2B5EF4-FFF2-40B4-BE49-F238E27FC236}">
                <a16:creationId xmlns:a16="http://schemas.microsoft.com/office/drawing/2014/main" id="{AE25727B-EE76-4DD2-BE5B-95960C04E0F4}"/>
              </a:ext>
            </a:extLst>
          </p:cNvPr>
          <p:cNvSpPr>
            <a:spLocks noGrp="1"/>
          </p:cNvSpPr>
          <p:nvPr/>
        </p:nvSpPr>
        <p:spPr>
          <a:xfrm>
            <a:off x="685800" y="2428875"/>
            <a:ext cx="885423" cy="628650"/>
          </a:xfrm>
          <a:prstGeom prst="rect">
            <a:avLst/>
          </a:prstGeom>
          <a:noFill/>
          <a:ln w="0">
            <a:noFill/>
            <a:prstDash val="solid"/>
          </a:ln>
        </p:spPr>
        <p:txBody>
          <a:bodyPr/>
          <a:lstStyle/>
          <a:p>
            <a:pPr>
              <a:defRPr sz="4050" b="1">
                <a:solidFill>
                  <a:srgbClr val="2980B9"/>
                </a:solidFill>
              </a:defRPr>
            </a:pPr>
            <a:r>
              <a:rPr sz="4050" b="1" dirty="0">
                <a:solidFill>
                  <a:srgbClr val="2980B9"/>
                </a:solidFill>
              </a:rPr>
              <a:t>ML</a:t>
            </a:r>
          </a:p>
        </p:txBody>
      </p:sp>
      <p:sp>
        <p:nvSpPr>
          <p:cNvPr id="7" name="Rechteck 6">
            <a:extLst>
              <a:ext uri="{FF2B5EF4-FFF2-40B4-BE49-F238E27FC236}">
                <a16:creationId xmlns:a16="http://schemas.microsoft.com/office/drawing/2014/main" id="{2971CB96-5CE5-4A7D-9022-C297BBF792DE}"/>
              </a:ext>
            </a:extLst>
          </p:cNvPr>
          <p:cNvSpPr>
            <a:spLocks noGrp="1"/>
          </p:cNvSpPr>
          <p:nvPr/>
        </p:nvSpPr>
        <p:spPr>
          <a:xfrm>
            <a:off x="685800" y="3238500"/>
            <a:ext cx="2476500" cy="285750"/>
          </a:xfrm>
          <a:prstGeom prst="rect">
            <a:avLst/>
          </a:prstGeom>
          <a:noFill/>
          <a:ln w="0">
            <a:noFill/>
            <a:prstDash val="solid"/>
          </a:ln>
        </p:spPr>
        <p:txBody>
          <a:bodyPr/>
          <a:lstStyle/>
          <a:p>
            <a:pPr>
              <a:defRPr sz="1500" b="1">
                <a:solidFill>
                  <a:srgbClr val="26323B"/>
                </a:solidFill>
              </a:defRPr>
            </a:pPr>
            <a:r>
              <a:rPr sz="1500" b="1" dirty="0" err="1">
                <a:solidFill>
                  <a:srgbClr val="26323B"/>
                </a:solidFill>
              </a:rPr>
              <a:t>Statistische</a:t>
            </a:r>
            <a:r>
              <a:rPr sz="1500" b="1" dirty="0">
                <a:solidFill>
                  <a:srgbClr val="26323B"/>
                </a:solidFill>
              </a:rPr>
              <a:t> Prognose</a:t>
            </a:r>
          </a:p>
        </p:txBody>
      </p:sp>
      <p:sp>
        <p:nvSpPr>
          <p:cNvPr id="8" name="Rechteck 7">
            <a:extLst>
              <a:ext uri="{FF2B5EF4-FFF2-40B4-BE49-F238E27FC236}">
                <a16:creationId xmlns:a16="http://schemas.microsoft.com/office/drawing/2014/main" id="{F08553EC-793C-458B-A5EC-8F3DD7B87472}"/>
              </a:ext>
            </a:extLst>
          </p:cNvPr>
          <p:cNvSpPr>
            <a:spLocks noGrp="1"/>
          </p:cNvSpPr>
          <p:nvPr/>
        </p:nvSpPr>
        <p:spPr>
          <a:xfrm>
            <a:off x="3034989" y="2915174"/>
            <a:ext cx="1260000" cy="18000"/>
          </a:xfrm>
          <a:prstGeom prst="rect">
            <a:avLst/>
          </a:prstGeom>
          <a:solidFill>
            <a:srgbClr val="DCE2E6"/>
          </a:solidFill>
          <a:ln w="0">
            <a:noFill/>
            <a:prstDash val="solid"/>
          </a:ln>
        </p:spPr>
        <p:txBody>
          <a:bodyPr/>
          <a:lstStyle/>
          <a:p>
            <a:endParaRPr lang="de-DE" dirty="0"/>
          </a:p>
        </p:txBody>
      </p:sp>
      <p:sp>
        <p:nvSpPr>
          <p:cNvPr id="9" name="Rechteck 8">
            <a:extLst>
              <a:ext uri="{FF2B5EF4-FFF2-40B4-BE49-F238E27FC236}">
                <a16:creationId xmlns:a16="http://schemas.microsoft.com/office/drawing/2014/main" id="{AD4A00DC-A573-455C-AAB0-FCFF4A533CDA}"/>
              </a:ext>
            </a:extLst>
          </p:cNvPr>
          <p:cNvSpPr>
            <a:spLocks noGrp="1"/>
          </p:cNvSpPr>
          <p:nvPr/>
        </p:nvSpPr>
        <p:spPr>
          <a:xfrm>
            <a:off x="5142693" y="2428875"/>
            <a:ext cx="1597741" cy="628650"/>
          </a:xfrm>
          <a:prstGeom prst="rect">
            <a:avLst/>
          </a:prstGeom>
          <a:noFill/>
          <a:ln w="0">
            <a:noFill/>
            <a:prstDash val="solid"/>
          </a:ln>
        </p:spPr>
        <p:txBody>
          <a:bodyPr/>
          <a:lstStyle/>
          <a:p>
            <a:pPr>
              <a:defRPr sz="2700" b="1">
                <a:solidFill>
                  <a:srgbClr val="2980B9"/>
                </a:solidFill>
              </a:defRPr>
            </a:pPr>
            <a:r>
              <a:rPr sz="3000" b="1" dirty="0">
                <a:solidFill>
                  <a:srgbClr val="2980B9"/>
                </a:solidFill>
              </a:rPr>
              <a:t>REGELN</a:t>
            </a:r>
          </a:p>
        </p:txBody>
      </p:sp>
      <p:sp>
        <p:nvSpPr>
          <p:cNvPr id="10" name="Rechteck 9">
            <a:extLst>
              <a:ext uri="{FF2B5EF4-FFF2-40B4-BE49-F238E27FC236}">
                <a16:creationId xmlns:a16="http://schemas.microsoft.com/office/drawing/2014/main" id="{3C80A332-CA23-4EBA-992D-69E74C5AD8C4}"/>
              </a:ext>
            </a:extLst>
          </p:cNvPr>
          <p:cNvSpPr>
            <a:spLocks noGrp="1"/>
          </p:cNvSpPr>
          <p:nvPr/>
        </p:nvSpPr>
        <p:spPr>
          <a:xfrm>
            <a:off x="5142693" y="3219450"/>
            <a:ext cx="2857500" cy="285750"/>
          </a:xfrm>
          <a:prstGeom prst="rect">
            <a:avLst/>
          </a:prstGeom>
          <a:noFill/>
          <a:ln w="0">
            <a:noFill/>
            <a:prstDash val="solid"/>
          </a:ln>
        </p:spPr>
        <p:txBody>
          <a:bodyPr/>
          <a:lstStyle/>
          <a:p>
            <a:pPr>
              <a:defRPr sz="1500" b="1">
                <a:solidFill>
                  <a:srgbClr val="26323B"/>
                </a:solidFill>
              </a:defRPr>
            </a:pPr>
            <a:r>
              <a:rPr sz="1500" b="1" dirty="0" err="1">
                <a:solidFill>
                  <a:srgbClr val="26323B"/>
                </a:solidFill>
              </a:rPr>
              <a:t>Evidenzbasierte</a:t>
            </a:r>
            <a:r>
              <a:rPr sz="1500" b="1" dirty="0">
                <a:solidFill>
                  <a:srgbClr val="26323B"/>
                </a:solidFill>
              </a:rPr>
              <a:t> </a:t>
            </a:r>
            <a:r>
              <a:rPr sz="1500" b="1" dirty="0" err="1">
                <a:solidFill>
                  <a:srgbClr val="26323B"/>
                </a:solidFill>
              </a:rPr>
              <a:t>Heuristiken</a:t>
            </a:r>
            <a:endParaRPr sz="1500" b="1" dirty="0">
              <a:solidFill>
                <a:srgbClr val="26323B"/>
              </a:solidFill>
            </a:endParaRPr>
          </a:p>
        </p:txBody>
      </p:sp>
      <p:sp>
        <p:nvSpPr>
          <p:cNvPr id="11" name="Rechteck 10">
            <a:extLst>
              <a:ext uri="{FF2B5EF4-FFF2-40B4-BE49-F238E27FC236}">
                <a16:creationId xmlns:a16="http://schemas.microsoft.com/office/drawing/2014/main" id="{F2F61CB3-17AA-492D-ADCF-0BB166F0AD5C}"/>
              </a:ext>
            </a:extLst>
          </p:cNvPr>
          <p:cNvSpPr>
            <a:spLocks noGrp="1"/>
          </p:cNvSpPr>
          <p:nvPr/>
        </p:nvSpPr>
        <p:spPr>
          <a:xfrm>
            <a:off x="7949484" y="2924174"/>
            <a:ext cx="1260000" cy="18000"/>
          </a:xfrm>
          <a:prstGeom prst="rect">
            <a:avLst/>
          </a:prstGeom>
          <a:solidFill>
            <a:srgbClr val="DCE2E6"/>
          </a:solidFill>
          <a:ln w="0">
            <a:noFill/>
            <a:prstDash val="solid"/>
          </a:ln>
        </p:spPr>
        <p:txBody>
          <a:bodyPr/>
          <a:lstStyle/>
          <a:p>
            <a:endParaRPr lang="de-DE" dirty="0"/>
          </a:p>
        </p:txBody>
      </p:sp>
      <p:sp>
        <p:nvSpPr>
          <p:cNvPr id="12" name="Rechteck 11">
            <a:extLst>
              <a:ext uri="{FF2B5EF4-FFF2-40B4-BE49-F238E27FC236}">
                <a16:creationId xmlns:a16="http://schemas.microsoft.com/office/drawing/2014/main" id="{319171FD-6FC9-4AC6-B48A-4E0BB6F0613A}"/>
              </a:ext>
            </a:extLst>
          </p:cNvPr>
          <p:cNvSpPr>
            <a:spLocks noGrp="1"/>
          </p:cNvSpPr>
          <p:nvPr/>
        </p:nvSpPr>
        <p:spPr>
          <a:xfrm>
            <a:off x="9980586" y="2419350"/>
            <a:ext cx="1084777" cy="628650"/>
          </a:xfrm>
          <a:prstGeom prst="rect">
            <a:avLst/>
          </a:prstGeom>
          <a:noFill/>
          <a:ln w="0">
            <a:noFill/>
            <a:prstDash val="solid"/>
          </a:ln>
        </p:spPr>
        <p:txBody>
          <a:bodyPr/>
          <a:lstStyle/>
          <a:p>
            <a:pPr>
              <a:defRPr sz="3000" b="1">
                <a:solidFill>
                  <a:srgbClr val="2980B9"/>
                </a:solidFill>
              </a:defRPr>
            </a:pPr>
            <a:r>
              <a:rPr sz="3000" b="1" dirty="0">
                <a:solidFill>
                  <a:srgbClr val="2980B9"/>
                </a:solidFill>
              </a:rPr>
              <a:t>FAZIT</a:t>
            </a:r>
          </a:p>
        </p:txBody>
      </p:sp>
      <p:sp>
        <p:nvSpPr>
          <p:cNvPr id="13" name="Rechteck 12">
            <a:extLst>
              <a:ext uri="{FF2B5EF4-FFF2-40B4-BE49-F238E27FC236}">
                <a16:creationId xmlns:a16="http://schemas.microsoft.com/office/drawing/2014/main" id="{EC9D963A-E6F9-43BA-8C81-34910A562130}"/>
              </a:ext>
            </a:extLst>
          </p:cNvPr>
          <p:cNvSpPr>
            <a:spLocks noGrp="1"/>
          </p:cNvSpPr>
          <p:nvPr/>
        </p:nvSpPr>
        <p:spPr>
          <a:xfrm>
            <a:off x="9980586" y="3201529"/>
            <a:ext cx="2095500" cy="552451"/>
          </a:xfrm>
          <a:prstGeom prst="rect">
            <a:avLst/>
          </a:prstGeom>
          <a:noFill/>
          <a:ln w="0">
            <a:noFill/>
            <a:prstDash val="solid"/>
          </a:ln>
        </p:spPr>
        <p:txBody>
          <a:bodyPr/>
          <a:lstStyle/>
          <a:p>
            <a:pPr>
              <a:defRPr sz="1350" b="1">
                <a:solidFill>
                  <a:srgbClr val="26323B"/>
                </a:solidFill>
              </a:defRPr>
            </a:pPr>
            <a:r>
              <a:rPr sz="1350" b="1" dirty="0">
                <a:solidFill>
                  <a:srgbClr val="26323B"/>
                </a:solidFill>
              </a:rPr>
              <a:t>Klare </a:t>
            </a:r>
            <a:r>
              <a:rPr sz="1350" b="1" dirty="0" err="1">
                <a:solidFill>
                  <a:srgbClr val="26323B"/>
                </a:solidFill>
              </a:rPr>
              <a:t>Handlungsempfehlung</a:t>
            </a:r>
            <a:endParaRPr sz="1350" b="1" dirty="0">
              <a:solidFill>
                <a:srgbClr val="26323B"/>
              </a:solidFill>
            </a:endParaRPr>
          </a:p>
        </p:txBody>
      </p:sp>
      <p:sp>
        <p:nvSpPr>
          <p:cNvPr id="14" name="Rechteck 13">
            <a:extLst>
              <a:ext uri="{FF2B5EF4-FFF2-40B4-BE49-F238E27FC236}">
                <a16:creationId xmlns:a16="http://schemas.microsoft.com/office/drawing/2014/main" id="{5309523A-7527-458E-AFF6-2F1807082CD2}"/>
              </a:ext>
            </a:extLst>
          </p:cNvPr>
          <p:cNvSpPr>
            <a:spLocks noGrp="1"/>
          </p:cNvSpPr>
          <p:nvPr/>
        </p:nvSpPr>
        <p:spPr>
          <a:xfrm>
            <a:off x="685800" y="4743450"/>
            <a:ext cx="9525000" cy="400050"/>
          </a:xfrm>
          <a:prstGeom prst="rect">
            <a:avLst/>
          </a:prstGeom>
          <a:noFill/>
          <a:ln w="0">
            <a:noFill/>
            <a:prstDash val="solid"/>
          </a:ln>
        </p:spPr>
        <p:txBody>
          <a:bodyPr/>
          <a:lstStyle/>
          <a:p>
            <a:pPr>
              <a:defRPr sz="1500" b="0">
                <a:solidFill>
                  <a:srgbClr val="69747D"/>
                </a:solidFill>
              </a:defRPr>
            </a:pPr>
            <a:r>
              <a:rPr sz="1500" b="0" dirty="0" err="1">
                <a:solidFill>
                  <a:srgbClr val="69747D"/>
                </a:solidFill>
              </a:rPr>
              <a:t>Warnsystem</a:t>
            </a:r>
            <a:r>
              <a:rPr sz="1500" b="0" dirty="0">
                <a:solidFill>
                  <a:srgbClr val="69747D"/>
                </a:solidFill>
              </a:rPr>
              <a:t> </a:t>
            </a:r>
            <a:r>
              <a:rPr sz="1500" b="0" dirty="0" err="1">
                <a:solidFill>
                  <a:srgbClr val="69747D"/>
                </a:solidFill>
              </a:rPr>
              <a:t>schaltet</a:t>
            </a:r>
            <a:r>
              <a:rPr sz="1500" b="0" dirty="0">
                <a:solidFill>
                  <a:srgbClr val="69747D"/>
                </a:solidFill>
              </a:rPr>
              <a:t> </a:t>
            </a:r>
            <a:r>
              <a:rPr sz="1500" b="0" dirty="0" err="1">
                <a:solidFill>
                  <a:srgbClr val="69747D"/>
                </a:solidFill>
              </a:rPr>
              <a:t>nur</a:t>
            </a:r>
            <a:r>
              <a:rPr sz="1500" b="0" dirty="0">
                <a:solidFill>
                  <a:srgbClr val="69747D"/>
                </a:solidFill>
              </a:rPr>
              <a:t> </a:t>
            </a:r>
            <a:r>
              <a:rPr sz="1500" b="0" dirty="0" err="1">
                <a:solidFill>
                  <a:srgbClr val="69747D"/>
                </a:solidFill>
              </a:rPr>
              <a:t>bei</a:t>
            </a:r>
            <a:r>
              <a:rPr sz="1500" b="0" dirty="0">
                <a:solidFill>
                  <a:srgbClr val="69747D"/>
                </a:solidFill>
              </a:rPr>
              <a:t> </a:t>
            </a:r>
            <a:r>
              <a:rPr sz="1500" b="0" dirty="0" err="1">
                <a:solidFill>
                  <a:srgbClr val="69747D"/>
                </a:solidFill>
              </a:rPr>
              <a:t>niedriger</a:t>
            </a:r>
            <a:r>
              <a:rPr sz="1500" b="0" dirty="0">
                <a:solidFill>
                  <a:srgbClr val="69747D"/>
                </a:solidFill>
              </a:rPr>
              <a:t> Confidence und Performance. BCAA-</a:t>
            </a:r>
            <a:r>
              <a:rPr sz="1500" b="0" dirty="0" err="1">
                <a:solidFill>
                  <a:srgbClr val="69747D"/>
                </a:solidFill>
              </a:rPr>
              <a:t>Sonderregel</a:t>
            </a:r>
            <a:r>
              <a:rPr sz="1500" b="0" dirty="0">
                <a:solidFill>
                  <a:srgbClr val="69747D"/>
                </a:solidFill>
              </a:rPr>
              <a:t> </a:t>
            </a:r>
            <a:r>
              <a:rPr sz="1500" b="0" dirty="0" err="1">
                <a:solidFill>
                  <a:srgbClr val="69747D"/>
                </a:solidFill>
              </a:rPr>
              <a:t>fängt</a:t>
            </a:r>
            <a:r>
              <a:rPr sz="1500" b="0" dirty="0">
                <a:solidFill>
                  <a:srgbClr val="69747D"/>
                </a:solidFill>
              </a:rPr>
              <a:t> </a:t>
            </a:r>
            <a:r>
              <a:rPr sz="1500" b="0" dirty="0" err="1">
                <a:solidFill>
                  <a:srgbClr val="69747D"/>
                </a:solidFill>
              </a:rPr>
              <a:t>Konsum</a:t>
            </a:r>
            <a:r>
              <a:rPr sz="1500" b="0" dirty="0">
                <a:solidFill>
                  <a:srgbClr val="69747D"/>
                </a:solidFill>
              </a:rPr>
              <a:t>-Bias auf.</a:t>
            </a:r>
          </a:p>
        </p:txBody>
      </p:sp>
    </p:spTree>
    <p:extLst>
      <p:ext uri="{BB962C8B-B14F-4D97-AF65-F5344CB8AC3E}">
        <p14:creationId xmlns:p14="http://schemas.microsoft.com/office/powerpoint/2010/main" val="974497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hase">
            <a:extLst>
              <a:ext uri="{FF2B5EF4-FFF2-40B4-BE49-F238E27FC236}">
                <a16:creationId xmlns:a16="http://schemas.microsoft.com/office/drawing/2014/main" id="{AC65DB7A-66D9-4298-B3BE-81D37DD77A97}"/>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C · Conclude</a:t>
            </a:r>
          </a:p>
        </p:txBody>
      </p:sp>
      <p:sp>
        <p:nvSpPr>
          <p:cNvPr id="2" name="Rechteck 1">
            <a:extLst>
              <a:ext uri="{FF2B5EF4-FFF2-40B4-BE49-F238E27FC236}">
                <a16:creationId xmlns:a16="http://schemas.microsoft.com/office/drawing/2014/main" id="{4E7113DF-4451-402E-9BE5-F4A8C3C0818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109BB5A-2206-4E52-A143-FA82267C48A5}"/>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F84FBDD5-6532-4AB2-9AA7-A3F08F7BDC8E}"/>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5</a:t>
            </a:r>
            <a:endParaRPr sz="750" b="1" dirty="0">
              <a:solidFill>
                <a:srgbClr val="69747D"/>
              </a:solidFill>
            </a:endParaRPr>
          </a:p>
        </p:txBody>
      </p:sp>
      <p:sp>
        <p:nvSpPr>
          <p:cNvPr id="5" name="slide-title">
            <a:extLst>
              <a:ext uri="{FF2B5EF4-FFF2-40B4-BE49-F238E27FC236}">
                <a16:creationId xmlns:a16="http://schemas.microsoft.com/office/drawing/2014/main" id="{46EE19A2-EC59-4106-8AC4-F1D3E174F8D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Fallbeispiel: BCAA</a:t>
            </a:r>
            <a:endParaRPr sz="2700" b="1" dirty="0">
              <a:solidFill>
                <a:srgbClr val="26323B"/>
              </a:solidFill>
            </a:endParaRPr>
          </a:p>
        </p:txBody>
      </p:sp>
      <p:sp>
        <p:nvSpPr>
          <p:cNvPr id="14" name="Rounded Rectangle 13"/>
          <p:cNvSpPr/>
          <p:nvPr/>
        </p:nvSpPr>
        <p:spPr>
          <a:xfrm>
            <a:off x="435123" y="1700784"/>
            <a:ext cx="6041690" cy="4233672"/>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rcRect/>
          <a:stretch/>
        </p:blipFill>
        <p:spPr>
          <a:xfrm>
            <a:off x="563140" y="1828800"/>
            <a:ext cx="5785656" cy="3977639"/>
          </a:xfrm>
          <a:prstGeom prst="rect">
            <a:avLst/>
          </a:prstGeom>
        </p:spPr>
      </p:pic>
      <p:sp>
        <p:nvSpPr>
          <p:cNvPr id="16" name="TextBox 15"/>
          <p:cNvSpPr txBox="1"/>
          <p:nvPr/>
        </p:nvSpPr>
        <p:spPr>
          <a:xfrm>
            <a:off x="6720840" y="1783080"/>
            <a:ext cx="4663440" cy="274320"/>
          </a:xfrm>
          <a:prstGeom prst="rect">
            <a:avLst/>
          </a:prstGeom>
          <a:noFill/>
        </p:spPr>
        <p:txBody>
          <a:bodyPr wrap="square">
            <a:spAutoFit/>
          </a:bodyPr>
          <a:lstStyle/>
          <a:p>
            <a:pPr algn="l"/>
            <a:r>
              <a:rPr sz="1125" b="1">
                <a:solidFill>
                  <a:srgbClr val="2980B9"/>
                </a:solidFill>
                <a:latin typeface="Calibri"/>
              </a:rPr>
              <a:t>EINORDNUNG</a:t>
            </a:r>
          </a:p>
        </p:txBody>
      </p:sp>
      <p:sp>
        <p:nvSpPr>
          <p:cNvPr id="17" name="TextBox 16"/>
          <p:cNvSpPr txBox="1"/>
          <p:nvPr/>
        </p:nvSpPr>
        <p:spPr>
          <a:xfrm>
            <a:off x="6720840" y="2194560"/>
            <a:ext cx="4663440" cy="1234440"/>
          </a:xfrm>
          <a:prstGeom prst="rect">
            <a:avLst/>
          </a:prstGeom>
          <a:noFill/>
        </p:spPr>
        <p:txBody>
          <a:bodyPr wrap="square">
            <a:spAutoFit/>
          </a:bodyPr>
          <a:lstStyle/>
          <a:p>
            <a:pPr algn="l"/>
            <a:r>
              <a:rPr sz="1400" b="0" dirty="0" err="1">
                <a:solidFill>
                  <a:srgbClr val="69747D"/>
                </a:solidFill>
                <a:latin typeface="Calibri"/>
              </a:rPr>
              <a:t>Kreatin</a:t>
            </a:r>
            <a:r>
              <a:rPr sz="1400" b="0" dirty="0">
                <a:solidFill>
                  <a:srgbClr val="69747D"/>
                </a:solidFill>
                <a:latin typeface="Calibri"/>
              </a:rPr>
              <a:t> </a:t>
            </a:r>
            <a:r>
              <a:rPr sz="1400" b="0" dirty="0" err="1">
                <a:solidFill>
                  <a:srgbClr val="69747D"/>
                </a:solidFill>
                <a:latin typeface="Calibri"/>
              </a:rPr>
              <a:t>erzielt</a:t>
            </a:r>
            <a:r>
              <a:rPr sz="1400" b="0" dirty="0">
                <a:solidFill>
                  <a:srgbClr val="69747D"/>
                </a:solidFill>
                <a:latin typeface="Calibri"/>
              </a:rPr>
              <a:t> die </a:t>
            </a:r>
            <a:r>
              <a:rPr sz="1400" b="0" dirty="0" err="1">
                <a:solidFill>
                  <a:srgbClr val="69747D"/>
                </a:solidFill>
                <a:latin typeface="Calibri"/>
              </a:rPr>
              <a:t>höchste</a:t>
            </a:r>
            <a:r>
              <a:rPr sz="1400" b="0" dirty="0">
                <a:solidFill>
                  <a:srgbClr val="69747D"/>
                </a:solidFill>
                <a:latin typeface="Calibri"/>
              </a:rPr>
              <a:t> </a:t>
            </a:r>
            <a:r>
              <a:rPr sz="1400" b="0" dirty="0" err="1">
                <a:solidFill>
                  <a:srgbClr val="69747D"/>
                </a:solidFill>
                <a:latin typeface="Calibri"/>
              </a:rPr>
              <a:t>mediane</a:t>
            </a:r>
            <a:r>
              <a:rPr sz="1400" b="0" dirty="0">
                <a:solidFill>
                  <a:srgbClr val="69747D"/>
                </a:solidFill>
                <a:latin typeface="Calibri"/>
              </a:rPr>
              <a:t> Performance-</a:t>
            </a:r>
            <a:r>
              <a:rPr sz="1400" b="0" dirty="0" err="1">
                <a:solidFill>
                  <a:srgbClr val="69747D"/>
                </a:solidFill>
                <a:latin typeface="Calibri"/>
              </a:rPr>
              <a:t>Verbesserung</a:t>
            </a:r>
            <a:r>
              <a:rPr sz="1400" b="0" dirty="0">
                <a:solidFill>
                  <a:srgbClr val="69747D"/>
                </a:solidFill>
                <a:latin typeface="Calibri"/>
              </a:rPr>
              <a:t> (</a:t>
            </a:r>
            <a:r>
              <a:rPr sz="1400" b="0" dirty="0" err="1">
                <a:solidFill>
                  <a:srgbClr val="69747D"/>
                </a:solidFill>
                <a:latin typeface="Calibri"/>
              </a:rPr>
              <a:t>rund</a:t>
            </a:r>
            <a:r>
              <a:rPr sz="1400" b="0" dirty="0">
                <a:solidFill>
                  <a:srgbClr val="69747D"/>
                </a:solidFill>
                <a:latin typeface="Calibri"/>
              </a:rPr>
              <a:t> 9 %), </a:t>
            </a:r>
            <a:r>
              <a:rPr sz="1400" b="0" dirty="0" err="1">
                <a:solidFill>
                  <a:srgbClr val="69747D"/>
                </a:solidFill>
                <a:latin typeface="Calibri"/>
              </a:rPr>
              <a:t>Proteinpulver</a:t>
            </a:r>
            <a:r>
              <a:rPr sz="1400" b="0" dirty="0">
                <a:solidFill>
                  <a:srgbClr val="69747D"/>
                </a:solidFill>
                <a:latin typeface="Calibri"/>
              </a:rPr>
              <a:t> </a:t>
            </a:r>
            <a:r>
              <a:rPr sz="1400" b="0" dirty="0" err="1">
                <a:solidFill>
                  <a:srgbClr val="69747D"/>
                </a:solidFill>
                <a:latin typeface="Calibri"/>
              </a:rPr>
              <a:t>liegt</a:t>
            </a:r>
            <a:r>
              <a:rPr sz="1400" b="0" dirty="0">
                <a:solidFill>
                  <a:srgbClr val="69747D"/>
                </a:solidFill>
                <a:latin typeface="Calibri"/>
              </a:rPr>
              <a:t> </a:t>
            </a:r>
            <a:r>
              <a:rPr sz="1400" b="0" dirty="0" err="1">
                <a:solidFill>
                  <a:srgbClr val="69747D"/>
                </a:solidFill>
                <a:latin typeface="Calibri"/>
              </a:rPr>
              <a:t>im</a:t>
            </a:r>
            <a:r>
              <a:rPr sz="1400" b="0" dirty="0">
                <a:solidFill>
                  <a:srgbClr val="69747D"/>
                </a:solidFill>
                <a:latin typeface="Calibri"/>
              </a:rPr>
              <a:t> </a:t>
            </a:r>
            <a:r>
              <a:rPr sz="1400" b="0" dirty="0" err="1">
                <a:solidFill>
                  <a:srgbClr val="69747D"/>
                </a:solidFill>
                <a:latin typeface="Calibri"/>
              </a:rPr>
              <a:t>Mittelfeld</a:t>
            </a:r>
            <a:r>
              <a:rPr sz="1400" b="0" dirty="0">
                <a:solidFill>
                  <a:srgbClr val="69747D"/>
                </a:solidFill>
                <a:latin typeface="Calibri"/>
              </a:rPr>
              <a:t> (</a:t>
            </a:r>
            <a:r>
              <a:rPr sz="1400" b="0" dirty="0" err="1">
                <a:solidFill>
                  <a:srgbClr val="69747D"/>
                </a:solidFill>
                <a:latin typeface="Calibri"/>
              </a:rPr>
              <a:t>rund</a:t>
            </a:r>
            <a:r>
              <a:rPr sz="1400" b="0" dirty="0">
                <a:solidFill>
                  <a:srgbClr val="69747D"/>
                </a:solidFill>
                <a:latin typeface="Calibri"/>
              </a:rPr>
              <a:t> 5 %).</a:t>
            </a:r>
          </a:p>
          <a:p>
            <a:r>
              <a:rPr sz="1400" b="0" dirty="0">
                <a:solidFill>
                  <a:srgbClr val="69747D"/>
                </a:solidFill>
                <a:latin typeface="Calibri"/>
              </a:rPr>
              <a:t>BCAA </a:t>
            </a:r>
            <a:r>
              <a:rPr sz="1400" b="0" dirty="0" err="1">
                <a:solidFill>
                  <a:srgbClr val="69747D"/>
                </a:solidFill>
                <a:latin typeface="Calibri"/>
              </a:rPr>
              <a:t>bleibt</a:t>
            </a:r>
            <a:r>
              <a:rPr sz="1400" b="0" dirty="0">
                <a:solidFill>
                  <a:srgbClr val="69747D"/>
                </a:solidFill>
                <a:latin typeface="Calibri"/>
              </a:rPr>
              <a:t> </a:t>
            </a:r>
            <a:r>
              <a:rPr sz="1400" b="0" dirty="0" err="1">
                <a:solidFill>
                  <a:srgbClr val="69747D"/>
                </a:solidFill>
                <a:latin typeface="Calibri"/>
              </a:rPr>
              <a:t>trotz</a:t>
            </a:r>
            <a:r>
              <a:rPr sz="1400" b="0" dirty="0">
                <a:solidFill>
                  <a:srgbClr val="69747D"/>
                </a:solidFill>
                <a:latin typeface="Calibri"/>
              </a:rPr>
              <a:t> </a:t>
            </a:r>
            <a:r>
              <a:rPr sz="1400" b="0" dirty="0" err="1">
                <a:solidFill>
                  <a:srgbClr val="69747D"/>
                </a:solidFill>
                <a:latin typeface="Calibri"/>
              </a:rPr>
              <a:t>hoher</a:t>
            </a:r>
            <a:r>
              <a:rPr sz="1400" b="0" dirty="0">
                <a:solidFill>
                  <a:srgbClr val="69747D"/>
                </a:solidFill>
                <a:latin typeface="Calibri"/>
              </a:rPr>
              <a:t> </a:t>
            </a:r>
            <a:r>
              <a:rPr sz="1400" b="0" dirty="0" err="1">
                <a:solidFill>
                  <a:srgbClr val="69747D"/>
                </a:solidFill>
                <a:latin typeface="Calibri"/>
              </a:rPr>
              <a:t>Beliebtheit</a:t>
            </a:r>
            <a:r>
              <a:rPr sz="1400" b="0" dirty="0">
                <a:solidFill>
                  <a:srgbClr val="69747D"/>
                </a:solidFill>
                <a:latin typeface="Calibri"/>
              </a:rPr>
              <a:t> </a:t>
            </a:r>
            <a:r>
              <a:rPr sz="1400" b="0" dirty="0" err="1">
                <a:solidFill>
                  <a:srgbClr val="69747D"/>
                </a:solidFill>
                <a:latin typeface="Calibri"/>
              </a:rPr>
              <a:t>im</a:t>
            </a:r>
            <a:r>
              <a:rPr sz="1400" b="0" dirty="0">
                <a:solidFill>
                  <a:srgbClr val="69747D"/>
                </a:solidFill>
                <a:latin typeface="Calibri"/>
              </a:rPr>
              <a:t> </a:t>
            </a:r>
            <a:r>
              <a:rPr sz="1400" b="0" dirty="0" err="1">
                <a:solidFill>
                  <a:srgbClr val="69747D"/>
                </a:solidFill>
                <a:latin typeface="Calibri"/>
              </a:rPr>
              <a:t>Datensatz</a:t>
            </a:r>
            <a:r>
              <a:rPr sz="1400" b="0" dirty="0">
                <a:solidFill>
                  <a:srgbClr val="69747D"/>
                </a:solidFill>
                <a:latin typeface="Calibri"/>
              </a:rPr>
              <a:t> </a:t>
            </a:r>
            <a:r>
              <a:rPr sz="1400" b="0" dirty="0" err="1">
                <a:solidFill>
                  <a:srgbClr val="69747D"/>
                </a:solidFill>
                <a:latin typeface="Calibri"/>
              </a:rPr>
              <a:t>spürbar</a:t>
            </a:r>
            <a:r>
              <a:rPr sz="1400" b="0" dirty="0">
                <a:solidFill>
                  <a:srgbClr val="69747D"/>
                </a:solidFill>
                <a:latin typeface="Calibri"/>
              </a:rPr>
              <a:t> </a:t>
            </a:r>
            <a:r>
              <a:rPr sz="1400" b="0" dirty="0" err="1">
                <a:solidFill>
                  <a:srgbClr val="69747D"/>
                </a:solidFill>
                <a:latin typeface="Calibri"/>
              </a:rPr>
              <a:t>dahinter</a:t>
            </a:r>
            <a:r>
              <a:rPr sz="1400" b="0" dirty="0">
                <a:solidFill>
                  <a:srgbClr val="69747D"/>
                </a:solidFill>
                <a:latin typeface="Calibri"/>
              </a:rPr>
              <a:t> </a:t>
            </a:r>
            <a:r>
              <a:rPr sz="1400" b="0" dirty="0" err="1">
                <a:solidFill>
                  <a:srgbClr val="69747D"/>
                </a:solidFill>
                <a:latin typeface="Calibri"/>
              </a:rPr>
              <a:t>zurück</a:t>
            </a:r>
            <a:r>
              <a:rPr sz="1400" b="0" dirty="0">
                <a:solidFill>
                  <a:srgbClr val="69747D"/>
                </a:solidFill>
                <a:latin typeface="Calibri"/>
              </a:rPr>
              <a:t> (</a:t>
            </a:r>
            <a:r>
              <a:rPr sz="1400" b="0" dirty="0" err="1">
                <a:solidFill>
                  <a:srgbClr val="69747D"/>
                </a:solidFill>
                <a:latin typeface="Calibri"/>
              </a:rPr>
              <a:t>rund</a:t>
            </a:r>
            <a:r>
              <a:rPr sz="1400" b="0" dirty="0">
                <a:solidFill>
                  <a:srgbClr val="69747D"/>
                </a:solidFill>
                <a:latin typeface="Calibri"/>
              </a:rPr>
              <a:t> 4 %).</a:t>
            </a:r>
          </a:p>
          <a:p>
            <a:r>
              <a:rPr sz="1400" b="0" dirty="0" err="1">
                <a:solidFill>
                  <a:srgbClr val="69747D"/>
                </a:solidFill>
                <a:latin typeface="Calibri"/>
              </a:rPr>
              <a:t>Genau</a:t>
            </a:r>
            <a:r>
              <a:rPr sz="1400" b="0" dirty="0">
                <a:solidFill>
                  <a:srgbClr val="69747D"/>
                </a:solidFill>
                <a:latin typeface="Calibri"/>
              </a:rPr>
              <a:t> dieses Muster </a:t>
            </a:r>
            <a:r>
              <a:rPr sz="1400" b="0" dirty="0" err="1">
                <a:solidFill>
                  <a:srgbClr val="69747D"/>
                </a:solidFill>
                <a:latin typeface="Calibri"/>
              </a:rPr>
              <a:t>fängt</a:t>
            </a:r>
            <a:r>
              <a:rPr sz="1400" b="0" dirty="0">
                <a:solidFill>
                  <a:srgbClr val="69747D"/>
                </a:solidFill>
                <a:latin typeface="Calibri"/>
              </a:rPr>
              <a:t> </a:t>
            </a:r>
            <a:r>
              <a:rPr sz="1400" b="0" dirty="0" err="1">
                <a:solidFill>
                  <a:srgbClr val="69747D"/>
                </a:solidFill>
                <a:latin typeface="Calibri"/>
              </a:rPr>
              <a:t>SmartSupp</a:t>
            </a:r>
            <a:r>
              <a:rPr sz="1400" b="0" dirty="0">
                <a:solidFill>
                  <a:srgbClr val="69747D"/>
                </a:solidFill>
                <a:latin typeface="Calibri"/>
              </a:rPr>
              <a:t> </a:t>
            </a:r>
            <a:r>
              <a:rPr sz="1400" b="0" dirty="0" err="1">
                <a:solidFill>
                  <a:srgbClr val="69747D"/>
                </a:solidFill>
                <a:latin typeface="Calibri"/>
              </a:rPr>
              <a:t>direkt</a:t>
            </a:r>
            <a:r>
              <a:rPr sz="1400" b="0" dirty="0">
                <a:solidFill>
                  <a:srgbClr val="69747D"/>
                </a:solidFill>
                <a:latin typeface="Calibri"/>
              </a:rPr>
              <a:t> </a:t>
            </a:r>
            <a:r>
              <a:rPr sz="1400" b="0" dirty="0" err="1">
                <a:solidFill>
                  <a:srgbClr val="69747D"/>
                </a:solidFill>
                <a:latin typeface="Calibri"/>
              </a:rPr>
              <a:t>im</a:t>
            </a:r>
            <a:r>
              <a:rPr sz="1400" b="0" dirty="0">
                <a:solidFill>
                  <a:srgbClr val="69747D"/>
                </a:solidFill>
                <a:latin typeface="Calibri"/>
              </a:rPr>
              <a:t> Geld-Spar-</a:t>
            </a:r>
            <a:r>
              <a:rPr sz="1400" b="0" dirty="0" err="1">
                <a:solidFill>
                  <a:srgbClr val="69747D"/>
                </a:solidFill>
                <a:latin typeface="Calibri"/>
              </a:rPr>
              <a:t>Warnsystem</a:t>
            </a:r>
            <a:r>
              <a:rPr sz="1400" b="0" dirty="0">
                <a:solidFill>
                  <a:srgbClr val="69747D"/>
                </a:solidFill>
                <a:latin typeface="Calibri"/>
              </a:rPr>
              <a:t> auf:</a:t>
            </a:r>
          </a:p>
        </p:txBody>
      </p:sp>
      <p:sp>
        <p:nvSpPr>
          <p:cNvPr id="6" name="Rounded Rectangle 16">
            <a:extLst>
              <a:ext uri="{FF2B5EF4-FFF2-40B4-BE49-F238E27FC236}">
                <a16:creationId xmlns:a16="http://schemas.microsoft.com/office/drawing/2014/main" id="{8F980A0F-06B4-2CC6-1DA9-EE89B547F959}"/>
              </a:ext>
            </a:extLst>
          </p:cNvPr>
          <p:cNvSpPr/>
          <p:nvPr/>
        </p:nvSpPr>
        <p:spPr>
          <a:xfrm>
            <a:off x="6606703" y="3845132"/>
            <a:ext cx="5425776" cy="2144489"/>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Grafik 7">
            <a:extLst>
              <a:ext uri="{FF2B5EF4-FFF2-40B4-BE49-F238E27FC236}">
                <a16:creationId xmlns:a16="http://schemas.microsoft.com/office/drawing/2014/main" id="{37ABFFE5-80B2-2DC6-5D3B-3962D1C85AFA}"/>
              </a:ext>
            </a:extLst>
          </p:cNvPr>
          <p:cNvPicPr>
            <a:picLocks noChangeAspect="1"/>
          </p:cNvPicPr>
          <p:nvPr/>
        </p:nvPicPr>
        <p:blipFill>
          <a:blip r:embed="rId4"/>
          <a:stretch>
            <a:fillRect/>
          </a:stretch>
        </p:blipFill>
        <p:spPr>
          <a:xfrm>
            <a:off x="6666551" y="3908391"/>
            <a:ext cx="5300995" cy="2026065"/>
          </a:xfrm>
          <a:prstGeom prst="rect">
            <a:avLst/>
          </a:prstGeom>
        </p:spPr>
      </p:pic>
    </p:spTree>
    <p:extLst>
      <p:ext uri="{BB962C8B-B14F-4D97-AF65-F5344CB8AC3E}">
        <p14:creationId xmlns:p14="http://schemas.microsoft.com/office/powerpoint/2010/main" val="1979814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hase">
            <a:extLst>
              <a:ext uri="{FF2B5EF4-FFF2-40B4-BE49-F238E27FC236}">
                <a16:creationId xmlns:a16="http://schemas.microsoft.com/office/drawing/2014/main" id="{B12B2248-9D33-4B29-91E2-F878ABCBA248}"/>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C · Conclude</a:t>
            </a:r>
          </a:p>
        </p:txBody>
      </p:sp>
      <p:sp>
        <p:nvSpPr>
          <p:cNvPr id="2" name="Rechteck 1">
            <a:extLst>
              <a:ext uri="{FF2B5EF4-FFF2-40B4-BE49-F238E27FC236}">
                <a16:creationId xmlns:a16="http://schemas.microsoft.com/office/drawing/2014/main" id="{A2E8B3C1-CD3E-4136-A8F7-6EBD0874F5A2}"/>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00195A1D-C3F2-41AE-95F2-F4F3AC34420D}"/>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436849F2-1C55-4B7F-A8FF-DDD2E57969E7}"/>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6</a:t>
            </a:r>
            <a:endParaRPr sz="750" b="1" dirty="0">
              <a:solidFill>
                <a:srgbClr val="69747D"/>
              </a:solidFill>
            </a:endParaRPr>
          </a:p>
        </p:txBody>
      </p:sp>
      <p:sp>
        <p:nvSpPr>
          <p:cNvPr id="5" name="slide-title">
            <a:extLst>
              <a:ext uri="{FF2B5EF4-FFF2-40B4-BE49-F238E27FC236}">
                <a16:creationId xmlns:a16="http://schemas.microsoft.com/office/drawing/2014/main" id="{0FC7311D-2020-4536-9B92-701E1240C064}"/>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Dosierungs- und Timing-Regeln</a:t>
            </a:r>
            <a:endParaRPr sz="2700" b="1" dirty="0">
              <a:solidFill>
                <a:srgbClr val="26323B"/>
              </a:solidFill>
            </a:endParaRPr>
          </a:p>
        </p:txBody>
      </p:sp>
      <p:sp>
        <p:nvSpPr>
          <p:cNvPr id="6" name="Rechteck 5">
            <a:extLst>
              <a:ext uri="{FF2B5EF4-FFF2-40B4-BE49-F238E27FC236}">
                <a16:creationId xmlns:a16="http://schemas.microsoft.com/office/drawing/2014/main" id="{5BA104DE-D27F-4EF8-AF26-3CF4753686B0}"/>
              </a:ext>
            </a:extLst>
          </p:cNvPr>
          <p:cNvSpPr>
            <a:spLocks noGrp="1"/>
          </p:cNvSpPr>
          <p:nvPr/>
        </p:nvSpPr>
        <p:spPr>
          <a:xfrm>
            <a:off x="685800" y="2477315"/>
            <a:ext cx="2476500" cy="400050"/>
          </a:xfrm>
          <a:prstGeom prst="rect">
            <a:avLst/>
          </a:prstGeom>
          <a:noFill/>
          <a:ln w="0">
            <a:noFill/>
            <a:prstDash val="solid"/>
          </a:ln>
        </p:spPr>
        <p:txBody>
          <a:bodyPr/>
          <a:lstStyle/>
          <a:p>
            <a:pPr>
              <a:defRPr sz="2250" b="1">
                <a:solidFill>
                  <a:srgbClr val="2980B9"/>
                </a:solidFill>
              </a:defRPr>
            </a:pPr>
            <a:r>
              <a:rPr sz="2250" b="1" dirty="0">
                <a:solidFill>
                  <a:srgbClr val="2980B9"/>
                </a:solidFill>
              </a:rPr>
              <a:t>1,6–2,2 g/kg</a:t>
            </a:r>
          </a:p>
        </p:txBody>
      </p:sp>
      <p:sp>
        <p:nvSpPr>
          <p:cNvPr id="7" name="Rechteck 6">
            <a:extLst>
              <a:ext uri="{FF2B5EF4-FFF2-40B4-BE49-F238E27FC236}">
                <a16:creationId xmlns:a16="http://schemas.microsoft.com/office/drawing/2014/main" id="{B764DE5B-5D25-454C-9CDA-9DBC091CB738}"/>
              </a:ext>
            </a:extLst>
          </p:cNvPr>
          <p:cNvSpPr>
            <a:spLocks noGrp="1"/>
          </p:cNvSpPr>
          <p:nvPr/>
        </p:nvSpPr>
        <p:spPr>
          <a:xfrm>
            <a:off x="3733800" y="2496365"/>
            <a:ext cx="2476500" cy="285750"/>
          </a:xfrm>
          <a:prstGeom prst="rect">
            <a:avLst/>
          </a:prstGeom>
          <a:noFill/>
          <a:ln w="0">
            <a:noFill/>
            <a:prstDash val="solid"/>
          </a:ln>
        </p:spPr>
        <p:txBody>
          <a:bodyPr/>
          <a:lstStyle/>
          <a:p>
            <a:pPr>
              <a:defRPr sz="1575" b="1">
                <a:solidFill>
                  <a:srgbClr val="26323B"/>
                </a:solidFill>
              </a:defRPr>
            </a:pPr>
            <a:r>
              <a:rPr sz="1575" b="1" dirty="0">
                <a:solidFill>
                  <a:srgbClr val="26323B"/>
                </a:solidFill>
              </a:rPr>
              <a:t>Protein-Ziel</a:t>
            </a:r>
          </a:p>
        </p:txBody>
      </p:sp>
      <p:sp>
        <p:nvSpPr>
          <p:cNvPr id="8" name="Rechteck 7">
            <a:extLst>
              <a:ext uri="{FF2B5EF4-FFF2-40B4-BE49-F238E27FC236}">
                <a16:creationId xmlns:a16="http://schemas.microsoft.com/office/drawing/2014/main" id="{ADEE5DE3-0B1B-4DF9-A01B-93B4C44C252F}"/>
              </a:ext>
            </a:extLst>
          </p:cNvPr>
          <p:cNvSpPr>
            <a:spLocks noGrp="1"/>
          </p:cNvSpPr>
          <p:nvPr/>
        </p:nvSpPr>
        <p:spPr>
          <a:xfrm>
            <a:off x="6477000" y="2496365"/>
            <a:ext cx="4572000" cy="361950"/>
          </a:xfrm>
          <a:prstGeom prst="rect">
            <a:avLst/>
          </a:prstGeom>
          <a:noFill/>
          <a:ln w="0">
            <a:noFill/>
            <a:prstDash val="solid"/>
          </a:ln>
        </p:spPr>
        <p:txBody>
          <a:bodyPr/>
          <a:lstStyle/>
          <a:p>
            <a:pPr>
              <a:defRPr sz="1350" b="0">
                <a:solidFill>
                  <a:srgbClr val="69747D"/>
                </a:solidFill>
              </a:defRPr>
            </a:pPr>
            <a:r>
              <a:rPr sz="1350" b="0" dirty="0" err="1">
                <a:solidFill>
                  <a:srgbClr val="69747D"/>
                </a:solidFill>
              </a:rPr>
              <a:t>dynamische</a:t>
            </a:r>
            <a:r>
              <a:rPr sz="1350" b="0" dirty="0">
                <a:solidFill>
                  <a:srgbClr val="69747D"/>
                </a:solidFill>
              </a:rPr>
              <a:t> </a:t>
            </a:r>
            <a:r>
              <a:rPr sz="1350" b="0" dirty="0" err="1">
                <a:solidFill>
                  <a:srgbClr val="69747D"/>
                </a:solidFill>
              </a:rPr>
              <a:t>Kalkulation</a:t>
            </a:r>
            <a:r>
              <a:rPr sz="1350" b="0" dirty="0">
                <a:solidFill>
                  <a:srgbClr val="69747D"/>
                </a:solidFill>
              </a:rPr>
              <a:t> pro </a:t>
            </a:r>
            <a:r>
              <a:rPr sz="1350" b="0" dirty="0" err="1">
                <a:solidFill>
                  <a:srgbClr val="69747D"/>
                </a:solidFill>
              </a:rPr>
              <a:t>Kilogramm</a:t>
            </a:r>
            <a:r>
              <a:rPr sz="1350" b="0" dirty="0">
                <a:solidFill>
                  <a:srgbClr val="69747D"/>
                </a:solidFill>
              </a:rPr>
              <a:t> </a:t>
            </a:r>
            <a:r>
              <a:rPr sz="1350" b="0" dirty="0" err="1">
                <a:solidFill>
                  <a:srgbClr val="69747D"/>
                </a:solidFill>
              </a:rPr>
              <a:t>Körpergewicht</a:t>
            </a:r>
            <a:endParaRPr sz="1350" b="0" dirty="0">
              <a:solidFill>
                <a:srgbClr val="69747D"/>
              </a:solidFill>
            </a:endParaRPr>
          </a:p>
        </p:txBody>
      </p:sp>
      <p:sp>
        <p:nvSpPr>
          <p:cNvPr id="9" name="Rechteck 8">
            <a:extLst>
              <a:ext uri="{FF2B5EF4-FFF2-40B4-BE49-F238E27FC236}">
                <a16:creationId xmlns:a16="http://schemas.microsoft.com/office/drawing/2014/main" id="{D0755D8F-A54E-4280-96E2-F11BE571C328}"/>
              </a:ext>
            </a:extLst>
          </p:cNvPr>
          <p:cNvSpPr>
            <a:spLocks noGrp="1"/>
          </p:cNvSpPr>
          <p:nvPr/>
        </p:nvSpPr>
        <p:spPr>
          <a:xfrm>
            <a:off x="685800" y="3115489"/>
            <a:ext cx="10363200" cy="18000"/>
          </a:xfrm>
          <a:prstGeom prst="rect">
            <a:avLst/>
          </a:prstGeom>
          <a:solidFill>
            <a:srgbClr val="DCE2E6"/>
          </a:solidFill>
          <a:ln w="0">
            <a:noFill/>
            <a:prstDash val="solid"/>
          </a:ln>
        </p:spPr>
        <p:txBody>
          <a:bodyPr/>
          <a:lstStyle/>
          <a:p>
            <a:endParaRPr lang="de-DE" dirty="0"/>
          </a:p>
        </p:txBody>
      </p:sp>
      <p:sp>
        <p:nvSpPr>
          <p:cNvPr id="10" name="Rechteck 9">
            <a:extLst>
              <a:ext uri="{FF2B5EF4-FFF2-40B4-BE49-F238E27FC236}">
                <a16:creationId xmlns:a16="http://schemas.microsoft.com/office/drawing/2014/main" id="{395830D1-BA5F-4A62-A33B-47EAC3775575}"/>
              </a:ext>
            </a:extLst>
          </p:cNvPr>
          <p:cNvSpPr>
            <a:spLocks noGrp="1"/>
          </p:cNvSpPr>
          <p:nvPr/>
        </p:nvSpPr>
        <p:spPr>
          <a:xfrm>
            <a:off x="685800" y="3382190"/>
            <a:ext cx="2476500" cy="400050"/>
          </a:xfrm>
          <a:prstGeom prst="rect">
            <a:avLst/>
          </a:prstGeom>
          <a:noFill/>
          <a:ln w="0">
            <a:noFill/>
            <a:prstDash val="solid"/>
          </a:ln>
        </p:spPr>
        <p:txBody>
          <a:bodyPr/>
          <a:lstStyle/>
          <a:p>
            <a:pPr>
              <a:defRPr sz="2250" b="1">
                <a:solidFill>
                  <a:srgbClr val="2980B9"/>
                </a:solidFill>
              </a:defRPr>
            </a:pPr>
            <a:r>
              <a:rPr sz="2250" b="1" dirty="0">
                <a:solidFill>
                  <a:srgbClr val="2980B9"/>
                </a:solidFill>
              </a:rPr>
              <a:t>3–5 g</a:t>
            </a:r>
          </a:p>
        </p:txBody>
      </p:sp>
      <p:sp>
        <p:nvSpPr>
          <p:cNvPr id="11" name="Rechteck 10">
            <a:extLst>
              <a:ext uri="{FF2B5EF4-FFF2-40B4-BE49-F238E27FC236}">
                <a16:creationId xmlns:a16="http://schemas.microsoft.com/office/drawing/2014/main" id="{C11716AF-5898-42B2-A817-69A6304F93C2}"/>
              </a:ext>
            </a:extLst>
          </p:cNvPr>
          <p:cNvSpPr>
            <a:spLocks noGrp="1"/>
          </p:cNvSpPr>
          <p:nvPr/>
        </p:nvSpPr>
        <p:spPr>
          <a:xfrm>
            <a:off x="3733800" y="3401240"/>
            <a:ext cx="2476500" cy="285750"/>
          </a:xfrm>
          <a:prstGeom prst="rect">
            <a:avLst/>
          </a:prstGeom>
          <a:noFill/>
          <a:ln w="0">
            <a:noFill/>
            <a:prstDash val="solid"/>
          </a:ln>
        </p:spPr>
        <p:txBody>
          <a:bodyPr/>
          <a:lstStyle/>
          <a:p>
            <a:pPr>
              <a:defRPr sz="1575" b="1">
                <a:solidFill>
                  <a:srgbClr val="26323B"/>
                </a:solidFill>
              </a:defRPr>
            </a:pPr>
            <a:r>
              <a:rPr sz="1575" b="1" dirty="0" err="1">
                <a:solidFill>
                  <a:srgbClr val="26323B"/>
                </a:solidFill>
              </a:rPr>
              <a:t>Kreatin-Validierung</a:t>
            </a:r>
            <a:endParaRPr sz="1575" b="1" dirty="0">
              <a:solidFill>
                <a:srgbClr val="26323B"/>
              </a:solidFill>
            </a:endParaRPr>
          </a:p>
        </p:txBody>
      </p:sp>
      <p:sp>
        <p:nvSpPr>
          <p:cNvPr id="12" name="Rechteck 11">
            <a:extLst>
              <a:ext uri="{FF2B5EF4-FFF2-40B4-BE49-F238E27FC236}">
                <a16:creationId xmlns:a16="http://schemas.microsoft.com/office/drawing/2014/main" id="{C02BC27E-EFE1-4BF9-8D2F-7EBA60421749}"/>
              </a:ext>
            </a:extLst>
          </p:cNvPr>
          <p:cNvSpPr>
            <a:spLocks noGrp="1"/>
          </p:cNvSpPr>
          <p:nvPr/>
        </p:nvSpPr>
        <p:spPr>
          <a:xfrm>
            <a:off x="6477000" y="3401240"/>
            <a:ext cx="4572000" cy="361950"/>
          </a:xfrm>
          <a:prstGeom prst="rect">
            <a:avLst/>
          </a:prstGeom>
          <a:noFill/>
          <a:ln w="0">
            <a:noFill/>
            <a:prstDash val="solid"/>
          </a:ln>
        </p:spPr>
        <p:txBody>
          <a:bodyPr/>
          <a:lstStyle/>
          <a:p>
            <a:pPr>
              <a:defRPr sz="1350" b="0">
                <a:solidFill>
                  <a:srgbClr val="69747D"/>
                </a:solidFill>
              </a:defRPr>
            </a:pPr>
            <a:r>
              <a:rPr sz="1350" b="0" dirty="0" err="1">
                <a:solidFill>
                  <a:srgbClr val="69747D"/>
                </a:solidFill>
              </a:rPr>
              <a:t>Überwachung</a:t>
            </a:r>
            <a:r>
              <a:rPr sz="1350" b="0" dirty="0">
                <a:solidFill>
                  <a:srgbClr val="69747D"/>
                </a:solidFill>
              </a:rPr>
              <a:t> der </a:t>
            </a:r>
            <a:r>
              <a:rPr sz="1350" b="0" dirty="0" err="1">
                <a:solidFill>
                  <a:srgbClr val="69747D"/>
                </a:solidFill>
              </a:rPr>
              <a:t>Konsumrange</a:t>
            </a:r>
            <a:r>
              <a:rPr sz="1350" b="0" dirty="0">
                <a:solidFill>
                  <a:srgbClr val="69747D"/>
                </a:solidFill>
              </a:rPr>
              <a:t> </a:t>
            </a:r>
            <a:r>
              <a:rPr sz="1350" b="0" dirty="0" err="1">
                <a:solidFill>
                  <a:srgbClr val="69747D"/>
                </a:solidFill>
              </a:rPr>
              <a:t>aus</a:t>
            </a:r>
            <a:r>
              <a:rPr sz="1350" b="0" dirty="0">
                <a:solidFill>
                  <a:srgbClr val="69747D"/>
                </a:solidFill>
              </a:rPr>
              <a:t> der </a:t>
            </a:r>
            <a:r>
              <a:rPr sz="1350" b="0" dirty="0" err="1">
                <a:solidFill>
                  <a:srgbClr val="69747D"/>
                </a:solidFill>
              </a:rPr>
              <a:t>Nutzereingabe</a:t>
            </a:r>
            <a:endParaRPr sz="1350" b="0" dirty="0">
              <a:solidFill>
                <a:srgbClr val="69747D"/>
              </a:solidFill>
            </a:endParaRPr>
          </a:p>
        </p:txBody>
      </p:sp>
      <p:sp>
        <p:nvSpPr>
          <p:cNvPr id="13" name="Rechteck 12">
            <a:extLst>
              <a:ext uri="{FF2B5EF4-FFF2-40B4-BE49-F238E27FC236}">
                <a16:creationId xmlns:a16="http://schemas.microsoft.com/office/drawing/2014/main" id="{7229FEDC-5FD5-4AEB-83CF-10A34FC0E72B}"/>
              </a:ext>
            </a:extLst>
          </p:cNvPr>
          <p:cNvSpPr>
            <a:spLocks noGrp="1"/>
          </p:cNvSpPr>
          <p:nvPr/>
        </p:nvSpPr>
        <p:spPr>
          <a:xfrm>
            <a:off x="685800" y="4020364"/>
            <a:ext cx="10363200" cy="18000"/>
          </a:xfrm>
          <a:prstGeom prst="rect">
            <a:avLst/>
          </a:prstGeom>
          <a:solidFill>
            <a:srgbClr val="DCE2E6"/>
          </a:solidFill>
          <a:ln w="0">
            <a:noFill/>
            <a:prstDash val="solid"/>
          </a:ln>
        </p:spPr>
        <p:txBody>
          <a:bodyPr/>
          <a:lstStyle/>
          <a:p>
            <a:endParaRPr lang="de-DE" dirty="0"/>
          </a:p>
        </p:txBody>
      </p:sp>
      <p:sp>
        <p:nvSpPr>
          <p:cNvPr id="14" name="Rechteck 13">
            <a:extLst>
              <a:ext uri="{FF2B5EF4-FFF2-40B4-BE49-F238E27FC236}">
                <a16:creationId xmlns:a16="http://schemas.microsoft.com/office/drawing/2014/main" id="{58738EB2-375B-46A8-905A-B2E5AE0EF419}"/>
              </a:ext>
            </a:extLst>
          </p:cNvPr>
          <p:cNvSpPr>
            <a:spLocks noGrp="1"/>
          </p:cNvSpPr>
          <p:nvPr/>
        </p:nvSpPr>
        <p:spPr>
          <a:xfrm>
            <a:off x="685800" y="4287065"/>
            <a:ext cx="2476500" cy="400050"/>
          </a:xfrm>
          <a:prstGeom prst="rect">
            <a:avLst/>
          </a:prstGeom>
          <a:noFill/>
          <a:ln w="0">
            <a:noFill/>
            <a:prstDash val="solid"/>
          </a:ln>
        </p:spPr>
        <p:txBody>
          <a:bodyPr/>
          <a:lstStyle/>
          <a:p>
            <a:pPr>
              <a:defRPr sz="2250" b="1">
                <a:solidFill>
                  <a:srgbClr val="2980B9"/>
                </a:solidFill>
              </a:defRPr>
            </a:pPr>
            <a:r>
              <a:rPr sz="2250" b="1" dirty="0" err="1">
                <a:solidFill>
                  <a:srgbClr val="2980B9"/>
                </a:solidFill>
              </a:rPr>
              <a:t>Schlaf</a:t>
            </a:r>
            <a:r>
              <a:rPr sz="2250" b="1" dirty="0">
                <a:solidFill>
                  <a:srgbClr val="2980B9"/>
                </a:solidFill>
              </a:rPr>
              <a:t> + </a:t>
            </a:r>
            <a:r>
              <a:rPr sz="2250" b="1" dirty="0" err="1">
                <a:solidFill>
                  <a:srgbClr val="2980B9"/>
                </a:solidFill>
              </a:rPr>
              <a:t>Muskelkater</a:t>
            </a:r>
            <a:endParaRPr sz="2250" b="1" dirty="0">
              <a:solidFill>
                <a:srgbClr val="2980B9"/>
              </a:solidFill>
            </a:endParaRPr>
          </a:p>
        </p:txBody>
      </p:sp>
      <p:sp>
        <p:nvSpPr>
          <p:cNvPr id="15" name="Rechteck 14">
            <a:extLst>
              <a:ext uri="{FF2B5EF4-FFF2-40B4-BE49-F238E27FC236}">
                <a16:creationId xmlns:a16="http://schemas.microsoft.com/office/drawing/2014/main" id="{77CFC188-165A-4564-931F-B394386FECDC}"/>
              </a:ext>
            </a:extLst>
          </p:cNvPr>
          <p:cNvSpPr>
            <a:spLocks noGrp="1"/>
          </p:cNvSpPr>
          <p:nvPr/>
        </p:nvSpPr>
        <p:spPr>
          <a:xfrm>
            <a:off x="3733800" y="4306115"/>
            <a:ext cx="2476500" cy="285750"/>
          </a:xfrm>
          <a:prstGeom prst="rect">
            <a:avLst/>
          </a:prstGeom>
          <a:noFill/>
          <a:ln w="0">
            <a:noFill/>
            <a:prstDash val="solid"/>
          </a:ln>
        </p:spPr>
        <p:txBody>
          <a:bodyPr/>
          <a:lstStyle/>
          <a:p>
            <a:pPr>
              <a:defRPr sz="1575" b="1">
                <a:solidFill>
                  <a:srgbClr val="26323B"/>
                </a:solidFill>
              </a:defRPr>
            </a:pPr>
            <a:r>
              <a:rPr sz="1575" b="1" dirty="0" err="1">
                <a:solidFill>
                  <a:srgbClr val="26323B"/>
                </a:solidFill>
              </a:rPr>
              <a:t>Ermüdungs-Heuristik</a:t>
            </a:r>
            <a:endParaRPr sz="1575" b="1" dirty="0">
              <a:solidFill>
                <a:srgbClr val="26323B"/>
              </a:solidFill>
            </a:endParaRPr>
          </a:p>
        </p:txBody>
      </p:sp>
      <p:sp>
        <p:nvSpPr>
          <p:cNvPr id="16" name="Rechteck 15">
            <a:extLst>
              <a:ext uri="{FF2B5EF4-FFF2-40B4-BE49-F238E27FC236}">
                <a16:creationId xmlns:a16="http://schemas.microsoft.com/office/drawing/2014/main" id="{4173FE06-E8F4-4820-B768-9C0ED62AD32C}"/>
              </a:ext>
            </a:extLst>
          </p:cNvPr>
          <p:cNvSpPr>
            <a:spLocks noGrp="1"/>
          </p:cNvSpPr>
          <p:nvPr/>
        </p:nvSpPr>
        <p:spPr>
          <a:xfrm>
            <a:off x="6477000" y="4306115"/>
            <a:ext cx="4572000" cy="361950"/>
          </a:xfrm>
          <a:prstGeom prst="rect">
            <a:avLst/>
          </a:prstGeom>
          <a:noFill/>
          <a:ln w="0">
            <a:noFill/>
            <a:prstDash val="solid"/>
          </a:ln>
        </p:spPr>
        <p:txBody>
          <a:bodyPr/>
          <a:lstStyle/>
          <a:p>
            <a:pPr>
              <a:defRPr sz="1350" b="0">
                <a:solidFill>
                  <a:srgbClr val="69747D"/>
                </a:solidFill>
              </a:defRPr>
            </a:pPr>
            <a:r>
              <a:rPr sz="1350" b="0" dirty="0">
                <a:solidFill>
                  <a:srgbClr val="69747D"/>
                </a:solidFill>
              </a:rPr>
              <a:t>Timing-</a:t>
            </a:r>
            <a:r>
              <a:rPr sz="1350" b="0" dirty="0" err="1">
                <a:solidFill>
                  <a:srgbClr val="69747D"/>
                </a:solidFill>
              </a:rPr>
              <a:t>Empfehlungen</a:t>
            </a:r>
            <a:r>
              <a:rPr sz="1350" b="0" dirty="0">
                <a:solidFill>
                  <a:srgbClr val="69747D"/>
                </a:solidFill>
              </a:rPr>
              <a:t> </a:t>
            </a:r>
            <a:r>
              <a:rPr sz="1350" b="0" dirty="0" err="1">
                <a:solidFill>
                  <a:srgbClr val="69747D"/>
                </a:solidFill>
              </a:rPr>
              <a:t>mit</a:t>
            </a:r>
            <a:r>
              <a:rPr sz="1350" b="0" dirty="0">
                <a:solidFill>
                  <a:srgbClr val="69747D"/>
                </a:solidFill>
              </a:rPr>
              <a:t> </a:t>
            </a:r>
            <a:r>
              <a:rPr sz="1350" b="0" dirty="0" err="1">
                <a:solidFill>
                  <a:srgbClr val="69747D"/>
                </a:solidFill>
              </a:rPr>
              <a:t>Sicherheits</a:t>
            </a:r>
            <a:r>
              <a:rPr sz="1350" b="0" dirty="0">
                <a:solidFill>
                  <a:srgbClr val="69747D"/>
                </a:solidFill>
              </a:rPr>
              <a:t>-Disclaimer</a:t>
            </a:r>
          </a:p>
        </p:txBody>
      </p:sp>
    </p:spTree>
    <p:extLst>
      <p:ext uri="{BB962C8B-B14F-4D97-AF65-F5344CB8AC3E}">
        <p14:creationId xmlns:p14="http://schemas.microsoft.com/office/powerpoint/2010/main" val="13617554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hase">
            <a:extLst>
              <a:ext uri="{FF2B5EF4-FFF2-40B4-BE49-F238E27FC236}">
                <a16:creationId xmlns:a16="http://schemas.microsoft.com/office/drawing/2014/main" id="{19578C02-17B3-4241-8D2D-550C441721D6}"/>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K · Knowledge Transfer</a:t>
            </a:r>
          </a:p>
        </p:txBody>
      </p:sp>
      <p:sp>
        <p:nvSpPr>
          <p:cNvPr id="2" name="Rechteck 1">
            <a:extLst>
              <a:ext uri="{FF2B5EF4-FFF2-40B4-BE49-F238E27FC236}">
                <a16:creationId xmlns:a16="http://schemas.microsoft.com/office/drawing/2014/main" id="{A05F72DF-8492-4927-BC9F-3612A95F98F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888A7297-4483-4602-A632-3BA68C951D8D}"/>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9F43E06A-A8F6-4868-920B-A6DF2668C673}"/>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7</a:t>
            </a:r>
            <a:endParaRPr sz="750" b="1" dirty="0">
              <a:solidFill>
                <a:srgbClr val="69747D"/>
              </a:solidFill>
            </a:endParaRPr>
          </a:p>
        </p:txBody>
      </p:sp>
      <p:sp>
        <p:nvSpPr>
          <p:cNvPr id="5" name="slide-title">
            <a:extLst>
              <a:ext uri="{FF2B5EF4-FFF2-40B4-BE49-F238E27FC236}">
                <a16:creationId xmlns:a16="http://schemas.microsoft.com/office/drawing/2014/main" id="{20B2864B-C61E-4869-8A8C-8C47E55046A8}"/>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sz="2700" b="1" dirty="0">
                <a:solidFill>
                  <a:srgbClr val="26323B"/>
                </a:solidFill>
              </a:rPr>
              <a:t>Aus Modellen wird ein interaktives Produkt</a:t>
            </a:r>
          </a:p>
        </p:txBody>
      </p:sp>
      <p:sp>
        <p:nvSpPr>
          <p:cNvPr id="6" name="Rechteck 5">
            <a:extLst>
              <a:ext uri="{FF2B5EF4-FFF2-40B4-BE49-F238E27FC236}">
                <a16:creationId xmlns:a16="http://schemas.microsoft.com/office/drawing/2014/main" id="{C9A58F8F-414E-4903-9033-3DE4EAADF984}"/>
              </a:ext>
            </a:extLst>
          </p:cNvPr>
          <p:cNvSpPr>
            <a:spLocks noGrp="1"/>
          </p:cNvSpPr>
          <p:nvPr/>
        </p:nvSpPr>
        <p:spPr>
          <a:xfrm>
            <a:off x="685800" y="2627267"/>
            <a:ext cx="3143250" cy="533400"/>
          </a:xfrm>
          <a:prstGeom prst="rect">
            <a:avLst/>
          </a:prstGeom>
          <a:noFill/>
          <a:ln w="0">
            <a:noFill/>
            <a:prstDash val="solid"/>
          </a:ln>
        </p:spPr>
        <p:txBody>
          <a:bodyPr/>
          <a:lstStyle/>
          <a:p>
            <a:pPr>
              <a:defRPr sz="2625" b="1">
                <a:solidFill>
                  <a:srgbClr val="2980B9"/>
                </a:solidFill>
              </a:defRPr>
            </a:pPr>
            <a:r>
              <a:rPr sz="2625" b="1" dirty="0">
                <a:solidFill>
                  <a:srgbClr val="2980B9"/>
                </a:solidFill>
              </a:rPr>
              <a:t>.</a:t>
            </a:r>
            <a:r>
              <a:rPr sz="2625" b="1" dirty="0" err="1">
                <a:solidFill>
                  <a:srgbClr val="2980B9"/>
                </a:solidFill>
              </a:rPr>
              <a:t>pkl</a:t>
            </a:r>
            <a:endParaRPr sz="2625" b="1" dirty="0">
              <a:solidFill>
                <a:srgbClr val="2980B9"/>
              </a:solidFill>
            </a:endParaRPr>
          </a:p>
        </p:txBody>
      </p:sp>
      <p:sp>
        <p:nvSpPr>
          <p:cNvPr id="7" name="Rechteck 6">
            <a:extLst>
              <a:ext uri="{FF2B5EF4-FFF2-40B4-BE49-F238E27FC236}">
                <a16:creationId xmlns:a16="http://schemas.microsoft.com/office/drawing/2014/main" id="{2F068190-FE8D-4191-B3FF-050F57BB90DB}"/>
              </a:ext>
            </a:extLst>
          </p:cNvPr>
          <p:cNvSpPr>
            <a:spLocks noGrp="1"/>
          </p:cNvSpPr>
          <p:nvPr/>
        </p:nvSpPr>
        <p:spPr>
          <a:xfrm>
            <a:off x="685800" y="3427367"/>
            <a:ext cx="2857500" cy="285750"/>
          </a:xfrm>
          <a:prstGeom prst="rect">
            <a:avLst/>
          </a:prstGeom>
          <a:noFill/>
          <a:ln w="0">
            <a:noFill/>
            <a:prstDash val="solid"/>
          </a:ln>
        </p:spPr>
        <p:txBody>
          <a:bodyPr/>
          <a:lstStyle/>
          <a:p>
            <a:pPr>
              <a:defRPr sz="1575" b="1">
                <a:solidFill>
                  <a:srgbClr val="26323B"/>
                </a:solidFill>
              </a:defRPr>
            </a:pPr>
            <a:r>
              <a:rPr sz="1575" b="1" dirty="0" err="1">
                <a:solidFill>
                  <a:srgbClr val="26323B"/>
                </a:solidFill>
              </a:rPr>
              <a:t>Joblib</a:t>
            </a:r>
            <a:endParaRPr sz="1575" b="1" dirty="0">
              <a:solidFill>
                <a:srgbClr val="26323B"/>
              </a:solidFill>
            </a:endParaRPr>
          </a:p>
        </p:txBody>
      </p:sp>
      <p:sp>
        <p:nvSpPr>
          <p:cNvPr id="8" name="Rechteck 7">
            <a:extLst>
              <a:ext uri="{FF2B5EF4-FFF2-40B4-BE49-F238E27FC236}">
                <a16:creationId xmlns:a16="http://schemas.microsoft.com/office/drawing/2014/main" id="{0248B080-B927-4BCE-B263-C4E847A4AAA5}"/>
              </a:ext>
            </a:extLst>
          </p:cNvPr>
          <p:cNvSpPr>
            <a:spLocks noGrp="1"/>
          </p:cNvSpPr>
          <p:nvPr/>
        </p:nvSpPr>
        <p:spPr>
          <a:xfrm>
            <a:off x="685800" y="3922667"/>
            <a:ext cx="3143250" cy="523875"/>
          </a:xfrm>
          <a:prstGeom prst="rect">
            <a:avLst/>
          </a:prstGeom>
          <a:noFill/>
          <a:ln w="0">
            <a:noFill/>
            <a:prstDash val="solid"/>
          </a:ln>
        </p:spPr>
        <p:txBody>
          <a:bodyPr/>
          <a:lstStyle/>
          <a:p>
            <a:pPr>
              <a:defRPr sz="1425" b="0">
                <a:solidFill>
                  <a:srgbClr val="69747D"/>
                </a:solidFill>
              </a:defRPr>
            </a:pPr>
            <a:r>
              <a:rPr sz="1425" b="0" dirty="0" err="1">
                <a:solidFill>
                  <a:srgbClr val="69747D"/>
                </a:solidFill>
              </a:rPr>
              <a:t>Trainierte</a:t>
            </a:r>
            <a:r>
              <a:rPr sz="1425" b="0" dirty="0">
                <a:solidFill>
                  <a:srgbClr val="69747D"/>
                </a:solidFill>
              </a:rPr>
              <a:t> Pipelines </a:t>
            </a:r>
            <a:r>
              <a:rPr sz="1425" b="0" dirty="0" err="1">
                <a:solidFill>
                  <a:srgbClr val="69747D"/>
                </a:solidFill>
              </a:rPr>
              <a:t>kompakt</a:t>
            </a:r>
            <a:r>
              <a:rPr sz="1425" b="0" dirty="0">
                <a:solidFill>
                  <a:srgbClr val="69747D"/>
                </a:solidFill>
              </a:rPr>
              <a:t> </a:t>
            </a:r>
            <a:r>
              <a:rPr sz="1425" b="0" dirty="0" err="1">
                <a:solidFill>
                  <a:srgbClr val="69747D"/>
                </a:solidFill>
              </a:rPr>
              <a:t>serialisiert</a:t>
            </a:r>
            <a:r>
              <a:rPr sz="1425" b="0" dirty="0">
                <a:solidFill>
                  <a:srgbClr val="69747D"/>
                </a:solidFill>
              </a:rPr>
              <a:t>.</a:t>
            </a:r>
          </a:p>
        </p:txBody>
      </p:sp>
      <p:sp>
        <p:nvSpPr>
          <p:cNvPr id="9" name="Rechteck 8">
            <a:extLst>
              <a:ext uri="{FF2B5EF4-FFF2-40B4-BE49-F238E27FC236}">
                <a16:creationId xmlns:a16="http://schemas.microsoft.com/office/drawing/2014/main" id="{35C1FAB8-8D3A-42BA-AAFA-A7D8D9B564E8}"/>
              </a:ext>
            </a:extLst>
          </p:cNvPr>
          <p:cNvSpPr>
            <a:spLocks noGrp="1"/>
          </p:cNvSpPr>
          <p:nvPr/>
        </p:nvSpPr>
        <p:spPr>
          <a:xfrm>
            <a:off x="4000499" y="2570117"/>
            <a:ext cx="18000" cy="1809750"/>
          </a:xfrm>
          <a:prstGeom prst="rect">
            <a:avLst/>
          </a:prstGeom>
          <a:solidFill>
            <a:srgbClr val="DCE2E6"/>
          </a:solidFill>
          <a:ln w="0">
            <a:noFill/>
            <a:prstDash val="solid"/>
          </a:ln>
        </p:spPr>
        <p:txBody>
          <a:bodyPr/>
          <a:lstStyle/>
          <a:p>
            <a:endParaRPr lang="de-DE" dirty="0"/>
          </a:p>
        </p:txBody>
      </p:sp>
      <p:sp>
        <p:nvSpPr>
          <p:cNvPr id="10" name="Rechteck 9">
            <a:extLst>
              <a:ext uri="{FF2B5EF4-FFF2-40B4-BE49-F238E27FC236}">
                <a16:creationId xmlns:a16="http://schemas.microsoft.com/office/drawing/2014/main" id="{57CD32CB-A18D-4B10-A3BF-0C469285BF82}"/>
              </a:ext>
            </a:extLst>
          </p:cNvPr>
          <p:cNvSpPr>
            <a:spLocks noGrp="1"/>
          </p:cNvSpPr>
          <p:nvPr/>
        </p:nvSpPr>
        <p:spPr>
          <a:xfrm>
            <a:off x="4324350" y="2627267"/>
            <a:ext cx="3143250" cy="533400"/>
          </a:xfrm>
          <a:prstGeom prst="rect">
            <a:avLst/>
          </a:prstGeom>
          <a:noFill/>
          <a:ln w="0">
            <a:noFill/>
            <a:prstDash val="solid"/>
          </a:ln>
        </p:spPr>
        <p:txBody>
          <a:bodyPr/>
          <a:lstStyle/>
          <a:p>
            <a:pPr>
              <a:defRPr sz="2625" b="1">
                <a:solidFill>
                  <a:srgbClr val="2980B9"/>
                </a:solidFill>
              </a:defRPr>
            </a:pPr>
            <a:r>
              <a:rPr sz="2625" b="1" dirty="0" err="1">
                <a:solidFill>
                  <a:srgbClr val="2980B9"/>
                </a:solidFill>
              </a:rPr>
              <a:t>Streamlit</a:t>
            </a:r>
            <a:endParaRPr sz="2625" b="1" dirty="0">
              <a:solidFill>
                <a:srgbClr val="2980B9"/>
              </a:solidFill>
            </a:endParaRPr>
          </a:p>
        </p:txBody>
      </p:sp>
      <p:sp>
        <p:nvSpPr>
          <p:cNvPr id="11" name="Rechteck 10">
            <a:extLst>
              <a:ext uri="{FF2B5EF4-FFF2-40B4-BE49-F238E27FC236}">
                <a16:creationId xmlns:a16="http://schemas.microsoft.com/office/drawing/2014/main" id="{AF26A541-FED5-41F2-A0A1-626BDC843FF1}"/>
              </a:ext>
            </a:extLst>
          </p:cNvPr>
          <p:cNvSpPr>
            <a:spLocks noGrp="1"/>
          </p:cNvSpPr>
          <p:nvPr/>
        </p:nvSpPr>
        <p:spPr>
          <a:xfrm>
            <a:off x="4324350" y="3427367"/>
            <a:ext cx="2857500" cy="285750"/>
          </a:xfrm>
          <a:prstGeom prst="rect">
            <a:avLst/>
          </a:prstGeom>
          <a:noFill/>
          <a:ln w="0">
            <a:noFill/>
            <a:prstDash val="solid"/>
          </a:ln>
        </p:spPr>
        <p:txBody>
          <a:bodyPr/>
          <a:lstStyle/>
          <a:p>
            <a:pPr>
              <a:defRPr sz="1575" b="1">
                <a:solidFill>
                  <a:srgbClr val="26323B"/>
                </a:solidFill>
              </a:defRPr>
            </a:pPr>
            <a:r>
              <a:rPr sz="1575" b="1" dirty="0">
                <a:solidFill>
                  <a:srgbClr val="26323B"/>
                </a:solidFill>
              </a:rPr>
              <a:t>Frontend</a:t>
            </a:r>
          </a:p>
        </p:txBody>
      </p:sp>
      <p:sp>
        <p:nvSpPr>
          <p:cNvPr id="12" name="Rechteck 11">
            <a:extLst>
              <a:ext uri="{FF2B5EF4-FFF2-40B4-BE49-F238E27FC236}">
                <a16:creationId xmlns:a16="http://schemas.microsoft.com/office/drawing/2014/main" id="{0517DF4A-7797-473D-99BE-7727FDC2DC30}"/>
              </a:ext>
            </a:extLst>
          </p:cNvPr>
          <p:cNvSpPr>
            <a:spLocks noGrp="1"/>
          </p:cNvSpPr>
          <p:nvPr/>
        </p:nvSpPr>
        <p:spPr>
          <a:xfrm>
            <a:off x="4324350" y="3922667"/>
            <a:ext cx="3143250" cy="523875"/>
          </a:xfrm>
          <a:prstGeom prst="rect">
            <a:avLst/>
          </a:prstGeom>
          <a:noFill/>
          <a:ln w="0">
            <a:noFill/>
            <a:prstDash val="solid"/>
          </a:ln>
        </p:spPr>
        <p:txBody>
          <a:bodyPr/>
          <a:lstStyle/>
          <a:p>
            <a:pPr>
              <a:defRPr sz="1425" b="0">
                <a:solidFill>
                  <a:srgbClr val="69747D"/>
                </a:solidFill>
              </a:defRPr>
            </a:pPr>
            <a:r>
              <a:rPr sz="1425" b="0" dirty="0">
                <a:solidFill>
                  <a:srgbClr val="69747D"/>
                </a:solidFill>
              </a:rPr>
              <a:t>Responsive Multi-Page-</a:t>
            </a:r>
            <a:r>
              <a:rPr sz="1425" b="0" dirty="0" err="1">
                <a:solidFill>
                  <a:srgbClr val="69747D"/>
                </a:solidFill>
              </a:rPr>
              <a:t>Anwendung</a:t>
            </a:r>
            <a:r>
              <a:rPr sz="1425" b="0" dirty="0">
                <a:solidFill>
                  <a:srgbClr val="69747D"/>
                </a:solidFill>
              </a:rPr>
              <a:t>.</a:t>
            </a:r>
          </a:p>
        </p:txBody>
      </p:sp>
      <p:sp>
        <p:nvSpPr>
          <p:cNvPr id="13" name="Rechteck 12">
            <a:extLst>
              <a:ext uri="{FF2B5EF4-FFF2-40B4-BE49-F238E27FC236}">
                <a16:creationId xmlns:a16="http://schemas.microsoft.com/office/drawing/2014/main" id="{281B8247-4B5F-4FAB-A649-C01E48518C61}"/>
              </a:ext>
            </a:extLst>
          </p:cNvPr>
          <p:cNvSpPr>
            <a:spLocks noGrp="1"/>
          </p:cNvSpPr>
          <p:nvPr/>
        </p:nvSpPr>
        <p:spPr>
          <a:xfrm>
            <a:off x="7639049" y="2570117"/>
            <a:ext cx="18000" cy="1809750"/>
          </a:xfrm>
          <a:prstGeom prst="rect">
            <a:avLst/>
          </a:prstGeom>
          <a:solidFill>
            <a:srgbClr val="DCE2E6"/>
          </a:solidFill>
          <a:ln w="0">
            <a:noFill/>
            <a:prstDash val="solid"/>
          </a:ln>
        </p:spPr>
        <p:txBody>
          <a:bodyPr/>
          <a:lstStyle/>
          <a:p>
            <a:endParaRPr lang="de-DE" dirty="0"/>
          </a:p>
        </p:txBody>
      </p:sp>
      <p:sp>
        <p:nvSpPr>
          <p:cNvPr id="14" name="Rechteck 13">
            <a:extLst>
              <a:ext uri="{FF2B5EF4-FFF2-40B4-BE49-F238E27FC236}">
                <a16:creationId xmlns:a16="http://schemas.microsoft.com/office/drawing/2014/main" id="{DF3A54E3-2E86-451B-9C02-4FD28D5C29C3}"/>
              </a:ext>
            </a:extLst>
          </p:cNvPr>
          <p:cNvSpPr>
            <a:spLocks noGrp="1"/>
          </p:cNvSpPr>
          <p:nvPr/>
        </p:nvSpPr>
        <p:spPr>
          <a:xfrm>
            <a:off x="7962900" y="2627267"/>
            <a:ext cx="3143250" cy="533400"/>
          </a:xfrm>
          <a:prstGeom prst="rect">
            <a:avLst/>
          </a:prstGeom>
          <a:noFill/>
          <a:ln w="0">
            <a:noFill/>
            <a:prstDash val="solid"/>
          </a:ln>
        </p:spPr>
        <p:txBody>
          <a:bodyPr/>
          <a:lstStyle/>
          <a:p>
            <a:pPr>
              <a:defRPr sz="2625" b="1">
                <a:solidFill>
                  <a:srgbClr val="2980B9"/>
                </a:solidFill>
              </a:defRPr>
            </a:pPr>
            <a:r>
              <a:rPr sz="2625" b="1" dirty="0">
                <a:solidFill>
                  <a:srgbClr val="2980B9"/>
                </a:solidFill>
              </a:rPr>
              <a:t>&lt; 500 </a:t>
            </a:r>
            <a:r>
              <a:rPr sz="2625" b="1" dirty="0" err="1">
                <a:solidFill>
                  <a:srgbClr val="2980B9"/>
                </a:solidFill>
              </a:rPr>
              <a:t>ms</a:t>
            </a:r>
            <a:endParaRPr sz="2625" b="1" dirty="0">
              <a:solidFill>
                <a:srgbClr val="2980B9"/>
              </a:solidFill>
            </a:endParaRPr>
          </a:p>
        </p:txBody>
      </p:sp>
      <p:sp>
        <p:nvSpPr>
          <p:cNvPr id="15" name="Rechteck 14">
            <a:extLst>
              <a:ext uri="{FF2B5EF4-FFF2-40B4-BE49-F238E27FC236}">
                <a16:creationId xmlns:a16="http://schemas.microsoft.com/office/drawing/2014/main" id="{3374E49D-B8AD-4528-AE80-1B274B87ADD2}"/>
              </a:ext>
            </a:extLst>
          </p:cNvPr>
          <p:cNvSpPr>
            <a:spLocks noGrp="1"/>
          </p:cNvSpPr>
          <p:nvPr/>
        </p:nvSpPr>
        <p:spPr>
          <a:xfrm>
            <a:off x="7962900" y="3427367"/>
            <a:ext cx="2857500" cy="285750"/>
          </a:xfrm>
          <a:prstGeom prst="rect">
            <a:avLst/>
          </a:prstGeom>
          <a:noFill/>
          <a:ln w="0">
            <a:noFill/>
            <a:prstDash val="solid"/>
          </a:ln>
        </p:spPr>
        <p:txBody>
          <a:bodyPr/>
          <a:lstStyle/>
          <a:p>
            <a:pPr>
              <a:defRPr sz="1575" b="1">
                <a:solidFill>
                  <a:srgbClr val="26323B"/>
                </a:solidFill>
              </a:defRPr>
            </a:pPr>
            <a:r>
              <a:rPr sz="1575" b="1" dirty="0">
                <a:solidFill>
                  <a:srgbClr val="26323B"/>
                </a:solidFill>
              </a:rPr>
              <a:t>Inference</a:t>
            </a:r>
          </a:p>
        </p:txBody>
      </p:sp>
      <p:sp>
        <p:nvSpPr>
          <p:cNvPr id="16" name="Rechteck 15">
            <a:extLst>
              <a:ext uri="{FF2B5EF4-FFF2-40B4-BE49-F238E27FC236}">
                <a16:creationId xmlns:a16="http://schemas.microsoft.com/office/drawing/2014/main" id="{9B49A462-66B6-4329-BA0D-9E06EA192913}"/>
              </a:ext>
            </a:extLst>
          </p:cNvPr>
          <p:cNvSpPr>
            <a:spLocks noGrp="1"/>
          </p:cNvSpPr>
          <p:nvPr/>
        </p:nvSpPr>
        <p:spPr>
          <a:xfrm>
            <a:off x="7962900" y="3922667"/>
            <a:ext cx="3143250" cy="523875"/>
          </a:xfrm>
          <a:prstGeom prst="rect">
            <a:avLst/>
          </a:prstGeom>
          <a:noFill/>
          <a:ln w="0">
            <a:noFill/>
            <a:prstDash val="solid"/>
          </a:ln>
        </p:spPr>
        <p:txBody>
          <a:bodyPr/>
          <a:lstStyle/>
          <a:p>
            <a:pPr>
              <a:defRPr sz="1425" b="0">
                <a:solidFill>
                  <a:srgbClr val="69747D"/>
                </a:solidFill>
              </a:defRPr>
            </a:pPr>
            <a:r>
              <a:rPr sz="1425" b="0" dirty="0">
                <a:solidFill>
                  <a:srgbClr val="69747D"/>
                </a:solidFill>
              </a:rPr>
              <a:t>Schnelle </a:t>
            </a:r>
            <a:r>
              <a:rPr sz="1425" b="0" dirty="0" err="1">
                <a:solidFill>
                  <a:srgbClr val="69747D"/>
                </a:solidFill>
              </a:rPr>
              <a:t>Reaktionszeit</a:t>
            </a:r>
            <a:r>
              <a:rPr sz="1425" b="0" dirty="0">
                <a:solidFill>
                  <a:srgbClr val="69747D"/>
                </a:solidFill>
              </a:rPr>
              <a:t> </a:t>
            </a:r>
            <a:r>
              <a:rPr sz="1425" b="0" dirty="0" err="1">
                <a:solidFill>
                  <a:srgbClr val="69747D"/>
                </a:solidFill>
              </a:rPr>
              <a:t>im</a:t>
            </a:r>
            <a:r>
              <a:rPr sz="1425" b="0" dirty="0">
                <a:solidFill>
                  <a:srgbClr val="69747D"/>
                </a:solidFill>
              </a:rPr>
              <a:t> </a:t>
            </a:r>
            <a:r>
              <a:rPr sz="1425" b="0" dirty="0" err="1">
                <a:solidFill>
                  <a:srgbClr val="69747D"/>
                </a:solidFill>
              </a:rPr>
              <a:t>laufenden</a:t>
            </a:r>
            <a:r>
              <a:rPr sz="1425" b="0" dirty="0">
                <a:solidFill>
                  <a:srgbClr val="69747D"/>
                </a:solidFill>
              </a:rPr>
              <a:t> </a:t>
            </a:r>
            <a:r>
              <a:rPr sz="1425" b="0" dirty="0" err="1">
                <a:solidFill>
                  <a:srgbClr val="69747D"/>
                </a:solidFill>
              </a:rPr>
              <a:t>Betrieb</a:t>
            </a:r>
            <a:r>
              <a:rPr sz="1425" b="0" dirty="0">
                <a:solidFill>
                  <a:srgbClr val="69747D"/>
                </a:solidFill>
              </a:rPr>
              <a:t>.</a:t>
            </a:r>
          </a:p>
        </p:txBody>
      </p:sp>
    </p:spTree>
    <p:extLst>
      <p:ext uri="{BB962C8B-B14F-4D97-AF65-F5344CB8AC3E}">
        <p14:creationId xmlns:p14="http://schemas.microsoft.com/office/powerpoint/2010/main" val="9447781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phase">
            <a:extLst>
              <a:ext uri="{FF2B5EF4-FFF2-40B4-BE49-F238E27FC236}">
                <a16:creationId xmlns:a16="http://schemas.microsoft.com/office/drawing/2014/main" id="{442DAB96-C507-482F-A606-8F5B2141FD26}"/>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K · Knowledge Transfer</a:t>
            </a:r>
          </a:p>
        </p:txBody>
      </p:sp>
      <p:sp>
        <p:nvSpPr>
          <p:cNvPr id="2" name="Rechteck 1">
            <a:extLst>
              <a:ext uri="{FF2B5EF4-FFF2-40B4-BE49-F238E27FC236}">
                <a16:creationId xmlns:a16="http://schemas.microsoft.com/office/drawing/2014/main" id="{B5FE980E-7A13-4DE0-886D-D548AECF001C}"/>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E590B60-EFC1-4518-B89A-BFCA0D8BCFB8}"/>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7CD7BEB0-5B8A-47DC-9B23-B6ACEBE07AF7}"/>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1</a:t>
            </a:r>
            <a:r>
              <a:rPr lang="de-DE" sz="750" b="1" dirty="0">
                <a:solidFill>
                  <a:srgbClr val="69747D"/>
                </a:solidFill>
              </a:rPr>
              <a:t>8</a:t>
            </a:r>
            <a:endParaRPr sz="750" b="1" dirty="0">
              <a:solidFill>
                <a:srgbClr val="69747D"/>
              </a:solidFill>
            </a:endParaRPr>
          </a:p>
        </p:txBody>
      </p:sp>
      <p:sp>
        <p:nvSpPr>
          <p:cNvPr id="5" name="slide-title">
            <a:extLst>
              <a:ext uri="{FF2B5EF4-FFF2-40B4-BE49-F238E27FC236}">
                <a16:creationId xmlns:a16="http://schemas.microsoft.com/office/drawing/2014/main" id="{A71B07DA-91DE-400E-8BBB-AFC203F2930C}"/>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Das Dashboard-Layout</a:t>
            </a:r>
            <a:endParaRPr sz="2700" b="1" dirty="0">
              <a:solidFill>
                <a:srgbClr val="26323B"/>
              </a:solidFill>
            </a:endParaRPr>
          </a:p>
        </p:txBody>
      </p:sp>
      <p:sp>
        <p:nvSpPr>
          <p:cNvPr id="6" name="Rechteck 5">
            <a:extLst>
              <a:ext uri="{FF2B5EF4-FFF2-40B4-BE49-F238E27FC236}">
                <a16:creationId xmlns:a16="http://schemas.microsoft.com/office/drawing/2014/main" id="{990FE4C2-4E84-415B-8C3E-A8A7C5BC37B1}"/>
              </a:ext>
            </a:extLst>
          </p:cNvPr>
          <p:cNvSpPr>
            <a:spLocks noGrp="1"/>
          </p:cNvSpPr>
          <p:nvPr/>
        </p:nvSpPr>
        <p:spPr>
          <a:xfrm>
            <a:off x="5943598" y="2495550"/>
            <a:ext cx="18000" cy="2428875"/>
          </a:xfrm>
          <a:prstGeom prst="rect">
            <a:avLst/>
          </a:prstGeom>
          <a:solidFill>
            <a:srgbClr val="DCE2E6"/>
          </a:solidFill>
          <a:ln w="0">
            <a:noFill/>
            <a:prstDash val="solid"/>
          </a:ln>
        </p:spPr>
        <p:txBody>
          <a:bodyPr/>
          <a:lstStyle/>
          <a:p>
            <a:endParaRPr lang="de-DE" dirty="0"/>
          </a:p>
        </p:txBody>
      </p:sp>
      <p:sp>
        <p:nvSpPr>
          <p:cNvPr id="7" name="Rechteck 6">
            <a:extLst>
              <a:ext uri="{FF2B5EF4-FFF2-40B4-BE49-F238E27FC236}">
                <a16:creationId xmlns:a16="http://schemas.microsoft.com/office/drawing/2014/main" id="{C087EBC0-6B4C-4FD1-9643-A0EB15D2CC17}"/>
              </a:ext>
            </a:extLst>
          </p:cNvPr>
          <p:cNvSpPr>
            <a:spLocks noGrp="1"/>
          </p:cNvSpPr>
          <p:nvPr/>
        </p:nvSpPr>
        <p:spPr>
          <a:xfrm>
            <a:off x="685800" y="260985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STEUERUNG</a:t>
            </a:r>
          </a:p>
        </p:txBody>
      </p:sp>
      <p:sp>
        <p:nvSpPr>
          <p:cNvPr id="8" name="Rechteck 7">
            <a:extLst>
              <a:ext uri="{FF2B5EF4-FFF2-40B4-BE49-F238E27FC236}">
                <a16:creationId xmlns:a16="http://schemas.microsoft.com/office/drawing/2014/main" id="{0E865E61-5248-4D0B-A2CD-F1CFD3B68178}"/>
              </a:ext>
            </a:extLst>
          </p:cNvPr>
          <p:cNvSpPr>
            <a:spLocks noGrp="1"/>
          </p:cNvSpPr>
          <p:nvPr/>
        </p:nvSpPr>
        <p:spPr>
          <a:xfrm>
            <a:off x="685800" y="3067050"/>
            <a:ext cx="4762500" cy="457200"/>
          </a:xfrm>
          <a:prstGeom prst="rect">
            <a:avLst/>
          </a:prstGeom>
          <a:noFill/>
          <a:ln w="0">
            <a:noFill/>
            <a:prstDash val="solid"/>
          </a:ln>
        </p:spPr>
        <p:txBody>
          <a:bodyPr/>
          <a:lstStyle/>
          <a:p>
            <a:pPr>
              <a:defRPr sz="1800" b="1">
                <a:solidFill>
                  <a:srgbClr val="26323B"/>
                </a:solidFill>
              </a:defRPr>
            </a:pPr>
            <a:r>
              <a:rPr sz="1800" b="1" dirty="0">
                <a:solidFill>
                  <a:srgbClr val="26323B"/>
                </a:solidFill>
              </a:rPr>
              <a:t>Wide-Layout + </a:t>
            </a:r>
            <a:r>
              <a:rPr sz="1800" b="1" dirty="0" err="1">
                <a:solidFill>
                  <a:srgbClr val="26323B"/>
                </a:solidFill>
              </a:rPr>
              <a:t>fixierte</a:t>
            </a:r>
            <a:r>
              <a:rPr sz="1800" b="1" dirty="0">
                <a:solidFill>
                  <a:srgbClr val="26323B"/>
                </a:solidFill>
              </a:rPr>
              <a:t> Sidebar</a:t>
            </a:r>
          </a:p>
        </p:txBody>
      </p:sp>
      <p:sp>
        <p:nvSpPr>
          <p:cNvPr id="9" name="Rechteck 8">
            <a:extLst>
              <a:ext uri="{FF2B5EF4-FFF2-40B4-BE49-F238E27FC236}">
                <a16:creationId xmlns:a16="http://schemas.microsoft.com/office/drawing/2014/main" id="{C4C9D24D-ABE8-4EA0-BFCE-B08DCD616722}"/>
              </a:ext>
            </a:extLst>
          </p:cNvPr>
          <p:cNvSpPr>
            <a:spLocks noGrp="1"/>
          </p:cNvSpPr>
          <p:nvPr/>
        </p:nvSpPr>
        <p:spPr>
          <a:xfrm>
            <a:off x="685800" y="3667125"/>
            <a:ext cx="4762500" cy="457200"/>
          </a:xfrm>
          <a:prstGeom prst="rect">
            <a:avLst/>
          </a:prstGeom>
          <a:noFill/>
          <a:ln w="0">
            <a:noFill/>
            <a:prstDash val="solid"/>
          </a:ln>
        </p:spPr>
        <p:txBody>
          <a:bodyPr/>
          <a:lstStyle/>
          <a:p>
            <a:pPr>
              <a:defRPr sz="1800" b="0">
                <a:solidFill>
                  <a:srgbClr val="26323B"/>
                </a:solidFill>
              </a:defRPr>
            </a:pPr>
            <a:r>
              <a:rPr sz="1800" b="0" dirty="0" err="1">
                <a:solidFill>
                  <a:srgbClr val="26323B"/>
                </a:solidFill>
              </a:rPr>
              <a:t>Detailliertes</a:t>
            </a:r>
            <a:r>
              <a:rPr sz="1800" b="0" dirty="0">
                <a:solidFill>
                  <a:srgbClr val="26323B"/>
                </a:solidFill>
              </a:rPr>
              <a:t> </a:t>
            </a:r>
            <a:r>
              <a:rPr sz="1800" b="0" dirty="0" err="1">
                <a:solidFill>
                  <a:srgbClr val="26323B"/>
                </a:solidFill>
              </a:rPr>
              <a:t>Nutzerprofil</a:t>
            </a:r>
            <a:r>
              <a:rPr sz="1800" b="0" dirty="0">
                <a:solidFill>
                  <a:srgbClr val="26323B"/>
                </a:solidFill>
              </a:rPr>
              <a:t> global </a:t>
            </a:r>
            <a:r>
              <a:rPr sz="1800" b="0" dirty="0" err="1">
                <a:solidFill>
                  <a:srgbClr val="26323B"/>
                </a:solidFill>
              </a:rPr>
              <a:t>steuerbar</a:t>
            </a:r>
            <a:endParaRPr sz="1800" b="0" dirty="0">
              <a:solidFill>
                <a:srgbClr val="26323B"/>
              </a:solidFill>
            </a:endParaRPr>
          </a:p>
        </p:txBody>
      </p:sp>
      <p:sp>
        <p:nvSpPr>
          <p:cNvPr id="10" name="Rechteck 9">
            <a:extLst>
              <a:ext uri="{FF2B5EF4-FFF2-40B4-BE49-F238E27FC236}">
                <a16:creationId xmlns:a16="http://schemas.microsoft.com/office/drawing/2014/main" id="{0C436D9E-315E-4296-9F38-CE151DFAE7B8}"/>
              </a:ext>
            </a:extLst>
          </p:cNvPr>
          <p:cNvSpPr>
            <a:spLocks noGrp="1"/>
          </p:cNvSpPr>
          <p:nvPr/>
        </p:nvSpPr>
        <p:spPr>
          <a:xfrm>
            <a:off x="685800" y="4267200"/>
            <a:ext cx="4762500" cy="457200"/>
          </a:xfrm>
          <a:prstGeom prst="rect">
            <a:avLst/>
          </a:prstGeom>
          <a:noFill/>
          <a:ln w="0">
            <a:noFill/>
            <a:prstDash val="solid"/>
          </a:ln>
        </p:spPr>
        <p:txBody>
          <a:bodyPr/>
          <a:lstStyle/>
          <a:p>
            <a:pPr>
              <a:defRPr sz="1800" b="0">
                <a:solidFill>
                  <a:srgbClr val="26323B"/>
                </a:solidFill>
              </a:defRPr>
            </a:pPr>
            <a:r>
              <a:rPr sz="1800" b="0" dirty="0" err="1">
                <a:solidFill>
                  <a:srgbClr val="26323B"/>
                </a:solidFill>
              </a:rPr>
              <a:t>Eindeutige</a:t>
            </a:r>
            <a:r>
              <a:rPr sz="1800" b="0" dirty="0">
                <a:solidFill>
                  <a:srgbClr val="26323B"/>
                </a:solidFill>
              </a:rPr>
              <a:t> </a:t>
            </a:r>
            <a:r>
              <a:rPr sz="1800" b="0" dirty="0" err="1">
                <a:solidFill>
                  <a:srgbClr val="26323B"/>
                </a:solidFill>
              </a:rPr>
              <a:t>visuelle</a:t>
            </a:r>
            <a:r>
              <a:rPr sz="1800" b="0" dirty="0">
                <a:solidFill>
                  <a:srgbClr val="26323B"/>
                </a:solidFill>
              </a:rPr>
              <a:t> </a:t>
            </a:r>
            <a:r>
              <a:rPr sz="1800" b="0" dirty="0" err="1">
                <a:solidFill>
                  <a:srgbClr val="26323B"/>
                </a:solidFill>
              </a:rPr>
              <a:t>Trennung</a:t>
            </a:r>
            <a:endParaRPr sz="1800" b="0" dirty="0">
              <a:solidFill>
                <a:srgbClr val="26323B"/>
              </a:solidFill>
            </a:endParaRPr>
          </a:p>
        </p:txBody>
      </p:sp>
      <p:sp>
        <p:nvSpPr>
          <p:cNvPr id="11" name="Rechteck 10">
            <a:extLst>
              <a:ext uri="{FF2B5EF4-FFF2-40B4-BE49-F238E27FC236}">
                <a16:creationId xmlns:a16="http://schemas.microsoft.com/office/drawing/2014/main" id="{DFA8ADCF-3BEA-425E-A9F0-AB7E1701442D}"/>
              </a:ext>
            </a:extLst>
          </p:cNvPr>
          <p:cNvSpPr>
            <a:spLocks noGrp="1"/>
          </p:cNvSpPr>
          <p:nvPr/>
        </p:nvSpPr>
        <p:spPr>
          <a:xfrm>
            <a:off x="6381750" y="2609850"/>
            <a:ext cx="4572000" cy="247650"/>
          </a:xfrm>
          <a:prstGeom prst="rect">
            <a:avLst/>
          </a:prstGeom>
          <a:noFill/>
          <a:ln w="0">
            <a:noFill/>
            <a:prstDash val="solid"/>
          </a:ln>
        </p:spPr>
        <p:txBody>
          <a:bodyPr/>
          <a:lstStyle/>
          <a:p>
            <a:pPr>
              <a:defRPr sz="1125" b="1">
                <a:solidFill>
                  <a:srgbClr val="2980B9"/>
                </a:solidFill>
              </a:defRPr>
            </a:pPr>
            <a:r>
              <a:rPr sz="1125" b="1" dirty="0">
                <a:solidFill>
                  <a:srgbClr val="2980B9"/>
                </a:solidFill>
              </a:rPr>
              <a:t>REAKTION</a:t>
            </a:r>
          </a:p>
        </p:txBody>
      </p:sp>
      <p:sp>
        <p:nvSpPr>
          <p:cNvPr id="12" name="Rechteck 11">
            <a:extLst>
              <a:ext uri="{FF2B5EF4-FFF2-40B4-BE49-F238E27FC236}">
                <a16:creationId xmlns:a16="http://schemas.microsoft.com/office/drawing/2014/main" id="{12A02025-9718-49F3-B89D-1F9EE79E95F6}"/>
              </a:ext>
            </a:extLst>
          </p:cNvPr>
          <p:cNvSpPr>
            <a:spLocks noGrp="1"/>
          </p:cNvSpPr>
          <p:nvPr/>
        </p:nvSpPr>
        <p:spPr>
          <a:xfrm>
            <a:off x="6381750" y="3067050"/>
            <a:ext cx="4572000" cy="523875"/>
          </a:xfrm>
          <a:prstGeom prst="rect">
            <a:avLst/>
          </a:prstGeom>
          <a:noFill/>
          <a:ln w="0">
            <a:noFill/>
            <a:prstDash val="solid"/>
          </a:ln>
        </p:spPr>
        <p:txBody>
          <a:bodyPr/>
          <a:lstStyle/>
          <a:p>
            <a:pPr>
              <a:defRPr sz="1725" b="1">
                <a:solidFill>
                  <a:srgbClr val="26323B"/>
                </a:solidFill>
              </a:defRPr>
            </a:pPr>
            <a:r>
              <a:rPr sz="1725" b="1" dirty="0">
                <a:solidFill>
                  <a:srgbClr val="26323B"/>
                </a:solidFill>
              </a:rPr>
              <a:t>Live-</a:t>
            </a:r>
            <a:r>
              <a:rPr sz="1725" b="1" dirty="0" err="1">
                <a:solidFill>
                  <a:srgbClr val="26323B"/>
                </a:solidFill>
              </a:rPr>
              <a:t>Klassifikation</a:t>
            </a:r>
            <a:endParaRPr sz="1725" b="1" dirty="0">
              <a:solidFill>
                <a:srgbClr val="26323B"/>
              </a:solidFill>
            </a:endParaRPr>
          </a:p>
        </p:txBody>
      </p:sp>
      <p:sp>
        <p:nvSpPr>
          <p:cNvPr id="13" name="Rechteck 12">
            <a:extLst>
              <a:ext uri="{FF2B5EF4-FFF2-40B4-BE49-F238E27FC236}">
                <a16:creationId xmlns:a16="http://schemas.microsoft.com/office/drawing/2014/main" id="{E38535E6-A38F-4DAB-B862-CDE147922CFD}"/>
              </a:ext>
            </a:extLst>
          </p:cNvPr>
          <p:cNvSpPr>
            <a:spLocks noGrp="1"/>
          </p:cNvSpPr>
          <p:nvPr/>
        </p:nvSpPr>
        <p:spPr>
          <a:xfrm>
            <a:off x="6381750" y="3733800"/>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Sofort</a:t>
            </a:r>
            <a:r>
              <a:rPr sz="1725" b="0" dirty="0">
                <a:solidFill>
                  <a:srgbClr val="26323B"/>
                </a:solidFill>
              </a:rPr>
              <a:t> </a:t>
            </a:r>
            <a:r>
              <a:rPr sz="1725" b="0" dirty="0" err="1">
                <a:solidFill>
                  <a:srgbClr val="26323B"/>
                </a:solidFill>
              </a:rPr>
              <a:t>bei</a:t>
            </a:r>
            <a:r>
              <a:rPr sz="1725" b="0" dirty="0">
                <a:solidFill>
                  <a:srgbClr val="26323B"/>
                </a:solidFill>
              </a:rPr>
              <a:t> Parameter-</a:t>
            </a:r>
            <a:r>
              <a:rPr sz="1725" b="0" dirty="0" err="1">
                <a:solidFill>
                  <a:srgbClr val="26323B"/>
                </a:solidFill>
              </a:rPr>
              <a:t>Änderung</a:t>
            </a:r>
            <a:endParaRPr sz="1725" b="0" dirty="0">
              <a:solidFill>
                <a:srgbClr val="26323B"/>
              </a:solidFill>
            </a:endParaRPr>
          </a:p>
        </p:txBody>
      </p:sp>
      <p:sp>
        <p:nvSpPr>
          <p:cNvPr id="14" name="Rechteck 13">
            <a:extLst>
              <a:ext uri="{FF2B5EF4-FFF2-40B4-BE49-F238E27FC236}">
                <a16:creationId xmlns:a16="http://schemas.microsoft.com/office/drawing/2014/main" id="{E59FC35C-3535-467B-90B5-161E9E6A6807}"/>
              </a:ext>
            </a:extLst>
          </p:cNvPr>
          <p:cNvSpPr>
            <a:spLocks noGrp="1"/>
          </p:cNvSpPr>
          <p:nvPr/>
        </p:nvSpPr>
        <p:spPr>
          <a:xfrm>
            <a:off x="6381750" y="4400550"/>
            <a:ext cx="4572000" cy="523875"/>
          </a:xfrm>
          <a:prstGeom prst="rect">
            <a:avLst/>
          </a:prstGeom>
          <a:noFill/>
          <a:ln w="0">
            <a:noFill/>
            <a:prstDash val="solid"/>
          </a:ln>
        </p:spPr>
        <p:txBody>
          <a:bodyPr/>
          <a:lstStyle/>
          <a:p>
            <a:pPr>
              <a:defRPr sz="1725" b="0">
                <a:solidFill>
                  <a:srgbClr val="26323B"/>
                </a:solidFill>
              </a:defRPr>
            </a:pPr>
            <a:r>
              <a:rPr sz="1725" b="0" dirty="0" err="1">
                <a:solidFill>
                  <a:srgbClr val="26323B"/>
                </a:solidFill>
              </a:rPr>
              <a:t>Ohne</a:t>
            </a:r>
            <a:r>
              <a:rPr sz="1725" b="0" dirty="0">
                <a:solidFill>
                  <a:srgbClr val="26323B"/>
                </a:solidFill>
              </a:rPr>
              <a:t> Seiten-Reload </a:t>
            </a:r>
          </a:p>
        </p:txBody>
      </p:sp>
    </p:spTree>
    <p:extLst>
      <p:ext uri="{BB962C8B-B14F-4D97-AF65-F5344CB8AC3E}">
        <p14:creationId xmlns:p14="http://schemas.microsoft.com/office/powerpoint/2010/main" val="808751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hase">
            <a:extLst>
              <a:ext uri="{FF2B5EF4-FFF2-40B4-BE49-F238E27FC236}">
                <a16:creationId xmlns:a16="http://schemas.microsoft.com/office/drawing/2014/main" id="{AC65DB7A-66D9-4298-B3BE-81D37DD77A97}"/>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K · Knowledge Transfer</a:t>
            </a:r>
          </a:p>
        </p:txBody>
      </p:sp>
      <p:sp>
        <p:nvSpPr>
          <p:cNvPr id="2" name="Rechteck 1">
            <a:extLst>
              <a:ext uri="{FF2B5EF4-FFF2-40B4-BE49-F238E27FC236}">
                <a16:creationId xmlns:a16="http://schemas.microsoft.com/office/drawing/2014/main" id="{4E7113DF-4451-402E-9BE5-F4A8C3C0818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109BB5A-2206-4E52-A143-FA82267C48A5}"/>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F84FBDD5-6532-4AB2-9AA7-A3F08F7BDC8E}"/>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lang="de-DE" sz="750" b="1" dirty="0">
                <a:solidFill>
                  <a:srgbClr val="69747D"/>
                </a:solidFill>
              </a:rPr>
              <a:t>19</a:t>
            </a:r>
            <a:endParaRPr sz="750" b="1" dirty="0">
              <a:solidFill>
                <a:srgbClr val="69747D"/>
              </a:solidFill>
            </a:endParaRPr>
          </a:p>
        </p:txBody>
      </p:sp>
      <p:sp>
        <p:nvSpPr>
          <p:cNvPr id="5" name="slide-title">
            <a:extLst>
              <a:ext uri="{FF2B5EF4-FFF2-40B4-BE49-F238E27FC236}">
                <a16:creationId xmlns:a16="http://schemas.microsoft.com/office/drawing/2014/main" id="{46EE19A2-EC59-4106-8AC4-F1D3E174F8D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Die Sidebar im Detail</a:t>
            </a:r>
            <a:endParaRPr sz="2700" b="1" dirty="0">
              <a:solidFill>
                <a:srgbClr val="26323B"/>
              </a:solidFill>
            </a:endParaRPr>
          </a:p>
        </p:txBody>
      </p:sp>
      <p:sp>
        <p:nvSpPr>
          <p:cNvPr id="14" name="Rectangle 13"/>
          <p:cNvSpPr/>
          <p:nvPr/>
        </p:nvSpPr>
        <p:spPr>
          <a:xfrm>
            <a:off x="5943600" y="1783080"/>
            <a:ext cx="9525" cy="4389120"/>
          </a:xfrm>
          <a:prstGeom prst="rect">
            <a:avLst/>
          </a:prstGeom>
          <a:solidFill>
            <a:srgbClr val="DC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783080"/>
            <a:ext cx="4389120" cy="274320"/>
          </a:xfrm>
          <a:prstGeom prst="rect">
            <a:avLst/>
          </a:prstGeom>
          <a:noFill/>
        </p:spPr>
        <p:txBody>
          <a:bodyPr wrap="square">
            <a:spAutoFit/>
          </a:bodyPr>
          <a:lstStyle/>
          <a:p>
            <a:pPr algn="l"/>
            <a:r>
              <a:rPr sz="1125" b="1">
                <a:solidFill>
                  <a:srgbClr val="2980B9"/>
                </a:solidFill>
                <a:latin typeface="Calibri"/>
              </a:rPr>
              <a:t>NUTZERPROFIL</a:t>
            </a:r>
          </a:p>
        </p:txBody>
      </p:sp>
      <p:sp>
        <p:nvSpPr>
          <p:cNvPr id="16" name="TextBox 15"/>
          <p:cNvSpPr txBox="1"/>
          <p:nvPr/>
        </p:nvSpPr>
        <p:spPr>
          <a:xfrm>
            <a:off x="6172200" y="1783080"/>
            <a:ext cx="4389120" cy="274320"/>
          </a:xfrm>
          <a:prstGeom prst="rect">
            <a:avLst/>
          </a:prstGeom>
          <a:noFill/>
        </p:spPr>
        <p:txBody>
          <a:bodyPr wrap="square">
            <a:spAutoFit/>
          </a:bodyPr>
          <a:lstStyle/>
          <a:p>
            <a:pPr algn="l"/>
            <a:r>
              <a:rPr sz="1125" b="1">
                <a:solidFill>
                  <a:srgbClr val="2980B9"/>
                </a:solidFill>
                <a:latin typeface="Calibri"/>
              </a:rPr>
              <a:t>LIVE-MODELLVERGLEICH</a:t>
            </a:r>
          </a:p>
        </p:txBody>
      </p:sp>
      <p:sp>
        <p:nvSpPr>
          <p:cNvPr id="17" name="Rounded Rectangle 16"/>
          <p:cNvSpPr/>
          <p:nvPr/>
        </p:nvSpPr>
        <p:spPr>
          <a:xfrm>
            <a:off x="694944" y="2203703"/>
            <a:ext cx="1401909" cy="3913632"/>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p:cNvPicPr>
            <a:picLocks noChangeAspect="1"/>
          </p:cNvPicPr>
          <p:nvPr/>
        </p:nvPicPr>
        <p:blipFill>
          <a:blip r:embed="rId3">
            <a:extLst>
              <a:ext uri="{28A0092B-C50C-407E-A947-70E740481C1C}">
                <a14:useLocalDpi xmlns:a14="http://schemas.microsoft.com/office/drawing/2010/main" val="0"/>
              </a:ext>
            </a:extLst>
          </a:blip>
          <a:srcRect/>
          <a:stretch/>
        </p:blipFill>
        <p:spPr>
          <a:xfrm>
            <a:off x="822960" y="2331721"/>
            <a:ext cx="1145877" cy="3657598"/>
          </a:xfrm>
          <a:prstGeom prst="rect">
            <a:avLst/>
          </a:prstGeom>
        </p:spPr>
      </p:pic>
      <p:sp>
        <p:nvSpPr>
          <p:cNvPr id="19" name="TextBox 18"/>
          <p:cNvSpPr txBox="1"/>
          <p:nvPr/>
        </p:nvSpPr>
        <p:spPr>
          <a:xfrm>
            <a:off x="2426037" y="2423160"/>
            <a:ext cx="3200400" cy="3200400"/>
          </a:xfrm>
          <a:prstGeom prst="rect">
            <a:avLst/>
          </a:prstGeom>
          <a:noFill/>
        </p:spPr>
        <p:txBody>
          <a:bodyPr wrap="square">
            <a:spAutoFit/>
          </a:bodyPr>
          <a:lstStyle/>
          <a:p>
            <a:pPr algn="l"/>
            <a:r>
              <a:rPr sz="1400" b="0">
                <a:solidFill>
                  <a:srgbClr val="69747D"/>
                </a:solidFill>
                <a:latin typeface="Calibri"/>
              </a:rPr>
              <a:t>Alter, Körpergröße, Fitness-Level, Trainingsart, Ernährungsform und Gewicht – alles live editierbar. Jede Änderung aktualisiert sofort die Empfehlung in Tab 1.</a:t>
            </a:r>
          </a:p>
        </p:txBody>
      </p:sp>
      <p:sp>
        <p:nvSpPr>
          <p:cNvPr id="20" name="Rounded Rectangle 19"/>
          <p:cNvSpPr/>
          <p:nvPr/>
        </p:nvSpPr>
        <p:spPr>
          <a:xfrm>
            <a:off x="6181344" y="2203703"/>
            <a:ext cx="1432602" cy="3913632"/>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p:cNvPicPr>
            <a:picLocks noChangeAspect="1"/>
          </p:cNvPicPr>
          <p:nvPr/>
        </p:nvPicPr>
        <p:blipFill>
          <a:blip r:embed="rId4">
            <a:extLst>
              <a:ext uri="{28A0092B-C50C-407E-A947-70E740481C1C}">
                <a14:useLocalDpi xmlns:a14="http://schemas.microsoft.com/office/drawing/2010/main" val="0"/>
              </a:ext>
            </a:extLst>
          </a:blip>
          <a:srcRect/>
          <a:stretch/>
        </p:blipFill>
        <p:spPr>
          <a:xfrm>
            <a:off x="6309360" y="2331721"/>
            <a:ext cx="1176570" cy="3657598"/>
          </a:xfrm>
          <a:prstGeom prst="rect">
            <a:avLst/>
          </a:prstGeom>
        </p:spPr>
      </p:pic>
      <p:sp>
        <p:nvSpPr>
          <p:cNvPr id="22" name="TextBox 21"/>
          <p:cNvSpPr txBox="1"/>
          <p:nvPr/>
        </p:nvSpPr>
        <p:spPr>
          <a:xfrm>
            <a:off x="7943130" y="2423160"/>
            <a:ext cx="3108960" cy="3200400"/>
          </a:xfrm>
          <a:prstGeom prst="rect">
            <a:avLst/>
          </a:prstGeom>
          <a:noFill/>
        </p:spPr>
        <p:txBody>
          <a:bodyPr wrap="square">
            <a:spAutoFit/>
          </a:bodyPr>
          <a:lstStyle/>
          <a:p>
            <a:pPr algn="l"/>
            <a:r>
              <a:rPr sz="1400" b="0">
                <a:solidFill>
                  <a:srgbClr val="69747D"/>
                </a:solidFill>
                <a:latin typeface="Calibri"/>
              </a:rPr>
              <a:t>Random Forest, SVM und Decision Tree lassen sich live vergleichen – inklusive Anzahl der Bäume (n_estimators) und echter Test-Genauigkeit auf 20 % ungesehenen Daten.</a:t>
            </a:r>
          </a:p>
        </p:txBody>
      </p:sp>
    </p:spTree>
    <p:extLst>
      <p:ext uri="{BB962C8B-B14F-4D97-AF65-F5344CB8AC3E}">
        <p14:creationId xmlns:p14="http://schemas.microsoft.com/office/powerpoint/2010/main" val="1979814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hase">
            <a:extLst>
              <a:ext uri="{FF2B5EF4-FFF2-40B4-BE49-F238E27FC236}">
                <a16:creationId xmlns:a16="http://schemas.microsoft.com/office/drawing/2014/main" id="{50C0160D-EBBF-40A5-A888-D8EF7B37EB63}"/>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K · Knowledge Transfer</a:t>
            </a:r>
          </a:p>
        </p:txBody>
      </p:sp>
      <p:sp>
        <p:nvSpPr>
          <p:cNvPr id="2" name="Rechteck 1">
            <a:extLst>
              <a:ext uri="{FF2B5EF4-FFF2-40B4-BE49-F238E27FC236}">
                <a16:creationId xmlns:a16="http://schemas.microsoft.com/office/drawing/2014/main" id="{80C47372-D8C5-4B28-A2B4-64D84F1B7FF9}"/>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04A8B9FF-6FF7-4BA3-9AF3-B4FBCEE37CE0}"/>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E166AC14-0B2E-40F3-8B6C-375AD8CBCA2B}"/>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2</a:t>
            </a:r>
            <a:r>
              <a:rPr lang="de-DE" sz="750" b="1" dirty="0">
                <a:solidFill>
                  <a:srgbClr val="69747D"/>
                </a:solidFill>
              </a:rPr>
              <a:t>0</a:t>
            </a:r>
            <a:endParaRPr sz="750" b="1" dirty="0">
              <a:solidFill>
                <a:srgbClr val="69747D"/>
              </a:solidFill>
            </a:endParaRPr>
          </a:p>
        </p:txBody>
      </p:sp>
      <p:sp>
        <p:nvSpPr>
          <p:cNvPr id="5" name="slide-title">
            <a:extLst>
              <a:ext uri="{FF2B5EF4-FFF2-40B4-BE49-F238E27FC236}">
                <a16:creationId xmlns:a16="http://schemas.microsoft.com/office/drawing/2014/main" id="{AF702EC9-D706-48B2-BAAB-A2848973D8FA}"/>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dirty="0"/>
              <a:t>App-Struktur: Tab 1 &amp; Tab 2</a:t>
            </a:r>
            <a:endParaRPr sz="2700" b="1" dirty="0">
              <a:solidFill>
                <a:srgbClr val="26323B"/>
              </a:solidFill>
            </a:endParaRPr>
          </a:p>
        </p:txBody>
      </p:sp>
      <p:sp>
        <p:nvSpPr>
          <p:cNvPr id="6" name="Rechteck 5">
            <a:extLst>
              <a:ext uri="{FF2B5EF4-FFF2-40B4-BE49-F238E27FC236}">
                <a16:creationId xmlns:a16="http://schemas.microsoft.com/office/drawing/2014/main" id="{DA53E2A7-1879-4BE6-BEB1-A79EFDAD46B5}"/>
              </a:ext>
            </a:extLst>
          </p:cNvPr>
          <p:cNvSpPr>
            <a:spLocks noGrp="1"/>
          </p:cNvSpPr>
          <p:nvPr/>
        </p:nvSpPr>
        <p:spPr>
          <a:xfrm>
            <a:off x="685800" y="2349408"/>
            <a:ext cx="1524000" cy="266700"/>
          </a:xfrm>
          <a:prstGeom prst="rect">
            <a:avLst/>
          </a:prstGeom>
          <a:noFill/>
          <a:ln w="0">
            <a:noFill/>
            <a:prstDash val="solid"/>
          </a:ln>
        </p:spPr>
        <p:txBody>
          <a:bodyPr/>
          <a:lstStyle/>
          <a:p>
            <a:pPr>
              <a:defRPr sz="1350" b="1">
                <a:solidFill>
                  <a:srgbClr val="2980B9"/>
                </a:solidFill>
              </a:defRPr>
            </a:pPr>
            <a:r>
              <a:rPr sz="1350" b="1" dirty="0">
                <a:solidFill>
                  <a:srgbClr val="2980B9"/>
                </a:solidFill>
              </a:rPr>
              <a:t>TAB 1</a:t>
            </a:r>
          </a:p>
        </p:txBody>
      </p:sp>
      <p:sp>
        <p:nvSpPr>
          <p:cNvPr id="7" name="Rechteck 6">
            <a:extLst>
              <a:ext uri="{FF2B5EF4-FFF2-40B4-BE49-F238E27FC236}">
                <a16:creationId xmlns:a16="http://schemas.microsoft.com/office/drawing/2014/main" id="{EF3730E6-1E7E-40DE-AE7D-D26C60DF8EA2}"/>
              </a:ext>
            </a:extLst>
          </p:cNvPr>
          <p:cNvSpPr>
            <a:spLocks noGrp="1"/>
          </p:cNvSpPr>
          <p:nvPr/>
        </p:nvSpPr>
        <p:spPr>
          <a:xfrm>
            <a:off x="685800" y="2749458"/>
            <a:ext cx="4572000" cy="18000"/>
          </a:xfrm>
          <a:prstGeom prst="rect">
            <a:avLst/>
          </a:prstGeom>
          <a:solidFill>
            <a:srgbClr val="DCE2E6"/>
          </a:solidFill>
          <a:ln w="0">
            <a:noFill/>
            <a:prstDash val="solid"/>
          </a:ln>
        </p:spPr>
        <p:txBody>
          <a:bodyPr/>
          <a:lstStyle/>
          <a:p>
            <a:endParaRPr lang="de-DE" dirty="0"/>
          </a:p>
        </p:txBody>
      </p:sp>
      <p:sp>
        <p:nvSpPr>
          <p:cNvPr id="8" name="Rechteck 7">
            <a:extLst>
              <a:ext uri="{FF2B5EF4-FFF2-40B4-BE49-F238E27FC236}">
                <a16:creationId xmlns:a16="http://schemas.microsoft.com/office/drawing/2014/main" id="{FD8DFB7E-0420-48FC-8D4E-EA86CBA982C6}"/>
              </a:ext>
            </a:extLst>
          </p:cNvPr>
          <p:cNvSpPr>
            <a:spLocks noGrp="1"/>
          </p:cNvSpPr>
          <p:nvPr/>
        </p:nvSpPr>
        <p:spPr>
          <a:xfrm>
            <a:off x="685800" y="3092358"/>
            <a:ext cx="4191000" cy="361950"/>
          </a:xfrm>
          <a:prstGeom prst="rect">
            <a:avLst/>
          </a:prstGeom>
          <a:noFill/>
          <a:ln w="0">
            <a:noFill/>
            <a:prstDash val="solid"/>
          </a:ln>
        </p:spPr>
        <p:txBody>
          <a:bodyPr/>
          <a:lstStyle/>
          <a:p>
            <a:pPr>
              <a:defRPr sz="2025" b="1">
                <a:solidFill>
                  <a:srgbClr val="26323B"/>
                </a:solidFill>
              </a:defRPr>
            </a:pPr>
            <a:r>
              <a:rPr sz="2025" b="1" dirty="0" err="1">
                <a:solidFill>
                  <a:srgbClr val="26323B"/>
                </a:solidFill>
              </a:rPr>
              <a:t>Einstiegs-Rechner</a:t>
            </a:r>
            <a:endParaRPr sz="2025" b="1" dirty="0">
              <a:solidFill>
                <a:srgbClr val="26323B"/>
              </a:solidFill>
            </a:endParaRPr>
          </a:p>
        </p:txBody>
      </p:sp>
      <p:sp>
        <p:nvSpPr>
          <p:cNvPr id="9" name="Rechteck 8">
            <a:extLst>
              <a:ext uri="{FF2B5EF4-FFF2-40B4-BE49-F238E27FC236}">
                <a16:creationId xmlns:a16="http://schemas.microsoft.com/office/drawing/2014/main" id="{C816A785-69AC-44EE-B16C-2C1E2D258235}"/>
              </a:ext>
            </a:extLst>
          </p:cNvPr>
          <p:cNvSpPr>
            <a:spLocks noGrp="1"/>
          </p:cNvSpPr>
          <p:nvPr/>
        </p:nvSpPr>
        <p:spPr>
          <a:xfrm>
            <a:off x="685800" y="3663858"/>
            <a:ext cx="4476750" cy="552450"/>
          </a:xfrm>
          <a:prstGeom prst="rect">
            <a:avLst/>
          </a:prstGeom>
          <a:noFill/>
          <a:ln w="0">
            <a:noFill/>
            <a:prstDash val="solid"/>
          </a:ln>
        </p:spPr>
        <p:txBody>
          <a:bodyPr/>
          <a:lstStyle/>
          <a:p>
            <a:pPr>
              <a:defRPr sz="1425" b="0">
                <a:solidFill>
                  <a:srgbClr val="69747D"/>
                </a:solidFill>
              </a:defRPr>
            </a:pPr>
            <a:r>
              <a:rPr sz="1425" b="0" dirty="0" err="1">
                <a:solidFill>
                  <a:srgbClr val="69747D"/>
                </a:solidFill>
              </a:rPr>
              <a:t>Medaillen</a:t>
            </a:r>
            <a:r>
              <a:rPr sz="1425" b="0" dirty="0">
                <a:solidFill>
                  <a:srgbClr val="69747D"/>
                </a:solidFill>
              </a:rPr>
              <a:t>-Ranking · </a:t>
            </a:r>
            <a:r>
              <a:rPr sz="1425" b="0" dirty="0" err="1">
                <a:solidFill>
                  <a:srgbClr val="69747D"/>
                </a:solidFill>
              </a:rPr>
              <a:t>Wirkstoff-Erklärungen</a:t>
            </a:r>
            <a:r>
              <a:rPr sz="1425" b="0" dirty="0">
                <a:solidFill>
                  <a:srgbClr val="69747D"/>
                </a:solidFill>
              </a:rPr>
              <a:t> · </a:t>
            </a:r>
            <a:r>
              <a:rPr sz="1425" b="0" dirty="0" err="1">
                <a:solidFill>
                  <a:srgbClr val="69747D"/>
                </a:solidFill>
              </a:rPr>
              <a:t>SmartSupp-Fazit</a:t>
            </a:r>
            <a:endParaRPr sz="1425" b="0" dirty="0">
              <a:solidFill>
                <a:srgbClr val="69747D"/>
              </a:solidFill>
            </a:endParaRPr>
          </a:p>
        </p:txBody>
      </p:sp>
      <p:sp>
        <p:nvSpPr>
          <p:cNvPr id="10" name="Rechteck 9">
            <a:extLst>
              <a:ext uri="{FF2B5EF4-FFF2-40B4-BE49-F238E27FC236}">
                <a16:creationId xmlns:a16="http://schemas.microsoft.com/office/drawing/2014/main" id="{10F00E22-D0EE-4A2F-AC80-28F35D1E0D77}"/>
              </a:ext>
            </a:extLst>
          </p:cNvPr>
          <p:cNvSpPr>
            <a:spLocks noGrp="1"/>
          </p:cNvSpPr>
          <p:nvPr/>
        </p:nvSpPr>
        <p:spPr>
          <a:xfrm>
            <a:off x="6038850" y="2349408"/>
            <a:ext cx="1524000" cy="266700"/>
          </a:xfrm>
          <a:prstGeom prst="rect">
            <a:avLst/>
          </a:prstGeom>
          <a:noFill/>
          <a:ln w="0">
            <a:noFill/>
            <a:prstDash val="solid"/>
          </a:ln>
        </p:spPr>
        <p:txBody>
          <a:bodyPr/>
          <a:lstStyle/>
          <a:p>
            <a:pPr>
              <a:defRPr sz="1350" b="1">
                <a:solidFill>
                  <a:srgbClr val="2980B9"/>
                </a:solidFill>
              </a:defRPr>
            </a:pPr>
            <a:r>
              <a:rPr sz="1350" b="1" dirty="0">
                <a:solidFill>
                  <a:srgbClr val="2980B9"/>
                </a:solidFill>
              </a:rPr>
              <a:t>TAB 2</a:t>
            </a:r>
          </a:p>
        </p:txBody>
      </p:sp>
      <p:sp>
        <p:nvSpPr>
          <p:cNvPr id="11" name="Rechteck 10">
            <a:extLst>
              <a:ext uri="{FF2B5EF4-FFF2-40B4-BE49-F238E27FC236}">
                <a16:creationId xmlns:a16="http://schemas.microsoft.com/office/drawing/2014/main" id="{09A4417B-86C8-4938-A261-009F87BB0B8B}"/>
              </a:ext>
            </a:extLst>
          </p:cNvPr>
          <p:cNvSpPr>
            <a:spLocks noGrp="1"/>
          </p:cNvSpPr>
          <p:nvPr/>
        </p:nvSpPr>
        <p:spPr>
          <a:xfrm>
            <a:off x="6038850" y="2749458"/>
            <a:ext cx="4572000" cy="18000"/>
          </a:xfrm>
          <a:prstGeom prst="rect">
            <a:avLst/>
          </a:prstGeom>
          <a:solidFill>
            <a:srgbClr val="DCE2E6"/>
          </a:solidFill>
          <a:ln w="0">
            <a:noFill/>
            <a:prstDash val="solid"/>
          </a:ln>
        </p:spPr>
        <p:txBody>
          <a:bodyPr/>
          <a:lstStyle/>
          <a:p>
            <a:endParaRPr lang="de-DE" dirty="0"/>
          </a:p>
        </p:txBody>
      </p:sp>
      <p:sp>
        <p:nvSpPr>
          <p:cNvPr id="12" name="Rechteck 11">
            <a:extLst>
              <a:ext uri="{FF2B5EF4-FFF2-40B4-BE49-F238E27FC236}">
                <a16:creationId xmlns:a16="http://schemas.microsoft.com/office/drawing/2014/main" id="{BFA8AAB2-DE2C-41FE-9DB9-7C8EE8B83E30}"/>
              </a:ext>
            </a:extLst>
          </p:cNvPr>
          <p:cNvSpPr>
            <a:spLocks noGrp="1"/>
          </p:cNvSpPr>
          <p:nvPr/>
        </p:nvSpPr>
        <p:spPr>
          <a:xfrm>
            <a:off x="6038850" y="3092358"/>
            <a:ext cx="4191000" cy="361950"/>
          </a:xfrm>
          <a:prstGeom prst="rect">
            <a:avLst/>
          </a:prstGeom>
          <a:noFill/>
          <a:ln w="0">
            <a:noFill/>
            <a:prstDash val="solid"/>
          </a:ln>
        </p:spPr>
        <p:txBody>
          <a:bodyPr/>
          <a:lstStyle/>
          <a:p>
            <a:pPr>
              <a:defRPr sz="2025" b="1">
                <a:solidFill>
                  <a:srgbClr val="26323B"/>
                </a:solidFill>
              </a:defRPr>
            </a:pPr>
            <a:r>
              <a:rPr lang="de-DE" sz="2025" b="1" dirty="0">
                <a:solidFill>
                  <a:srgbClr val="26323B"/>
                </a:solidFill>
              </a:rPr>
              <a:t>Fortschritts-Tracker</a:t>
            </a:r>
            <a:endParaRPr sz="2025" b="1" dirty="0">
              <a:solidFill>
                <a:srgbClr val="26323B"/>
              </a:solidFill>
            </a:endParaRPr>
          </a:p>
        </p:txBody>
      </p:sp>
      <p:sp>
        <p:nvSpPr>
          <p:cNvPr id="13" name="Rechteck 12">
            <a:extLst>
              <a:ext uri="{FF2B5EF4-FFF2-40B4-BE49-F238E27FC236}">
                <a16:creationId xmlns:a16="http://schemas.microsoft.com/office/drawing/2014/main" id="{FE85DF99-3831-45EE-949E-8EA7C251DBC9}"/>
              </a:ext>
            </a:extLst>
          </p:cNvPr>
          <p:cNvSpPr>
            <a:spLocks noGrp="1"/>
          </p:cNvSpPr>
          <p:nvPr/>
        </p:nvSpPr>
        <p:spPr>
          <a:xfrm>
            <a:off x="6038850" y="3663858"/>
            <a:ext cx="4476750" cy="552450"/>
          </a:xfrm>
          <a:prstGeom prst="rect">
            <a:avLst/>
          </a:prstGeom>
          <a:noFill/>
          <a:ln w="0">
            <a:noFill/>
            <a:prstDash val="solid"/>
          </a:ln>
        </p:spPr>
        <p:txBody>
          <a:bodyPr/>
          <a:lstStyle/>
          <a:p>
            <a:pPr>
              <a:defRPr sz="1425" b="0">
                <a:solidFill>
                  <a:srgbClr val="69747D"/>
                </a:solidFill>
              </a:defRPr>
            </a:pPr>
            <a:r>
              <a:rPr sz="1425" b="0" dirty="0">
                <a:solidFill>
                  <a:srgbClr val="69747D"/>
                </a:solidFill>
              </a:rPr>
              <a:t>Soll-</a:t>
            </a:r>
            <a:r>
              <a:rPr sz="1425" b="0" dirty="0" err="1">
                <a:solidFill>
                  <a:srgbClr val="69747D"/>
                </a:solidFill>
              </a:rPr>
              <a:t>Ist</a:t>
            </a:r>
            <a:r>
              <a:rPr sz="1425" b="0" dirty="0">
                <a:solidFill>
                  <a:srgbClr val="69747D"/>
                </a:solidFill>
              </a:rPr>
              <a:t>-</a:t>
            </a:r>
            <a:r>
              <a:rPr sz="1425" b="0" dirty="0" err="1">
                <a:solidFill>
                  <a:srgbClr val="69747D"/>
                </a:solidFill>
              </a:rPr>
              <a:t>Gewichtsvergleich</a:t>
            </a:r>
            <a:r>
              <a:rPr sz="1425" b="0" dirty="0">
                <a:solidFill>
                  <a:srgbClr val="69747D"/>
                </a:solidFill>
              </a:rPr>
              <a:t> </a:t>
            </a:r>
          </a:p>
        </p:txBody>
      </p:sp>
      <p:sp>
        <p:nvSpPr>
          <p:cNvPr id="14" name="Rechteck 13">
            <a:extLst>
              <a:ext uri="{FF2B5EF4-FFF2-40B4-BE49-F238E27FC236}">
                <a16:creationId xmlns:a16="http://schemas.microsoft.com/office/drawing/2014/main" id="{F1271EC2-F63B-41F9-B9B5-4D60ACCF7BA1}"/>
              </a:ext>
            </a:extLst>
          </p:cNvPr>
          <p:cNvSpPr>
            <a:spLocks noGrp="1"/>
          </p:cNvSpPr>
          <p:nvPr/>
        </p:nvSpPr>
        <p:spPr>
          <a:xfrm>
            <a:off x="685800" y="5064032"/>
            <a:ext cx="10820400" cy="18000"/>
          </a:xfrm>
          <a:prstGeom prst="rect">
            <a:avLst/>
          </a:prstGeom>
          <a:solidFill>
            <a:srgbClr val="DCE2E6"/>
          </a:solidFill>
          <a:ln w="0">
            <a:noFill/>
            <a:prstDash val="solid"/>
          </a:ln>
        </p:spPr>
        <p:txBody>
          <a:bodyPr/>
          <a:lstStyle/>
          <a:p>
            <a:endParaRPr lang="de-DE" dirty="0"/>
          </a:p>
        </p:txBody>
      </p:sp>
      <p:sp>
        <p:nvSpPr>
          <p:cNvPr id="15" name="Rechteck 14">
            <a:extLst>
              <a:ext uri="{FF2B5EF4-FFF2-40B4-BE49-F238E27FC236}">
                <a16:creationId xmlns:a16="http://schemas.microsoft.com/office/drawing/2014/main" id="{A4862E63-B7EC-4A76-A4A2-6BCD763A4FC8}"/>
              </a:ext>
            </a:extLst>
          </p:cNvPr>
          <p:cNvSpPr>
            <a:spLocks noGrp="1"/>
          </p:cNvSpPr>
          <p:nvPr/>
        </p:nvSpPr>
        <p:spPr>
          <a:xfrm>
            <a:off x="685800" y="5245008"/>
            <a:ext cx="10477500" cy="361950"/>
          </a:xfrm>
          <a:prstGeom prst="rect">
            <a:avLst/>
          </a:prstGeom>
          <a:noFill/>
          <a:ln w="0">
            <a:noFill/>
            <a:prstDash val="solid"/>
          </a:ln>
        </p:spPr>
        <p:txBody>
          <a:bodyPr/>
          <a:lstStyle/>
          <a:p>
            <a:pPr>
              <a:defRPr sz="1275" b="0">
                <a:solidFill>
                  <a:srgbClr val="69747D"/>
                </a:solidFill>
              </a:defRPr>
            </a:pPr>
            <a:r>
              <a:rPr sz="1275" b="0" dirty="0">
                <a:solidFill>
                  <a:srgbClr val="69747D"/>
                </a:solidFill>
              </a:rPr>
              <a:t>Flexibles Tracking: </a:t>
            </a:r>
            <a:r>
              <a:rPr sz="1275" b="0" dirty="0" err="1">
                <a:solidFill>
                  <a:srgbClr val="69747D"/>
                </a:solidFill>
              </a:rPr>
              <a:t>Makros</a:t>
            </a:r>
            <a:r>
              <a:rPr sz="1275" b="0" dirty="0">
                <a:solidFill>
                  <a:srgbClr val="69747D"/>
                </a:solidFill>
              </a:rPr>
              <a:t> </a:t>
            </a:r>
            <a:r>
              <a:rPr sz="1275" b="0" dirty="0" err="1">
                <a:solidFill>
                  <a:srgbClr val="69747D"/>
                </a:solidFill>
              </a:rPr>
              <a:t>bei</a:t>
            </a:r>
            <a:r>
              <a:rPr sz="1275" b="0" dirty="0">
                <a:solidFill>
                  <a:srgbClr val="69747D"/>
                </a:solidFill>
              </a:rPr>
              <a:t> </a:t>
            </a:r>
            <a:r>
              <a:rPr sz="1275" b="0" dirty="0" err="1">
                <a:solidFill>
                  <a:srgbClr val="69747D"/>
                </a:solidFill>
              </a:rPr>
              <a:t>ungenauem</a:t>
            </a:r>
            <a:r>
              <a:rPr sz="1275" b="0" dirty="0">
                <a:solidFill>
                  <a:srgbClr val="69747D"/>
                </a:solidFill>
              </a:rPr>
              <a:t> Tracking </a:t>
            </a:r>
            <a:r>
              <a:rPr sz="1275" b="0" dirty="0" err="1">
                <a:solidFill>
                  <a:srgbClr val="69747D"/>
                </a:solidFill>
              </a:rPr>
              <a:t>ausblenden</a:t>
            </a:r>
            <a:r>
              <a:rPr sz="1275" b="0" dirty="0">
                <a:solidFill>
                  <a:srgbClr val="69747D"/>
                </a:solidFill>
              </a:rPr>
              <a:t>; </a:t>
            </a:r>
            <a:r>
              <a:rPr sz="1275" b="0" dirty="0" err="1">
                <a:solidFill>
                  <a:srgbClr val="69747D"/>
                </a:solidFill>
              </a:rPr>
              <a:t>Mittelwerte</a:t>
            </a:r>
            <a:r>
              <a:rPr sz="1275" b="0" dirty="0">
                <a:solidFill>
                  <a:srgbClr val="69747D"/>
                </a:solidFill>
              </a:rPr>
              <a:t> </a:t>
            </a:r>
            <a:r>
              <a:rPr sz="1275" b="0" dirty="0" err="1">
                <a:solidFill>
                  <a:srgbClr val="69747D"/>
                </a:solidFill>
              </a:rPr>
              <a:t>sichern</a:t>
            </a:r>
            <a:r>
              <a:rPr sz="1275" b="0" dirty="0">
                <a:solidFill>
                  <a:srgbClr val="69747D"/>
                </a:solidFill>
              </a:rPr>
              <a:t> </a:t>
            </a:r>
            <a:r>
              <a:rPr sz="1275" b="0" dirty="0" err="1">
                <a:solidFill>
                  <a:srgbClr val="69747D"/>
                </a:solidFill>
              </a:rPr>
              <a:t>Stabilität</a:t>
            </a:r>
            <a:r>
              <a:rPr sz="1275" b="0" dirty="0">
                <a:solidFill>
                  <a:srgbClr val="69747D"/>
                </a:solidFill>
              </a:rPr>
              <a:t>. Multi-Select </a:t>
            </a:r>
            <a:r>
              <a:rPr sz="1275" b="0" dirty="0" err="1">
                <a:solidFill>
                  <a:srgbClr val="69747D"/>
                </a:solidFill>
              </a:rPr>
              <a:t>bewertet</a:t>
            </a:r>
            <a:r>
              <a:rPr sz="1275" b="0" dirty="0">
                <a:solidFill>
                  <a:srgbClr val="69747D"/>
                </a:solidFill>
              </a:rPr>
              <a:t> </a:t>
            </a:r>
            <a:r>
              <a:rPr sz="1275" b="0" dirty="0" err="1">
                <a:solidFill>
                  <a:srgbClr val="69747D"/>
                </a:solidFill>
              </a:rPr>
              <a:t>mehrere</a:t>
            </a:r>
            <a:r>
              <a:rPr sz="1275" b="0" dirty="0">
                <a:solidFill>
                  <a:srgbClr val="69747D"/>
                </a:solidFill>
              </a:rPr>
              <a:t> Supplements parallel.</a:t>
            </a:r>
          </a:p>
        </p:txBody>
      </p:sp>
    </p:spTree>
    <p:extLst>
      <p:ext uri="{BB962C8B-B14F-4D97-AF65-F5344CB8AC3E}">
        <p14:creationId xmlns:p14="http://schemas.microsoft.com/office/powerpoint/2010/main" val="1483244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phase">
            <a:extLst>
              <a:ext uri="{FF2B5EF4-FFF2-40B4-BE49-F238E27FC236}">
                <a16:creationId xmlns:a16="http://schemas.microsoft.com/office/drawing/2014/main" id="{AC65DB7A-66D9-4298-B3BE-81D37DD77A97}"/>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K · Knowledge Transfer</a:t>
            </a:r>
          </a:p>
        </p:txBody>
      </p:sp>
      <p:sp>
        <p:nvSpPr>
          <p:cNvPr id="2" name="Rechteck 1">
            <a:extLst>
              <a:ext uri="{FF2B5EF4-FFF2-40B4-BE49-F238E27FC236}">
                <a16:creationId xmlns:a16="http://schemas.microsoft.com/office/drawing/2014/main" id="{4E7113DF-4451-402E-9BE5-F4A8C3C08183}"/>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5109BB5A-2206-4E52-A143-FA82267C48A5}"/>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F84FBDD5-6532-4AB2-9AA7-A3F08F7BDC8E}"/>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2</a:t>
            </a:r>
            <a:r>
              <a:rPr lang="de-DE" sz="750" b="1" dirty="0">
                <a:solidFill>
                  <a:srgbClr val="69747D"/>
                </a:solidFill>
              </a:rPr>
              <a:t>1</a:t>
            </a:r>
            <a:endParaRPr sz="750" b="1" dirty="0">
              <a:solidFill>
                <a:srgbClr val="69747D"/>
              </a:solidFill>
            </a:endParaRPr>
          </a:p>
        </p:txBody>
      </p:sp>
      <p:sp>
        <p:nvSpPr>
          <p:cNvPr id="5" name="slide-title">
            <a:extLst>
              <a:ext uri="{FF2B5EF4-FFF2-40B4-BE49-F238E27FC236}">
                <a16:creationId xmlns:a16="http://schemas.microsoft.com/office/drawing/2014/main" id="{46EE19A2-EC59-4106-8AC4-F1D3E174F8D7}"/>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sz="2700" b="1" dirty="0">
                <a:solidFill>
                  <a:srgbClr val="26323B"/>
                </a:solidFill>
              </a:rPr>
              <a:t>Die Live-Demo in Aktion: Tab 1 &amp; Tab 2</a:t>
            </a:r>
          </a:p>
        </p:txBody>
      </p:sp>
      <p:sp>
        <p:nvSpPr>
          <p:cNvPr id="14" name="Rectangle 13"/>
          <p:cNvSpPr/>
          <p:nvPr/>
        </p:nvSpPr>
        <p:spPr>
          <a:xfrm>
            <a:off x="5943600" y="1783080"/>
            <a:ext cx="9525" cy="3840480"/>
          </a:xfrm>
          <a:prstGeom prst="rect">
            <a:avLst/>
          </a:prstGeom>
          <a:solidFill>
            <a:srgbClr val="DC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1783080"/>
            <a:ext cx="4389120" cy="274320"/>
          </a:xfrm>
          <a:prstGeom prst="rect">
            <a:avLst/>
          </a:prstGeom>
          <a:noFill/>
        </p:spPr>
        <p:txBody>
          <a:bodyPr wrap="square">
            <a:spAutoFit/>
          </a:bodyPr>
          <a:lstStyle/>
          <a:p>
            <a:pPr algn="l"/>
            <a:r>
              <a:rPr sz="1125" b="1">
                <a:solidFill>
                  <a:srgbClr val="2980B9"/>
                </a:solidFill>
                <a:latin typeface="Calibri"/>
              </a:rPr>
              <a:t>TAB 1 · SUPPLEMENT-EMPFEHLUNG</a:t>
            </a:r>
          </a:p>
        </p:txBody>
      </p:sp>
      <p:sp>
        <p:nvSpPr>
          <p:cNvPr id="16" name="TextBox 15"/>
          <p:cNvSpPr txBox="1"/>
          <p:nvPr/>
        </p:nvSpPr>
        <p:spPr>
          <a:xfrm>
            <a:off x="6172200" y="1783080"/>
            <a:ext cx="4754880" cy="274320"/>
          </a:xfrm>
          <a:prstGeom prst="rect">
            <a:avLst/>
          </a:prstGeom>
          <a:noFill/>
        </p:spPr>
        <p:txBody>
          <a:bodyPr wrap="square">
            <a:spAutoFit/>
          </a:bodyPr>
          <a:lstStyle/>
          <a:p>
            <a:pPr algn="l"/>
            <a:r>
              <a:rPr sz="1125" b="1">
                <a:solidFill>
                  <a:srgbClr val="2980B9"/>
                </a:solidFill>
                <a:latin typeface="Calibri"/>
              </a:rPr>
              <a:t>TAB 2 · FORTSCHRITTS-TRACKING</a:t>
            </a:r>
          </a:p>
        </p:txBody>
      </p:sp>
      <p:sp>
        <p:nvSpPr>
          <p:cNvPr id="17" name="Rounded Rectangle 16"/>
          <p:cNvSpPr/>
          <p:nvPr/>
        </p:nvSpPr>
        <p:spPr>
          <a:xfrm>
            <a:off x="557784" y="2203703"/>
            <a:ext cx="4973504" cy="2999232"/>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p:cNvPicPr>
            <a:picLocks noChangeAspect="1"/>
          </p:cNvPicPr>
          <p:nvPr/>
        </p:nvPicPr>
        <p:blipFill>
          <a:blip r:embed="rId2">
            <a:extLst>
              <a:ext uri="{28A0092B-C50C-407E-A947-70E740481C1C}">
                <a14:useLocalDpi xmlns:a14="http://schemas.microsoft.com/office/drawing/2010/main" val="0"/>
              </a:ext>
            </a:extLst>
          </a:blip>
          <a:srcRect/>
          <a:stretch/>
        </p:blipFill>
        <p:spPr>
          <a:xfrm>
            <a:off x="685800" y="2331720"/>
            <a:ext cx="4717472" cy="2743199"/>
          </a:xfrm>
          <a:prstGeom prst="rect">
            <a:avLst/>
          </a:prstGeom>
        </p:spPr>
      </p:pic>
      <p:sp>
        <p:nvSpPr>
          <p:cNvPr id="19" name="TextBox 18"/>
          <p:cNvSpPr txBox="1"/>
          <p:nvPr/>
        </p:nvSpPr>
        <p:spPr>
          <a:xfrm>
            <a:off x="685800" y="5349240"/>
            <a:ext cx="4754880" cy="1005840"/>
          </a:xfrm>
          <a:prstGeom prst="rect">
            <a:avLst/>
          </a:prstGeom>
          <a:noFill/>
        </p:spPr>
        <p:txBody>
          <a:bodyPr wrap="square">
            <a:spAutoFit/>
          </a:bodyPr>
          <a:lstStyle/>
          <a:p>
            <a:pPr algn="l"/>
            <a:r>
              <a:rPr sz="1200" b="0">
                <a:solidFill>
                  <a:srgbClr val="69747D"/>
                </a:solidFill>
                <a:latin typeface="Calibri"/>
              </a:rPr>
              <a:t>Drei Top-Empfehlungen mit Erfolgschance und kurzer Wirkstoff-Erklärung – live berechnet aus dem Sidebar-Profil.</a:t>
            </a:r>
          </a:p>
        </p:txBody>
      </p:sp>
      <p:sp>
        <p:nvSpPr>
          <p:cNvPr id="20" name="Rounded Rectangle 19"/>
          <p:cNvSpPr/>
          <p:nvPr/>
        </p:nvSpPr>
        <p:spPr>
          <a:xfrm>
            <a:off x="6044184" y="2203703"/>
            <a:ext cx="5488858" cy="2999232"/>
          </a:xfrm>
          <a:prstGeom prst="roundRect">
            <a:avLst>
              <a:gd name="adj" fmla="val 4500"/>
            </a:avLst>
          </a:prstGeom>
          <a:solidFill>
            <a:srgbClr val="F5F7F8"/>
          </a:solidFill>
          <a:ln w="12700">
            <a:solidFill>
              <a:srgbClr val="DCE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rcRect/>
          <a:stretch/>
        </p:blipFill>
        <p:spPr>
          <a:xfrm>
            <a:off x="6172200" y="2331720"/>
            <a:ext cx="5232826" cy="2743199"/>
          </a:xfrm>
          <a:prstGeom prst="rect">
            <a:avLst/>
          </a:prstGeom>
        </p:spPr>
      </p:pic>
      <p:sp>
        <p:nvSpPr>
          <p:cNvPr id="22" name="TextBox 21"/>
          <p:cNvSpPr txBox="1"/>
          <p:nvPr/>
        </p:nvSpPr>
        <p:spPr>
          <a:xfrm>
            <a:off x="6172200" y="5349240"/>
            <a:ext cx="5120640" cy="1005840"/>
          </a:xfrm>
          <a:prstGeom prst="rect">
            <a:avLst/>
          </a:prstGeom>
          <a:noFill/>
        </p:spPr>
        <p:txBody>
          <a:bodyPr wrap="square">
            <a:spAutoFit/>
          </a:bodyPr>
          <a:lstStyle/>
          <a:p>
            <a:pPr algn="l"/>
            <a:r>
              <a:rPr sz="1200" b="0">
                <a:solidFill>
                  <a:srgbClr val="69747D"/>
                </a:solidFill>
                <a:latin typeface="Calibri"/>
              </a:rPr>
              <a:t>Soll-Ist-Vergleich des Gewichts plus automatischer Dosierungs-Check (z. B. Kreatin- und Protein-Zielbereich).</a:t>
            </a:r>
          </a:p>
        </p:txBody>
      </p:sp>
    </p:spTree>
    <p:extLst>
      <p:ext uri="{BB962C8B-B14F-4D97-AF65-F5344CB8AC3E}">
        <p14:creationId xmlns:p14="http://schemas.microsoft.com/office/powerpoint/2010/main" val="1979814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phase">
            <a:extLst>
              <a:ext uri="{FF2B5EF4-FFF2-40B4-BE49-F238E27FC236}">
                <a16:creationId xmlns:a16="http://schemas.microsoft.com/office/drawing/2014/main" id="{34D83403-8538-43BE-84C0-EB29623DE698}"/>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err="1">
                <a:solidFill>
                  <a:srgbClr val="2980B9"/>
                </a:solidFill>
              </a:rPr>
              <a:t>Fazit</a:t>
            </a:r>
            <a:endParaRPr sz="975" b="1" dirty="0">
              <a:solidFill>
                <a:srgbClr val="2980B9"/>
              </a:solidFill>
            </a:endParaRPr>
          </a:p>
        </p:txBody>
      </p:sp>
      <p:sp>
        <p:nvSpPr>
          <p:cNvPr id="2" name="Rechteck 1">
            <a:extLst>
              <a:ext uri="{FF2B5EF4-FFF2-40B4-BE49-F238E27FC236}">
                <a16:creationId xmlns:a16="http://schemas.microsoft.com/office/drawing/2014/main" id="{55EEBDC1-5040-4B5A-AA71-7003E5803625}"/>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FFCC1A3F-E652-4187-ABC7-3C57F0557247}"/>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10E0AA6B-88DD-477C-AD53-E73A23341704}"/>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2</a:t>
            </a:r>
            <a:r>
              <a:rPr lang="de-DE" sz="750" b="1" dirty="0">
                <a:solidFill>
                  <a:srgbClr val="69747D"/>
                </a:solidFill>
              </a:rPr>
              <a:t>2</a:t>
            </a:r>
            <a:endParaRPr sz="750" b="1" dirty="0">
              <a:solidFill>
                <a:srgbClr val="69747D"/>
              </a:solidFill>
            </a:endParaRPr>
          </a:p>
        </p:txBody>
      </p:sp>
      <p:sp>
        <p:nvSpPr>
          <p:cNvPr id="5" name="slide-title">
            <a:extLst>
              <a:ext uri="{FF2B5EF4-FFF2-40B4-BE49-F238E27FC236}">
                <a16:creationId xmlns:a16="http://schemas.microsoft.com/office/drawing/2014/main" id="{0CE8E761-D58F-4F6D-8E39-11B5F14C5A71}"/>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lang="de-DE" sz="2700" b="1" dirty="0">
                <a:solidFill>
                  <a:srgbClr val="26323B"/>
                </a:solidFill>
              </a:rPr>
              <a:t>Fazit: Evidenz vor Marketing</a:t>
            </a:r>
            <a:endParaRPr sz="2700" b="1" dirty="0">
              <a:solidFill>
                <a:srgbClr val="26323B"/>
              </a:solidFill>
            </a:endParaRPr>
          </a:p>
        </p:txBody>
      </p:sp>
      <p:sp>
        <p:nvSpPr>
          <p:cNvPr id="6" name="slide-subtitle">
            <a:extLst>
              <a:ext uri="{FF2B5EF4-FFF2-40B4-BE49-F238E27FC236}">
                <a16:creationId xmlns:a16="http://schemas.microsoft.com/office/drawing/2014/main" id="{F1818E3C-6F57-40AC-931E-4BE3E51435C8}"/>
              </a:ext>
            </a:extLst>
          </p:cNvPr>
          <p:cNvSpPr>
            <a:spLocks noGrp="1"/>
          </p:cNvSpPr>
          <p:nvPr/>
        </p:nvSpPr>
        <p:spPr>
          <a:xfrm>
            <a:off x="685800" y="1581150"/>
            <a:ext cx="9144000" cy="304800"/>
          </a:xfrm>
          <a:prstGeom prst="rect">
            <a:avLst/>
          </a:prstGeom>
          <a:noFill/>
          <a:ln w="0">
            <a:noFill/>
            <a:prstDash val="solid"/>
          </a:ln>
        </p:spPr>
        <p:txBody>
          <a:bodyPr/>
          <a:lstStyle/>
          <a:p>
            <a:pPr>
              <a:defRPr sz="1350" b="0">
                <a:solidFill>
                  <a:srgbClr val="69747D"/>
                </a:solidFill>
              </a:defRPr>
            </a:pPr>
            <a:r>
              <a:rPr sz="1350" b="0" dirty="0">
                <a:solidFill>
                  <a:srgbClr val="69747D"/>
                </a:solidFill>
              </a:rPr>
              <a:t>Der QUA³CK-Zyklus </a:t>
            </a:r>
            <a:r>
              <a:rPr sz="1350" b="0" dirty="0" err="1">
                <a:solidFill>
                  <a:srgbClr val="69747D"/>
                </a:solidFill>
              </a:rPr>
              <a:t>liefert</a:t>
            </a:r>
            <a:r>
              <a:rPr sz="1350" b="0" dirty="0">
                <a:solidFill>
                  <a:srgbClr val="69747D"/>
                </a:solidFill>
              </a:rPr>
              <a:t> </a:t>
            </a:r>
            <a:r>
              <a:rPr sz="1350" b="0" dirty="0" err="1">
                <a:solidFill>
                  <a:srgbClr val="69747D"/>
                </a:solidFill>
              </a:rPr>
              <a:t>einen</a:t>
            </a:r>
            <a:r>
              <a:rPr sz="1350" b="0" dirty="0">
                <a:solidFill>
                  <a:srgbClr val="69747D"/>
                </a:solidFill>
              </a:rPr>
              <a:t> </a:t>
            </a:r>
            <a:r>
              <a:rPr sz="1350" b="0" dirty="0" err="1">
                <a:solidFill>
                  <a:srgbClr val="69747D"/>
                </a:solidFill>
              </a:rPr>
              <a:t>robusten</a:t>
            </a:r>
            <a:r>
              <a:rPr sz="1350" b="0" dirty="0">
                <a:solidFill>
                  <a:srgbClr val="69747D"/>
                </a:solidFill>
              </a:rPr>
              <a:t>, </a:t>
            </a:r>
            <a:r>
              <a:rPr sz="1350" b="0" dirty="0" err="1">
                <a:solidFill>
                  <a:srgbClr val="69747D"/>
                </a:solidFill>
              </a:rPr>
              <a:t>praxisnahen</a:t>
            </a:r>
            <a:r>
              <a:rPr sz="1350" b="0" dirty="0">
                <a:solidFill>
                  <a:srgbClr val="69747D"/>
                </a:solidFill>
              </a:rPr>
              <a:t> </a:t>
            </a:r>
            <a:r>
              <a:rPr sz="1350" b="0" dirty="0" err="1">
                <a:solidFill>
                  <a:srgbClr val="69747D"/>
                </a:solidFill>
              </a:rPr>
              <a:t>Prototyp</a:t>
            </a:r>
            <a:r>
              <a:rPr sz="1350" b="0" dirty="0">
                <a:solidFill>
                  <a:srgbClr val="69747D"/>
                </a:solidFill>
              </a:rPr>
              <a:t>.</a:t>
            </a:r>
          </a:p>
        </p:txBody>
      </p:sp>
      <p:sp>
        <p:nvSpPr>
          <p:cNvPr id="7" name="Rechteck 6">
            <a:extLst>
              <a:ext uri="{FF2B5EF4-FFF2-40B4-BE49-F238E27FC236}">
                <a16:creationId xmlns:a16="http://schemas.microsoft.com/office/drawing/2014/main" id="{65FEF8FC-9939-4B31-AA04-3E7149DEC72E}"/>
              </a:ext>
            </a:extLst>
          </p:cNvPr>
          <p:cNvSpPr>
            <a:spLocks noGrp="1"/>
          </p:cNvSpPr>
          <p:nvPr/>
        </p:nvSpPr>
        <p:spPr>
          <a:xfrm>
            <a:off x="685800" y="2562225"/>
            <a:ext cx="666750" cy="495300"/>
          </a:xfrm>
          <a:prstGeom prst="rect">
            <a:avLst/>
          </a:prstGeom>
          <a:noFill/>
          <a:ln w="0">
            <a:noFill/>
            <a:prstDash val="solid"/>
          </a:ln>
        </p:spPr>
        <p:txBody>
          <a:bodyPr/>
          <a:lstStyle/>
          <a:p>
            <a:pPr>
              <a:defRPr sz="2925" b="1">
                <a:solidFill>
                  <a:srgbClr val="2980B9"/>
                </a:solidFill>
              </a:defRPr>
            </a:pPr>
            <a:r>
              <a:rPr sz="2925" b="1" dirty="0">
                <a:solidFill>
                  <a:srgbClr val="2980B9"/>
                </a:solidFill>
              </a:rPr>
              <a:t>01</a:t>
            </a:r>
          </a:p>
        </p:txBody>
      </p:sp>
      <p:sp>
        <p:nvSpPr>
          <p:cNvPr id="8" name="Rechteck 7">
            <a:extLst>
              <a:ext uri="{FF2B5EF4-FFF2-40B4-BE49-F238E27FC236}">
                <a16:creationId xmlns:a16="http://schemas.microsoft.com/office/drawing/2014/main" id="{B84E63A8-FA44-4692-8102-B761DB4B9833}"/>
              </a:ext>
            </a:extLst>
          </p:cNvPr>
          <p:cNvSpPr>
            <a:spLocks noGrp="1"/>
          </p:cNvSpPr>
          <p:nvPr/>
        </p:nvSpPr>
        <p:spPr>
          <a:xfrm>
            <a:off x="685800" y="3362325"/>
            <a:ext cx="3143250" cy="3238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Transparenz</a:t>
            </a:r>
            <a:endParaRPr sz="1650" b="1" dirty="0">
              <a:solidFill>
                <a:srgbClr val="26323B"/>
              </a:solidFill>
            </a:endParaRPr>
          </a:p>
        </p:txBody>
      </p:sp>
      <p:sp>
        <p:nvSpPr>
          <p:cNvPr id="9" name="Rechteck 8">
            <a:extLst>
              <a:ext uri="{FF2B5EF4-FFF2-40B4-BE49-F238E27FC236}">
                <a16:creationId xmlns:a16="http://schemas.microsoft.com/office/drawing/2014/main" id="{35A313C0-991E-4EE5-9715-E82A51B8E39F}"/>
              </a:ext>
            </a:extLst>
          </p:cNvPr>
          <p:cNvSpPr>
            <a:spLocks noGrp="1"/>
          </p:cNvSpPr>
          <p:nvPr/>
        </p:nvSpPr>
        <p:spPr>
          <a:xfrm>
            <a:off x="685800" y="3895725"/>
            <a:ext cx="3278698" cy="666750"/>
          </a:xfrm>
          <a:prstGeom prst="rect">
            <a:avLst/>
          </a:prstGeom>
          <a:noFill/>
          <a:ln w="0">
            <a:noFill/>
            <a:prstDash val="solid"/>
          </a:ln>
        </p:spPr>
        <p:txBody>
          <a:bodyPr/>
          <a:lstStyle/>
          <a:p>
            <a:pPr>
              <a:defRPr sz="1425" b="0">
                <a:solidFill>
                  <a:srgbClr val="69747D"/>
                </a:solidFill>
              </a:defRPr>
            </a:pPr>
            <a:r>
              <a:rPr sz="1425" b="0" dirty="0">
                <a:solidFill>
                  <a:srgbClr val="69747D"/>
                </a:solidFill>
              </a:rPr>
              <a:t>2</a:t>
            </a:r>
            <a:r>
              <a:rPr lang="de-DE" sz="1425" b="0" dirty="0">
                <a:solidFill>
                  <a:srgbClr val="69747D"/>
                </a:solidFill>
              </a:rPr>
              <a:t>8,5</a:t>
            </a:r>
            <a:r>
              <a:rPr sz="1425" b="0" dirty="0">
                <a:solidFill>
                  <a:srgbClr val="69747D"/>
                </a:solidFill>
              </a:rPr>
              <a:t> % Accuracy und </a:t>
            </a:r>
            <a:r>
              <a:rPr sz="1425" b="0" dirty="0" err="1">
                <a:solidFill>
                  <a:srgbClr val="69747D"/>
                </a:solidFill>
              </a:rPr>
              <a:t>negativer</a:t>
            </a:r>
            <a:r>
              <a:rPr sz="1425" b="0" dirty="0">
                <a:solidFill>
                  <a:srgbClr val="69747D"/>
                </a:solidFill>
              </a:rPr>
              <a:t> R² </a:t>
            </a:r>
            <a:r>
              <a:rPr sz="1425" b="0" dirty="0" err="1">
                <a:solidFill>
                  <a:srgbClr val="69747D"/>
                </a:solidFill>
              </a:rPr>
              <a:t>werden</a:t>
            </a:r>
            <a:r>
              <a:rPr sz="1425" b="0" dirty="0">
                <a:solidFill>
                  <a:srgbClr val="69747D"/>
                </a:solidFill>
              </a:rPr>
              <a:t> </a:t>
            </a:r>
            <a:r>
              <a:rPr sz="1425" b="0" dirty="0" err="1">
                <a:solidFill>
                  <a:srgbClr val="69747D"/>
                </a:solidFill>
              </a:rPr>
              <a:t>offen</a:t>
            </a:r>
            <a:r>
              <a:rPr sz="1425" b="0" dirty="0">
                <a:solidFill>
                  <a:srgbClr val="69747D"/>
                </a:solidFill>
              </a:rPr>
              <a:t> </a:t>
            </a:r>
            <a:r>
              <a:rPr sz="1425" b="0" dirty="0" err="1">
                <a:solidFill>
                  <a:srgbClr val="69747D"/>
                </a:solidFill>
              </a:rPr>
              <a:t>als</a:t>
            </a:r>
            <a:r>
              <a:rPr sz="1425" b="0" dirty="0">
                <a:solidFill>
                  <a:srgbClr val="69747D"/>
                </a:solidFill>
              </a:rPr>
              <a:t> </a:t>
            </a:r>
            <a:r>
              <a:rPr sz="1425" b="0" dirty="0" err="1">
                <a:solidFill>
                  <a:srgbClr val="69747D"/>
                </a:solidFill>
              </a:rPr>
              <a:t>Modellgrenzen</a:t>
            </a:r>
            <a:r>
              <a:rPr sz="1425" b="0" dirty="0">
                <a:solidFill>
                  <a:srgbClr val="69747D"/>
                </a:solidFill>
              </a:rPr>
              <a:t> </a:t>
            </a:r>
            <a:r>
              <a:rPr sz="1425" b="0" dirty="0" err="1">
                <a:solidFill>
                  <a:srgbClr val="69747D"/>
                </a:solidFill>
              </a:rPr>
              <a:t>gezeigt</a:t>
            </a:r>
            <a:r>
              <a:rPr sz="1425" b="0" dirty="0">
                <a:solidFill>
                  <a:srgbClr val="69747D"/>
                </a:solidFill>
              </a:rPr>
              <a:t>.</a:t>
            </a:r>
          </a:p>
        </p:txBody>
      </p:sp>
      <p:sp>
        <p:nvSpPr>
          <p:cNvPr id="10" name="Rechteck 9">
            <a:extLst>
              <a:ext uri="{FF2B5EF4-FFF2-40B4-BE49-F238E27FC236}">
                <a16:creationId xmlns:a16="http://schemas.microsoft.com/office/drawing/2014/main" id="{3FD32A24-AFA5-45F0-BD41-2DB5ED227335}"/>
              </a:ext>
            </a:extLst>
          </p:cNvPr>
          <p:cNvSpPr>
            <a:spLocks noGrp="1"/>
          </p:cNvSpPr>
          <p:nvPr/>
        </p:nvSpPr>
        <p:spPr>
          <a:xfrm>
            <a:off x="4000499" y="2562225"/>
            <a:ext cx="18000" cy="1809750"/>
          </a:xfrm>
          <a:prstGeom prst="rect">
            <a:avLst/>
          </a:prstGeom>
          <a:solidFill>
            <a:srgbClr val="DCE2E6"/>
          </a:solidFill>
          <a:ln w="0">
            <a:noFill/>
            <a:prstDash val="solid"/>
          </a:ln>
        </p:spPr>
        <p:txBody>
          <a:bodyPr/>
          <a:lstStyle/>
          <a:p>
            <a:endParaRPr lang="de-DE" dirty="0"/>
          </a:p>
        </p:txBody>
      </p:sp>
      <p:sp>
        <p:nvSpPr>
          <p:cNvPr id="11" name="Rechteck 10">
            <a:extLst>
              <a:ext uri="{FF2B5EF4-FFF2-40B4-BE49-F238E27FC236}">
                <a16:creationId xmlns:a16="http://schemas.microsoft.com/office/drawing/2014/main" id="{7C6A621C-5CDB-4EE6-AC8E-9A73513B34DD}"/>
              </a:ext>
            </a:extLst>
          </p:cNvPr>
          <p:cNvSpPr>
            <a:spLocks noGrp="1"/>
          </p:cNvSpPr>
          <p:nvPr/>
        </p:nvSpPr>
        <p:spPr>
          <a:xfrm>
            <a:off x="4324350" y="2562225"/>
            <a:ext cx="666750" cy="495300"/>
          </a:xfrm>
          <a:prstGeom prst="rect">
            <a:avLst/>
          </a:prstGeom>
          <a:noFill/>
          <a:ln w="0">
            <a:noFill/>
            <a:prstDash val="solid"/>
          </a:ln>
        </p:spPr>
        <p:txBody>
          <a:bodyPr/>
          <a:lstStyle/>
          <a:p>
            <a:pPr>
              <a:defRPr sz="2925" b="1">
                <a:solidFill>
                  <a:srgbClr val="2980B9"/>
                </a:solidFill>
              </a:defRPr>
            </a:pPr>
            <a:r>
              <a:rPr sz="2925" b="1" dirty="0">
                <a:solidFill>
                  <a:srgbClr val="2980B9"/>
                </a:solidFill>
              </a:rPr>
              <a:t>02</a:t>
            </a:r>
          </a:p>
        </p:txBody>
      </p:sp>
      <p:sp>
        <p:nvSpPr>
          <p:cNvPr id="12" name="Rechteck 11">
            <a:extLst>
              <a:ext uri="{FF2B5EF4-FFF2-40B4-BE49-F238E27FC236}">
                <a16:creationId xmlns:a16="http://schemas.microsoft.com/office/drawing/2014/main" id="{BF878D65-59FB-421B-8115-1CDA105D4406}"/>
              </a:ext>
            </a:extLst>
          </p:cNvPr>
          <p:cNvSpPr>
            <a:spLocks noGrp="1"/>
          </p:cNvSpPr>
          <p:nvPr/>
        </p:nvSpPr>
        <p:spPr>
          <a:xfrm>
            <a:off x="4324350" y="3362325"/>
            <a:ext cx="3143250" cy="3238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Korrektur</a:t>
            </a:r>
            <a:endParaRPr sz="1650" b="1" dirty="0">
              <a:solidFill>
                <a:srgbClr val="26323B"/>
              </a:solidFill>
            </a:endParaRPr>
          </a:p>
        </p:txBody>
      </p:sp>
      <p:sp>
        <p:nvSpPr>
          <p:cNvPr id="13" name="Rechteck 12">
            <a:extLst>
              <a:ext uri="{FF2B5EF4-FFF2-40B4-BE49-F238E27FC236}">
                <a16:creationId xmlns:a16="http://schemas.microsoft.com/office/drawing/2014/main" id="{30CED84F-B5E1-447F-809F-056DE5513638}"/>
              </a:ext>
            </a:extLst>
          </p:cNvPr>
          <p:cNvSpPr>
            <a:spLocks noGrp="1"/>
          </p:cNvSpPr>
          <p:nvPr/>
        </p:nvSpPr>
        <p:spPr>
          <a:xfrm>
            <a:off x="4324350" y="3895725"/>
            <a:ext cx="3143250" cy="666750"/>
          </a:xfrm>
          <a:prstGeom prst="rect">
            <a:avLst/>
          </a:prstGeom>
          <a:noFill/>
          <a:ln w="0">
            <a:noFill/>
            <a:prstDash val="solid"/>
          </a:ln>
        </p:spPr>
        <p:txBody>
          <a:bodyPr/>
          <a:lstStyle/>
          <a:p>
            <a:pPr>
              <a:defRPr sz="1425" b="0">
                <a:solidFill>
                  <a:srgbClr val="69747D"/>
                </a:solidFill>
              </a:defRPr>
            </a:pPr>
            <a:r>
              <a:rPr sz="1425" b="0" dirty="0">
                <a:solidFill>
                  <a:srgbClr val="69747D"/>
                </a:solidFill>
              </a:rPr>
              <a:t>Das Hybrid-System </a:t>
            </a:r>
            <a:r>
              <a:rPr sz="1425" b="0" dirty="0" err="1">
                <a:solidFill>
                  <a:srgbClr val="69747D"/>
                </a:solidFill>
              </a:rPr>
              <a:t>fängt</a:t>
            </a:r>
            <a:r>
              <a:rPr sz="1425" b="0" dirty="0">
                <a:solidFill>
                  <a:srgbClr val="69747D"/>
                </a:solidFill>
              </a:rPr>
              <a:t> </a:t>
            </a:r>
            <a:r>
              <a:rPr sz="1425" b="0" dirty="0" err="1">
                <a:solidFill>
                  <a:srgbClr val="69747D"/>
                </a:solidFill>
              </a:rPr>
              <a:t>Verzerrungen</a:t>
            </a:r>
            <a:r>
              <a:rPr sz="1425" b="0" dirty="0">
                <a:solidFill>
                  <a:srgbClr val="69747D"/>
                </a:solidFill>
              </a:rPr>
              <a:t> der </a:t>
            </a:r>
            <a:r>
              <a:rPr sz="1425" b="0" dirty="0" err="1">
                <a:solidFill>
                  <a:srgbClr val="69747D"/>
                </a:solidFill>
              </a:rPr>
              <a:t>Trainingsdaten</a:t>
            </a:r>
            <a:r>
              <a:rPr sz="1425" b="0" dirty="0">
                <a:solidFill>
                  <a:srgbClr val="69747D"/>
                </a:solidFill>
              </a:rPr>
              <a:t> ab.</a:t>
            </a:r>
          </a:p>
        </p:txBody>
      </p:sp>
      <p:sp>
        <p:nvSpPr>
          <p:cNvPr id="14" name="Rechteck 13">
            <a:extLst>
              <a:ext uri="{FF2B5EF4-FFF2-40B4-BE49-F238E27FC236}">
                <a16:creationId xmlns:a16="http://schemas.microsoft.com/office/drawing/2014/main" id="{2F3ECA03-4AAC-4F89-B305-31701E57F710}"/>
              </a:ext>
            </a:extLst>
          </p:cNvPr>
          <p:cNvSpPr>
            <a:spLocks noGrp="1"/>
          </p:cNvSpPr>
          <p:nvPr/>
        </p:nvSpPr>
        <p:spPr>
          <a:xfrm>
            <a:off x="7639049" y="2562225"/>
            <a:ext cx="18000" cy="1809750"/>
          </a:xfrm>
          <a:prstGeom prst="rect">
            <a:avLst/>
          </a:prstGeom>
          <a:solidFill>
            <a:srgbClr val="DCE2E6"/>
          </a:solidFill>
          <a:ln w="0">
            <a:noFill/>
            <a:prstDash val="solid"/>
          </a:ln>
        </p:spPr>
        <p:txBody>
          <a:bodyPr/>
          <a:lstStyle/>
          <a:p>
            <a:endParaRPr lang="de-DE" dirty="0"/>
          </a:p>
        </p:txBody>
      </p:sp>
      <p:sp>
        <p:nvSpPr>
          <p:cNvPr id="15" name="Rechteck 14">
            <a:extLst>
              <a:ext uri="{FF2B5EF4-FFF2-40B4-BE49-F238E27FC236}">
                <a16:creationId xmlns:a16="http://schemas.microsoft.com/office/drawing/2014/main" id="{9C3400B7-75DC-4B1F-97AC-A834AB840FBF}"/>
              </a:ext>
            </a:extLst>
          </p:cNvPr>
          <p:cNvSpPr>
            <a:spLocks noGrp="1"/>
          </p:cNvSpPr>
          <p:nvPr/>
        </p:nvSpPr>
        <p:spPr>
          <a:xfrm>
            <a:off x="7962900" y="2562225"/>
            <a:ext cx="666750" cy="495300"/>
          </a:xfrm>
          <a:prstGeom prst="rect">
            <a:avLst/>
          </a:prstGeom>
          <a:noFill/>
          <a:ln w="0">
            <a:noFill/>
            <a:prstDash val="solid"/>
          </a:ln>
        </p:spPr>
        <p:txBody>
          <a:bodyPr/>
          <a:lstStyle/>
          <a:p>
            <a:pPr>
              <a:defRPr sz="2925" b="1">
                <a:solidFill>
                  <a:srgbClr val="2980B9"/>
                </a:solidFill>
              </a:defRPr>
            </a:pPr>
            <a:r>
              <a:rPr sz="2925" b="1" dirty="0">
                <a:solidFill>
                  <a:srgbClr val="2980B9"/>
                </a:solidFill>
              </a:rPr>
              <a:t>03</a:t>
            </a:r>
          </a:p>
        </p:txBody>
      </p:sp>
      <p:sp>
        <p:nvSpPr>
          <p:cNvPr id="16" name="Rechteck 15">
            <a:extLst>
              <a:ext uri="{FF2B5EF4-FFF2-40B4-BE49-F238E27FC236}">
                <a16:creationId xmlns:a16="http://schemas.microsoft.com/office/drawing/2014/main" id="{708A5D04-3B9E-4D97-8FBD-5100EC801031}"/>
              </a:ext>
            </a:extLst>
          </p:cNvPr>
          <p:cNvSpPr>
            <a:spLocks noGrp="1"/>
          </p:cNvSpPr>
          <p:nvPr/>
        </p:nvSpPr>
        <p:spPr>
          <a:xfrm>
            <a:off x="7962900" y="3362325"/>
            <a:ext cx="3143250" cy="3238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Mehrwert</a:t>
            </a:r>
            <a:endParaRPr sz="1650" b="1" dirty="0">
              <a:solidFill>
                <a:srgbClr val="26323B"/>
              </a:solidFill>
            </a:endParaRPr>
          </a:p>
        </p:txBody>
      </p:sp>
      <p:sp>
        <p:nvSpPr>
          <p:cNvPr id="17" name="Rechteck 16">
            <a:extLst>
              <a:ext uri="{FF2B5EF4-FFF2-40B4-BE49-F238E27FC236}">
                <a16:creationId xmlns:a16="http://schemas.microsoft.com/office/drawing/2014/main" id="{9DA9B3DC-BFE0-43B3-ADEC-E68E4675FD0D}"/>
              </a:ext>
            </a:extLst>
          </p:cNvPr>
          <p:cNvSpPr>
            <a:spLocks noGrp="1"/>
          </p:cNvSpPr>
          <p:nvPr/>
        </p:nvSpPr>
        <p:spPr>
          <a:xfrm>
            <a:off x="7962900" y="3895725"/>
            <a:ext cx="3143250" cy="666750"/>
          </a:xfrm>
          <a:prstGeom prst="rect">
            <a:avLst/>
          </a:prstGeom>
          <a:noFill/>
          <a:ln w="0">
            <a:noFill/>
            <a:prstDash val="solid"/>
          </a:ln>
        </p:spPr>
        <p:txBody>
          <a:bodyPr/>
          <a:lstStyle/>
          <a:p>
            <a:pPr>
              <a:defRPr sz="1425" b="0">
                <a:solidFill>
                  <a:srgbClr val="69747D"/>
                </a:solidFill>
              </a:defRPr>
            </a:pPr>
            <a:r>
              <a:rPr sz="1425" b="0" dirty="0">
                <a:solidFill>
                  <a:srgbClr val="69747D"/>
                </a:solidFill>
              </a:rPr>
              <a:t>Ein </a:t>
            </a:r>
            <a:r>
              <a:rPr sz="1425" b="0" dirty="0" err="1">
                <a:solidFill>
                  <a:srgbClr val="69747D"/>
                </a:solidFill>
              </a:rPr>
              <a:t>professionelles</a:t>
            </a:r>
            <a:r>
              <a:rPr sz="1425" b="0" dirty="0">
                <a:solidFill>
                  <a:srgbClr val="69747D"/>
                </a:solidFill>
              </a:rPr>
              <a:t>, </a:t>
            </a:r>
            <a:r>
              <a:rPr sz="1425" b="0" dirty="0" err="1">
                <a:solidFill>
                  <a:srgbClr val="69747D"/>
                </a:solidFill>
              </a:rPr>
              <a:t>praxisnahes</a:t>
            </a:r>
            <a:r>
              <a:rPr sz="1425" b="0" dirty="0">
                <a:solidFill>
                  <a:srgbClr val="69747D"/>
                </a:solidFill>
              </a:rPr>
              <a:t> </a:t>
            </a:r>
            <a:r>
              <a:rPr sz="1425" b="0" dirty="0" err="1">
                <a:solidFill>
                  <a:srgbClr val="69747D"/>
                </a:solidFill>
              </a:rPr>
              <a:t>MLOps-Niveau</a:t>
            </a:r>
            <a:r>
              <a:rPr sz="1425" b="0" dirty="0">
                <a:solidFill>
                  <a:srgbClr val="69747D"/>
                </a:solidFill>
              </a:rPr>
              <a:t> für </a:t>
            </a:r>
            <a:r>
              <a:rPr sz="1425" b="0" dirty="0" err="1">
                <a:solidFill>
                  <a:srgbClr val="69747D"/>
                </a:solidFill>
              </a:rPr>
              <a:t>Freizeitsportler</a:t>
            </a:r>
            <a:r>
              <a:rPr sz="1425" b="0" dirty="0">
                <a:solidFill>
                  <a:srgbClr val="69747D"/>
                </a:solidFill>
              </a:rPr>
              <a:t>.</a:t>
            </a:r>
          </a:p>
        </p:txBody>
      </p:sp>
    </p:spTree>
    <p:extLst>
      <p:ext uri="{BB962C8B-B14F-4D97-AF65-F5344CB8AC3E}">
        <p14:creationId xmlns:p14="http://schemas.microsoft.com/office/powerpoint/2010/main" val="2056032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phase">
            <a:extLst>
              <a:ext uri="{FF2B5EF4-FFF2-40B4-BE49-F238E27FC236}">
                <a16:creationId xmlns:a16="http://schemas.microsoft.com/office/drawing/2014/main" id="{40CECEB3-D778-4185-8AEE-B1F8A33C67C3}"/>
              </a:ext>
            </a:extLst>
          </p:cNvPr>
          <p:cNvSpPr>
            <a:spLocks noGrp="1"/>
          </p:cNvSpPr>
          <p:nvPr/>
        </p:nvSpPr>
        <p:spPr>
          <a:xfrm>
            <a:off x="685800" y="400050"/>
            <a:ext cx="4572000" cy="209550"/>
          </a:xfrm>
          <a:prstGeom prst="rect">
            <a:avLst/>
          </a:prstGeom>
          <a:noFill/>
          <a:ln w="0">
            <a:noFill/>
            <a:prstDash val="solid"/>
          </a:ln>
        </p:spPr>
        <p:txBody>
          <a:bodyPr/>
          <a:lstStyle/>
          <a:p>
            <a:pPr>
              <a:defRPr sz="975" b="1">
                <a:solidFill>
                  <a:srgbClr val="2980B9"/>
                </a:solidFill>
              </a:defRPr>
            </a:pPr>
            <a:r>
              <a:rPr sz="975" b="1" dirty="0">
                <a:solidFill>
                  <a:srgbClr val="2980B9"/>
                </a:solidFill>
              </a:rPr>
              <a:t>Future Work</a:t>
            </a:r>
          </a:p>
        </p:txBody>
      </p:sp>
      <p:sp>
        <p:nvSpPr>
          <p:cNvPr id="2" name="Rechteck 1">
            <a:extLst>
              <a:ext uri="{FF2B5EF4-FFF2-40B4-BE49-F238E27FC236}">
                <a16:creationId xmlns:a16="http://schemas.microsoft.com/office/drawing/2014/main" id="{8C8D2A47-85DF-451B-8CF2-745C95A1C48B}"/>
              </a:ext>
            </a:extLst>
          </p:cNvPr>
          <p:cNvSpPr>
            <a:spLocks noGrp="1"/>
          </p:cNvSpPr>
          <p:nvPr/>
        </p:nvSpPr>
        <p:spPr>
          <a:xfrm>
            <a:off x="685800" y="723900"/>
            <a:ext cx="10820400" cy="9525"/>
          </a:xfrm>
          <a:prstGeom prst="rect">
            <a:avLst/>
          </a:prstGeom>
          <a:solidFill>
            <a:srgbClr val="DCE2E6"/>
          </a:solidFill>
          <a:ln w="0">
            <a:noFill/>
            <a:prstDash val="solid"/>
          </a:ln>
        </p:spPr>
        <p:txBody>
          <a:bodyPr/>
          <a:lstStyle/>
          <a:p>
            <a:endParaRPr lang="de-DE" dirty="0"/>
          </a:p>
        </p:txBody>
      </p:sp>
      <p:sp>
        <p:nvSpPr>
          <p:cNvPr id="3" name="footer-brand">
            <a:extLst>
              <a:ext uri="{FF2B5EF4-FFF2-40B4-BE49-F238E27FC236}">
                <a16:creationId xmlns:a16="http://schemas.microsoft.com/office/drawing/2014/main" id="{88EC4426-E2E4-409B-9DAD-BCCDD7D1DB7B}"/>
              </a:ext>
            </a:extLst>
          </p:cNvPr>
          <p:cNvSpPr>
            <a:spLocks noGrp="1"/>
          </p:cNvSpPr>
          <p:nvPr/>
        </p:nvSpPr>
        <p:spPr>
          <a:xfrm>
            <a:off x="685800" y="6496050"/>
            <a:ext cx="142875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SMARTSUPP</a:t>
            </a:r>
          </a:p>
        </p:txBody>
      </p:sp>
      <p:sp>
        <p:nvSpPr>
          <p:cNvPr id="4" name="footer-page">
            <a:extLst>
              <a:ext uri="{FF2B5EF4-FFF2-40B4-BE49-F238E27FC236}">
                <a16:creationId xmlns:a16="http://schemas.microsoft.com/office/drawing/2014/main" id="{7B13AE3B-2325-4D42-B299-991106880BDA}"/>
              </a:ext>
            </a:extLst>
          </p:cNvPr>
          <p:cNvSpPr>
            <a:spLocks noGrp="1"/>
          </p:cNvSpPr>
          <p:nvPr/>
        </p:nvSpPr>
        <p:spPr>
          <a:xfrm>
            <a:off x="11125200" y="6496050"/>
            <a:ext cx="381000" cy="152400"/>
          </a:xfrm>
          <a:prstGeom prst="rect">
            <a:avLst/>
          </a:prstGeom>
          <a:noFill/>
          <a:ln w="0">
            <a:noFill/>
            <a:prstDash val="solid"/>
          </a:ln>
        </p:spPr>
        <p:txBody>
          <a:bodyPr/>
          <a:lstStyle/>
          <a:p>
            <a:pPr>
              <a:defRPr sz="750" b="1">
                <a:solidFill>
                  <a:srgbClr val="69747D"/>
                </a:solidFill>
              </a:defRPr>
            </a:pPr>
            <a:r>
              <a:rPr sz="750" b="1" dirty="0">
                <a:solidFill>
                  <a:srgbClr val="69747D"/>
                </a:solidFill>
              </a:rPr>
              <a:t>2</a:t>
            </a:r>
            <a:r>
              <a:rPr lang="de-DE" sz="750" b="1" dirty="0">
                <a:solidFill>
                  <a:srgbClr val="69747D"/>
                </a:solidFill>
              </a:rPr>
              <a:t>3</a:t>
            </a:r>
            <a:endParaRPr sz="750" b="1" dirty="0">
              <a:solidFill>
                <a:srgbClr val="69747D"/>
              </a:solidFill>
            </a:endParaRPr>
          </a:p>
        </p:txBody>
      </p:sp>
      <p:sp>
        <p:nvSpPr>
          <p:cNvPr id="5" name="slide-title">
            <a:extLst>
              <a:ext uri="{FF2B5EF4-FFF2-40B4-BE49-F238E27FC236}">
                <a16:creationId xmlns:a16="http://schemas.microsoft.com/office/drawing/2014/main" id="{4B7509D0-DC32-4795-A057-A1EF31F15238}"/>
              </a:ext>
            </a:extLst>
          </p:cNvPr>
          <p:cNvSpPr>
            <a:spLocks noGrp="1"/>
          </p:cNvSpPr>
          <p:nvPr/>
        </p:nvSpPr>
        <p:spPr>
          <a:xfrm>
            <a:off x="685800" y="990600"/>
            <a:ext cx="10820400" cy="514350"/>
          </a:xfrm>
          <a:prstGeom prst="rect">
            <a:avLst/>
          </a:prstGeom>
          <a:noFill/>
          <a:ln w="0">
            <a:noFill/>
            <a:prstDash val="solid"/>
          </a:ln>
        </p:spPr>
        <p:txBody>
          <a:bodyPr/>
          <a:lstStyle/>
          <a:p>
            <a:pPr>
              <a:defRPr sz="2700" b="1">
                <a:solidFill>
                  <a:srgbClr val="26323B"/>
                </a:solidFill>
              </a:defRPr>
            </a:pPr>
            <a:r>
              <a:rPr sz="2700" b="1" dirty="0">
                <a:solidFill>
                  <a:srgbClr val="26323B"/>
                </a:solidFill>
              </a:rPr>
              <a:t>Vier </a:t>
            </a:r>
            <a:r>
              <a:rPr sz="2700" b="1" dirty="0" err="1">
                <a:solidFill>
                  <a:srgbClr val="26323B"/>
                </a:solidFill>
              </a:rPr>
              <a:t>nächste</a:t>
            </a:r>
            <a:r>
              <a:rPr sz="2700" b="1" dirty="0">
                <a:solidFill>
                  <a:srgbClr val="26323B"/>
                </a:solidFill>
              </a:rPr>
              <a:t> </a:t>
            </a:r>
            <a:r>
              <a:rPr sz="2700" b="1" dirty="0" err="1">
                <a:solidFill>
                  <a:srgbClr val="26323B"/>
                </a:solidFill>
              </a:rPr>
              <a:t>Ausbaustufen</a:t>
            </a:r>
            <a:endParaRPr sz="2700" b="1" dirty="0">
              <a:solidFill>
                <a:srgbClr val="26323B"/>
              </a:solidFill>
            </a:endParaRPr>
          </a:p>
        </p:txBody>
      </p:sp>
      <p:sp>
        <p:nvSpPr>
          <p:cNvPr id="6" name="Rechteck 5">
            <a:extLst>
              <a:ext uri="{FF2B5EF4-FFF2-40B4-BE49-F238E27FC236}">
                <a16:creationId xmlns:a16="http://schemas.microsoft.com/office/drawing/2014/main" id="{FDFE9CB3-1BFF-4F60-B11E-F8BD9EAAA9F5}"/>
              </a:ext>
            </a:extLst>
          </p:cNvPr>
          <p:cNvSpPr>
            <a:spLocks noGrp="1"/>
          </p:cNvSpPr>
          <p:nvPr/>
        </p:nvSpPr>
        <p:spPr>
          <a:xfrm>
            <a:off x="685800" y="2257425"/>
            <a:ext cx="723900" cy="438150"/>
          </a:xfrm>
          <a:prstGeom prst="rect">
            <a:avLst/>
          </a:prstGeom>
          <a:noFill/>
          <a:ln w="0">
            <a:noFill/>
            <a:prstDash val="solid"/>
          </a:ln>
        </p:spPr>
        <p:txBody>
          <a:bodyPr/>
          <a:lstStyle/>
          <a:p>
            <a:pPr>
              <a:defRPr sz="2400" b="1">
                <a:solidFill>
                  <a:srgbClr val="2980B9"/>
                </a:solidFill>
              </a:defRPr>
            </a:pPr>
            <a:r>
              <a:rPr sz="2400" b="1" dirty="0">
                <a:solidFill>
                  <a:srgbClr val="2980B9"/>
                </a:solidFill>
              </a:rPr>
              <a:t>01</a:t>
            </a:r>
          </a:p>
        </p:txBody>
      </p:sp>
      <p:sp>
        <p:nvSpPr>
          <p:cNvPr id="7" name="Rechteck 6">
            <a:extLst>
              <a:ext uri="{FF2B5EF4-FFF2-40B4-BE49-F238E27FC236}">
                <a16:creationId xmlns:a16="http://schemas.microsoft.com/office/drawing/2014/main" id="{AA7D7A08-C867-4562-BBBC-914D33433932}"/>
              </a:ext>
            </a:extLst>
          </p:cNvPr>
          <p:cNvSpPr>
            <a:spLocks noGrp="1"/>
          </p:cNvSpPr>
          <p:nvPr/>
        </p:nvSpPr>
        <p:spPr>
          <a:xfrm>
            <a:off x="1695450" y="2276475"/>
            <a:ext cx="3714750" cy="266700"/>
          </a:xfrm>
          <a:prstGeom prst="rect">
            <a:avLst/>
          </a:prstGeom>
          <a:noFill/>
          <a:ln w="0">
            <a:noFill/>
            <a:prstDash val="solid"/>
          </a:ln>
        </p:spPr>
        <p:txBody>
          <a:bodyPr/>
          <a:lstStyle/>
          <a:p>
            <a:pPr>
              <a:defRPr sz="1575" b="1">
                <a:solidFill>
                  <a:srgbClr val="26323B"/>
                </a:solidFill>
              </a:defRPr>
            </a:pPr>
            <a:r>
              <a:rPr sz="1575" b="1" dirty="0" err="1">
                <a:solidFill>
                  <a:srgbClr val="26323B"/>
                </a:solidFill>
              </a:rPr>
              <a:t>Datenbank-Persistenz</a:t>
            </a:r>
            <a:endParaRPr sz="1575" b="1" dirty="0">
              <a:solidFill>
                <a:srgbClr val="26323B"/>
              </a:solidFill>
            </a:endParaRPr>
          </a:p>
        </p:txBody>
      </p:sp>
      <p:sp>
        <p:nvSpPr>
          <p:cNvPr id="8" name="Rechteck 7">
            <a:extLst>
              <a:ext uri="{FF2B5EF4-FFF2-40B4-BE49-F238E27FC236}">
                <a16:creationId xmlns:a16="http://schemas.microsoft.com/office/drawing/2014/main" id="{989D8467-E52F-45CF-AD90-D64F813B1681}"/>
              </a:ext>
            </a:extLst>
          </p:cNvPr>
          <p:cNvSpPr>
            <a:spLocks noGrp="1"/>
          </p:cNvSpPr>
          <p:nvPr/>
        </p:nvSpPr>
        <p:spPr>
          <a:xfrm>
            <a:off x="1695450" y="2657475"/>
            <a:ext cx="3714750" cy="457200"/>
          </a:xfrm>
          <a:prstGeom prst="rect">
            <a:avLst/>
          </a:prstGeom>
          <a:noFill/>
          <a:ln w="0">
            <a:noFill/>
            <a:prstDash val="solid"/>
          </a:ln>
        </p:spPr>
        <p:txBody>
          <a:bodyPr/>
          <a:lstStyle/>
          <a:p>
            <a:pPr>
              <a:defRPr sz="1350" b="0">
                <a:solidFill>
                  <a:srgbClr val="69747D"/>
                </a:solidFill>
              </a:defRPr>
            </a:pPr>
            <a:r>
              <a:rPr sz="1350" b="0" dirty="0" err="1">
                <a:solidFill>
                  <a:srgbClr val="69747D"/>
                </a:solidFill>
              </a:rPr>
              <a:t>st.session_state</a:t>
            </a:r>
            <a:r>
              <a:rPr sz="1350" b="0" dirty="0">
                <a:solidFill>
                  <a:srgbClr val="69747D"/>
                </a:solidFill>
              </a:rPr>
              <a:t> → SQL/NoSQL-</a:t>
            </a:r>
            <a:r>
              <a:rPr sz="1350" b="0" dirty="0" err="1">
                <a:solidFill>
                  <a:srgbClr val="69747D"/>
                </a:solidFill>
              </a:rPr>
              <a:t>Nutzerdatenbank</a:t>
            </a:r>
            <a:endParaRPr sz="1350" b="0" dirty="0">
              <a:solidFill>
                <a:srgbClr val="69747D"/>
              </a:solidFill>
            </a:endParaRPr>
          </a:p>
        </p:txBody>
      </p:sp>
      <p:sp>
        <p:nvSpPr>
          <p:cNvPr id="9" name="Rechteck 8">
            <a:extLst>
              <a:ext uri="{FF2B5EF4-FFF2-40B4-BE49-F238E27FC236}">
                <a16:creationId xmlns:a16="http://schemas.microsoft.com/office/drawing/2014/main" id="{69223C42-2952-412C-B0F0-876F340B6090}"/>
              </a:ext>
            </a:extLst>
          </p:cNvPr>
          <p:cNvSpPr>
            <a:spLocks noGrp="1"/>
          </p:cNvSpPr>
          <p:nvPr/>
        </p:nvSpPr>
        <p:spPr>
          <a:xfrm>
            <a:off x="5657849" y="2257425"/>
            <a:ext cx="18000" cy="800100"/>
          </a:xfrm>
          <a:prstGeom prst="rect">
            <a:avLst/>
          </a:prstGeom>
          <a:solidFill>
            <a:srgbClr val="DCE2E6"/>
          </a:solidFill>
          <a:ln w="0">
            <a:noFill/>
            <a:prstDash val="solid"/>
          </a:ln>
        </p:spPr>
        <p:txBody>
          <a:bodyPr/>
          <a:lstStyle/>
          <a:p>
            <a:endParaRPr lang="de-DE" dirty="0"/>
          </a:p>
        </p:txBody>
      </p:sp>
      <p:sp>
        <p:nvSpPr>
          <p:cNvPr id="10" name="Rechteck 9">
            <a:extLst>
              <a:ext uri="{FF2B5EF4-FFF2-40B4-BE49-F238E27FC236}">
                <a16:creationId xmlns:a16="http://schemas.microsoft.com/office/drawing/2014/main" id="{F43B72A6-B741-40F0-BDF5-2C1E193A99B7}"/>
              </a:ext>
            </a:extLst>
          </p:cNvPr>
          <p:cNvSpPr>
            <a:spLocks noGrp="1"/>
          </p:cNvSpPr>
          <p:nvPr/>
        </p:nvSpPr>
        <p:spPr>
          <a:xfrm>
            <a:off x="6096000" y="2257425"/>
            <a:ext cx="723900" cy="438150"/>
          </a:xfrm>
          <a:prstGeom prst="rect">
            <a:avLst/>
          </a:prstGeom>
          <a:noFill/>
          <a:ln w="0">
            <a:noFill/>
            <a:prstDash val="solid"/>
          </a:ln>
        </p:spPr>
        <p:txBody>
          <a:bodyPr/>
          <a:lstStyle/>
          <a:p>
            <a:pPr>
              <a:defRPr sz="2400" b="1">
                <a:solidFill>
                  <a:srgbClr val="2980B9"/>
                </a:solidFill>
              </a:defRPr>
            </a:pPr>
            <a:r>
              <a:rPr sz="2400" b="1" dirty="0">
                <a:solidFill>
                  <a:srgbClr val="2980B9"/>
                </a:solidFill>
              </a:rPr>
              <a:t>02</a:t>
            </a:r>
          </a:p>
        </p:txBody>
      </p:sp>
      <p:sp>
        <p:nvSpPr>
          <p:cNvPr id="11" name="Rechteck 10">
            <a:extLst>
              <a:ext uri="{FF2B5EF4-FFF2-40B4-BE49-F238E27FC236}">
                <a16:creationId xmlns:a16="http://schemas.microsoft.com/office/drawing/2014/main" id="{9881D48B-C036-4D05-8617-B62BA8EF2D55}"/>
              </a:ext>
            </a:extLst>
          </p:cNvPr>
          <p:cNvSpPr>
            <a:spLocks noGrp="1"/>
          </p:cNvSpPr>
          <p:nvPr/>
        </p:nvSpPr>
        <p:spPr>
          <a:xfrm>
            <a:off x="7105650" y="2276475"/>
            <a:ext cx="3714750" cy="266700"/>
          </a:xfrm>
          <a:prstGeom prst="rect">
            <a:avLst/>
          </a:prstGeom>
          <a:noFill/>
          <a:ln w="0">
            <a:noFill/>
            <a:prstDash val="solid"/>
          </a:ln>
        </p:spPr>
        <p:txBody>
          <a:bodyPr/>
          <a:lstStyle/>
          <a:p>
            <a:pPr>
              <a:defRPr sz="1575" b="1">
                <a:solidFill>
                  <a:srgbClr val="26323B"/>
                </a:solidFill>
              </a:defRPr>
            </a:pPr>
            <a:r>
              <a:rPr lang="de-DE" sz="1575" b="1" dirty="0">
                <a:solidFill>
                  <a:srgbClr val="26323B"/>
                </a:solidFill>
              </a:rPr>
              <a:t>Wissenschaftliche </a:t>
            </a:r>
            <a:r>
              <a:rPr sz="1575" b="1" dirty="0" err="1">
                <a:solidFill>
                  <a:srgbClr val="26323B"/>
                </a:solidFill>
              </a:rPr>
              <a:t>Daten</a:t>
            </a:r>
            <a:r>
              <a:rPr lang="de-DE" sz="1575" b="1" dirty="0" err="1">
                <a:solidFill>
                  <a:srgbClr val="26323B"/>
                </a:solidFill>
              </a:rPr>
              <a:t>basis</a:t>
            </a:r>
            <a:endParaRPr sz="1575" b="1" dirty="0">
              <a:solidFill>
                <a:srgbClr val="26323B"/>
              </a:solidFill>
            </a:endParaRPr>
          </a:p>
        </p:txBody>
      </p:sp>
      <p:sp>
        <p:nvSpPr>
          <p:cNvPr id="12" name="Rechteck 11">
            <a:extLst>
              <a:ext uri="{FF2B5EF4-FFF2-40B4-BE49-F238E27FC236}">
                <a16:creationId xmlns:a16="http://schemas.microsoft.com/office/drawing/2014/main" id="{46A25A3F-D817-49A6-96AE-C53F30AB0A10}"/>
              </a:ext>
            </a:extLst>
          </p:cNvPr>
          <p:cNvSpPr>
            <a:spLocks noGrp="1"/>
          </p:cNvSpPr>
          <p:nvPr/>
        </p:nvSpPr>
        <p:spPr>
          <a:xfrm>
            <a:off x="7105650" y="2657475"/>
            <a:ext cx="3714750" cy="457200"/>
          </a:xfrm>
          <a:prstGeom prst="rect">
            <a:avLst/>
          </a:prstGeom>
          <a:noFill/>
          <a:ln w="0">
            <a:noFill/>
            <a:prstDash val="solid"/>
          </a:ln>
        </p:spPr>
        <p:txBody>
          <a:bodyPr/>
          <a:lstStyle/>
          <a:p>
            <a:pPr>
              <a:defRPr sz="1350" b="0">
                <a:solidFill>
                  <a:srgbClr val="69747D"/>
                </a:solidFill>
              </a:defRPr>
            </a:pPr>
            <a:r>
              <a:rPr sz="1350" b="0" dirty="0" err="1">
                <a:solidFill>
                  <a:srgbClr val="69747D"/>
                </a:solidFill>
              </a:rPr>
              <a:t>synthetische</a:t>
            </a:r>
            <a:r>
              <a:rPr sz="1350" b="0" dirty="0">
                <a:solidFill>
                  <a:srgbClr val="69747D"/>
                </a:solidFill>
              </a:rPr>
              <a:t> Profile </a:t>
            </a:r>
            <a:r>
              <a:rPr sz="1350" b="0" dirty="0" err="1">
                <a:solidFill>
                  <a:srgbClr val="69747D"/>
                </a:solidFill>
              </a:rPr>
              <a:t>mit</a:t>
            </a:r>
            <a:r>
              <a:rPr sz="1350" b="0" dirty="0">
                <a:solidFill>
                  <a:srgbClr val="69747D"/>
                </a:solidFill>
              </a:rPr>
              <a:t> </a:t>
            </a:r>
            <a:r>
              <a:rPr sz="1350" b="0" dirty="0" err="1">
                <a:solidFill>
                  <a:srgbClr val="69747D"/>
                </a:solidFill>
              </a:rPr>
              <a:t>klinischen</a:t>
            </a:r>
            <a:r>
              <a:rPr sz="1350" b="0" dirty="0">
                <a:solidFill>
                  <a:srgbClr val="69747D"/>
                </a:solidFill>
              </a:rPr>
              <a:t> </a:t>
            </a:r>
            <a:r>
              <a:rPr sz="1350" b="0" dirty="0" err="1">
                <a:solidFill>
                  <a:srgbClr val="69747D"/>
                </a:solidFill>
              </a:rPr>
              <a:t>Studiendaten</a:t>
            </a:r>
            <a:r>
              <a:rPr sz="1350" b="0" dirty="0">
                <a:solidFill>
                  <a:srgbClr val="69747D"/>
                </a:solidFill>
              </a:rPr>
              <a:t> </a:t>
            </a:r>
            <a:r>
              <a:rPr sz="1350" b="0" dirty="0" err="1">
                <a:solidFill>
                  <a:srgbClr val="69747D"/>
                </a:solidFill>
              </a:rPr>
              <a:t>verknüpfen</a:t>
            </a:r>
            <a:endParaRPr sz="1350" b="0" dirty="0">
              <a:solidFill>
                <a:srgbClr val="69747D"/>
              </a:solidFill>
            </a:endParaRPr>
          </a:p>
        </p:txBody>
      </p:sp>
      <p:sp>
        <p:nvSpPr>
          <p:cNvPr id="13" name="Rechteck 12">
            <a:extLst>
              <a:ext uri="{FF2B5EF4-FFF2-40B4-BE49-F238E27FC236}">
                <a16:creationId xmlns:a16="http://schemas.microsoft.com/office/drawing/2014/main" id="{5DA7F1D5-85B5-414C-9E4E-305A6E301FA3}"/>
              </a:ext>
            </a:extLst>
          </p:cNvPr>
          <p:cNvSpPr>
            <a:spLocks noGrp="1"/>
          </p:cNvSpPr>
          <p:nvPr/>
        </p:nvSpPr>
        <p:spPr>
          <a:xfrm>
            <a:off x="685800" y="3686175"/>
            <a:ext cx="723900" cy="438150"/>
          </a:xfrm>
          <a:prstGeom prst="rect">
            <a:avLst/>
          </a:prstGeom>
          <a:noFill/>
          <a:ln w="0">
            <a:noFill/>
            <a:prstDash val="solid"/>
          </a:ln>
        </p:spPr>
        <p:txBody>
          <a:bodyPr/>
          <a:lstStyle/>
          <a:p>
            <a:pPr>
              <a:defRPr sz="2400" b="1">
                <a:solidFill>
                  <a:srgbClr val="2980B9"/>
                </a:solidFill>
              </a:defRPr>
            </a:pPr>
            <a:r>
              <a:rPr sz="2400" b="1" dirty="0">
                <a:solidFill>
                  <a:srgbClr val="2980B9"/>
                </a:solidFill>
              </a:rPr>
              <a:t>03</a:t>
            </a:r>
          </a:p>
        </p:txBody>
      </p:sp>
      <p:sp>
        <p:nvSpPr>
          <p:cNvPr id="14" name="Rechteck 13">
            <a:extLst>
              <a:ext uri="{FF2B5EF4-FFF2-40B4-BE49-F238E27FC236}">
                <a16:creationId xmlns:a16="http://schemas.microsoft.com/office/drawing/2014/main" id="{8F5EAA78-777A-4C6D-913C-974D32F707B5}"/>
              </a:ext>
            </a:extLst>
          </p:cNvPr>
          <p:cNvSpPr>
            <a:spLocks noGrp="1"/>
          </p:cNvSpPr>
          <p:nvPr/>
        </p:nvSpPr>
        <p:spPr>
          <a:xfrm>
            <a:off x="1695450" y="3705225"/>
            <a:ext cx="3714750" cy="266700"/>
          </a:xfrm>
          <a:prstGeom prst="rect">
            <a:avLst/>
          </a:prstGeom>
          <a:noFill/>
          <a:ln w="0">
            <a:noFill/>
            <a:prstDash val="solid"/>
          </a:ln>
        </p:spPr>
        <p:txBody>
          <a:bodyPr/>
          <a:lstStyle/>
          <a:p>
            <a:pPr>
              <a:defRPr sz="1575" b="1">
                <a:solidFill>
                  <a:srgbClr val="26323B"/>
                </a:solidFill>
              </a:defRPr>
            </a:pPr>
            <a:r>
              <a:rPr lang="de-DE" dirty="0"/>
              <a:t>Wearable- &amp; API-Integration</a:t>
            </a:r>
            <a:endParaRPr sz="1575" b="1" dirty="0">
              <a:solidFill>
                <a:srgbClr val="26323B"/>
              </a:solidFill>
            </a:endParaRPr>
          </a:p>
        </p:txBody>
      </p:sp>
      <p:sp>
        <p:nvSpPr>
          <p:cNvPr id="15" name="Rechteck 14">
            <a:extLst>
              <a:ext uri="{FF2B5EF4-FFF2-40B4-BE49-F238E27FC236}">
                <a16:creationId xmlns:a16="http://schemas.microsoft.com/office/drawing/2014/main" id="{9A51DB16-4F3B-4540-AC5D-5A4F062CB916}"/>
              </a:ext>
            </a:extLst>
          </p:cNvPr>
          <p:cNvSpPr>
            <a:spLocks noGrp="1"/>
          </p:cNvSpPr>
          <p:nvPr/>
        </p:nvSpPr>
        <p:spPr>
          <a:xfrm>
            <a:off x="1695450" y="4086225"/>
            <a:ext cx="3714750" cy="457200"/>
          </a:xfrm>
          <a:prstGeom prst="rect">
            <a:avLst/>
          </a:prstGeom>
          <a:noFill/>
          <a:ln w="0">
            <a:noFill/>
            <a:prstDash val="solid"/>
          </a:ln>
        </p:spPr>
        <p:txBody>
          <a:bodyPr/>
          <a:lstStyle/>
          <a:p>
            <a:r>
              <a:rPr lang="de-DE" sz="1350" dirty="0">
                <a:solidFill>
                  <a:srgbClr val="69747D"/>
                </a:solidFill>
              </a:rPr>
              <a:t>Automatische Daten-Schnittstellen zu Apple Health, Google Fit und Garmin</a:t>
            </a:r>
          </a:p>
        </p:txBody>
      </p:sp>
      <p:sp>
        <p:nvSpPr>
          <p:cNvPr id="16" name="Rechteck 15">
            <a:extLst>
              <a:ext uri="{FF2B5EF4-FFF2-40B4-BE49-F238E27FC236}">
                <a16:creationId xmlns:a16="http://schemas.microsoft.com/office/drawing/2014/main" id="{8654BC80-1C75-48A2-AE42-B0D8891CF6CA}"/>
              </a:ext>
            </a:extLst>
          </p:cNvPr>
          <p:cNvSpPr>
            <a:spLocks noGrp="1"/>
          </p:cNvSpPr>
          <p:nvPr/>
        </p:nvSpPr>
        <p:spPr>
          <a:xfrm>
            <a:off x="5657849" y="3686175"/>
            <a:ext cx="18000" cy="800100"/>
          </a:xfrm>
          <a:prstGeom prst="rect">
            <a:avLst/>
          </a:prstGeom>
          <a:solidFill>
            <a:srgbClr val="DCE2E6"/>
          </a:solidFill>
          <a:ln w="0">
            <a:noFill/>
            <a:prstDash val="solid"/>
          </a:ln>
        </p:spPr>
        <p:txBody>
          <a:bodyPr/>
          <a:lstStyle/>
          <a:p>
            <a:endParaRPr lang="de-DE" dirty="0"/>
          </a:p>
        </p:txBody>
      </p:sp>
      <p:sp>
        <p:nvSpPr>
          <p:cNvPr id="17" name="Rechteck 16">
            <a:extLst>
              <a:ext uri="{FF2B5EF4-FFF2-40B4-BE49-F238E27FC236}">
                <a16:creationId xmlns:a16="http://schemas.microsoft.com/office/drawing/2014/main" id="{B5A1CD3C-6AE0-4924-9245-A38085117FFF}"/>
              </a:ext>
            </a:extLst>
          </p:cNvPr>
          <p:cNvSpPr>
            <a:spLocks noGrp="1"/>
          </p:cNvSpPr>
          <p:nvPr/>
        </p:nvSpPr>
        <p:spPr>
          <a:xfrm>
            <a:off x="6096000" y="3686175"/>
            <a:ext cx="723900" cy="438150"/>
          </a:xfrm>
          <a:prstGeom prst="rect">
            <a:avLst/>
          </a:prstGeom>
          <a:noFill/>
          <a:ln w="0">
            <a:noFill/>
            <a:prstDash val="solid"/>
          </a:ln>
        </p:spPr>
        <p:txBody>
          <a:bodyPr/>
          <a:lstStyle/>
          <a:p>
            <a:pPr>
              <a:defRPr sz="2400" b="1">
                <a:solidFill>
                  <a:srgbClr val="2980B9"/>
                </a:solidFill>
              </a:defRPr>
            </a:pPr>
            <a:r>
              <a:rPr sz="2400" b="1" dirty="0">
                <a:solidFill>
                  <a:srgbClr val="2980B9"/>
                </a:solidFill>
              </a:rPr>
              <a:t>04</a:t>
            </a:r>
          </a:p>
        </p:txBody>
      </p:sp>
      <p:sp>
        <p:nvSpPr>
          <p:cNvPr id="18" name="Rechteck 17">
            <a:extLst>
              <a:ext uri="{FF2B5EF4-FFF2-40B4-BE49-F238E27FC236}">
                <a16:creationId xmlns:a16="http://schemas.microsoft.com/office/drawing/2014/main" id="{52F71389-0911-4286-854F-908254A3FA01}"/>
              </a:ext>
            </a:extLst>
          </p:cNvPr>
          <p:cNvSpPr>
            <a:spLocks noGrp="1"/>
          </p:cNvSpPr>
          <p:nvPr/>
        </p:nvSpPr>
        <p:spPr>
          <a:xfrm>
            <a:off x="7105650" y="3705225"/>
            <a:ext cx="3714750" cy="266700"/>
          </a:xfrm>
          <a:prstGeom prst="rect">
            <a:avLst/>
          </a:prstGeom>
          <a:noFill/>
          <a:ln w="0">
            <a:noFill/>
            <a:prstDash val="solid"/>
          </a:ln>
        </p:spPr>
        <p:txBody>
          <a:bodyPr/>
          <a:lstStyle/>
          <a:p>
            <a:pPr>
              <a:defRPr sz="1575" b="1">
                <a:solidFill>
                  <a:srgbClr val="26323B"/>
                </a:solidFill>
              </a:defRPr>
            </a:pPr>
            <a:r>
              <a:rPr lang="de-DE" b="1" u="none" strike="noStrike" dirty="0">
                <a:effectLst/>
                <a:latin typeface="Google Sans"/>
              </a:rPr>
              <a:t>Feedback-Schleife (Lernendes System)</a:t>
            </a:r>
            <a:endParaRPr lang="de-DE" b="0" u="none" strike="noStrike" dirty="0">
              <a:effectLst/>
              <a:latin typeface="Google Sans"/>
            </a:endParaRPr>
          </a:p>
          <a:p>
            <a:pPr>
              <a:defRPr sz="1575" b="1">
                <a:solidFill>
                  <a:srgbClr val="26323B"/>
                </a:solidFill>
              </a:defRPr>
            </a:pPr>
            <a:endParaRPr sz="1575" b="1" dirty="0">
              <a:solidFill>
                <a:srgbClr val="26323B"/>
              </a:solidFill>
            </a:endParaRPr>
          </a:p>
        </p:txBody>
      </p:sp>
      <p:sp>
        <p:nvSpPr>
          <p:cNvPr id="19" name="Rechteck 18">
            <a:extLst>
              <a:ext uri="{FF2B5EF4-FFF2-40B4-BE49-F238E27FC236}">
                <a16:creationId xmlns:a16="http://schemas.microsoft.com/office/drawing/2014/main" id="{5F5EA073-0968-47A5-911E-BBDB8FBE6BDA}"/>
              </a:ext>
            </a:extLst>
          </p:cNvPr>
          <p:cNvSpPr>
            <a:spLocks noGrp="1"/>
          </p:cNvSpPr>
          <p:nvPr/>
        </p:nvSpPr>
        <p:spPr>
          <a:xfrm>
            <a:off x="7105650" y="4086225"/>
            <a:ext cx="3714750" cy="457200"/>
          </a:xfrm>
          <a:prstGeom prst="rect">
            <a:avLst/>
          </a:prstGeom>
          <a:noFill/>
          <a:ln w="0">
            <a:noFill/>
            <a:prstDash val="solid"/>
          </a:ln>
        </p:spPr>
        <p:txBody>
          <a:bodyPr/>
          <a:lstStyle/>
          <a:p>
            <a:pPr>
              <a:defRPr sz="1350" b="0">
                <a:solidFill>
                  <a:srgbClr val="69747D"/>
                </a:solidFill>
              </a:defRPr>
            </a:pPr>
            <a:r>
              <a:rPr lang="de-DE" dirty="0"/>
              <a:t>Reinforcement Learning: Trainingserfolge der Nutzer spiegeln sich im ML-Modell wider</a:t>
            </a:r>
            <a:endParaRPr sz="1350" b="0" dirty="0">
              <a:solidFill>
                <a:srgbClr val="69747D"/>
              </a:solidFill>
            </a:endParaRPr>
          </a:p>
        </p:txBody>
      </p:sp>
      <p:sp>
        <p:nvSpPr>
          <p:cNvPr id="20" name="Rechteck 19">
            <a:extLst>
              <a:ext uri="{FF2B5EF4-FFF2-40B4-BE49-F238E27FC236}">
                <a16:creationId xmlns:a16="http://schemas.microsoft.com/office/drawing/2014/main" id="{975A6727-1732-4D69-8401-3B517EDAEDA8}"/>
              </a:ext>
            </a:extLst>
          </p:cNvPr>
          <p:cNvSpPr>
            <a:spLocks noGrp="1"/>
          </p:cNvSpPr>
          <p:nvPr/>
        </p:nvSpPr>
        <p:spPr>
          <a:xfrm>
            <a:off x="685800" y="5381625"/>
            <a:ext cx="9715500" cy="361950"/>
          </a:xfrm>
          <a:prstGeom prst="rect">
            <a:avLst/>
          </a:prstGeom>
          <a:noFill/>
          <a:ln w="0">
            <a:noFill/>
            <a:prstDash val="solid"/>
          </a:ln>
        </p:spPr>
        <p:txBody>
          <a:bodyPr/>
          <a:lstStyle/>
          <a:p>
            <a:pPr>
              <a:defRPr sz="1650" b="1">
                <a:solidFill>
                  <a:srgbClr val="26323B"/>
                </a:solidFill>
              </a:defRPr>
            </a:pPr>
            <a:r>
              <a:rPr sz="1650" b="1" dirty="0" err="1">
                <a:solidFill>
                  <a:srgbClr val="26323B"/>
                </a:solidFill>
              </a:rPr>
              <a:t>SmartSupp</a:t>
            </a:r>
            <a:r>
              <a:rPr sz="1650" b="1" dirty="0">
                <a:solidFill>
                  <a:srgbClr val="26323B"/>
                </a:solidFill>
              </a:rPr>
              <a:t> </a:t>
            </a:r>
            <a:r>
              <a:rPr sz="1650" b="1" dirty="0" err="1">
                <a:solidFill>
                  <a:srgbClr val="26323B"/>
                </a:solidFill>
              </a:rPr>
              <a:t>bleibt</a:t>
            </a:r>
            <a:r>
              <a:rPr sz="1650" b="1" dirty="0">
                <a:solidFill>
                  <a:srgbClr val="26323B"/>
                </a:solidFill>
              </a:rPr>
              <a:t> </a:t>
            </a:r>
            <a:r>
              <a:rPr sz="1650" b="1" dirty="0" err="1">
                <a:solidFill>
                  <a:srgbClr val="26323B"/>
                </a:solidFill>
              </a:rPr>
              <a:t>damit</a:t>
            </a:r>
            <a:r>
              <a:rPr sz="1650" b="1" dirty="0">
                <a:solidFill>
                  <a:srgbClr val="26323B"/>
                </a:solidFill>
              </a:rPr>
              <a:t> </a:t>
            </a:r>
            <a:r>
              <a:rPr sz="1650" b="1" dirty="0" err="1">
                <a:solidFill>
                  <a:srgbClr val="26323B"/>
                </a:solidFill>
              </a:rPr>
              <a:t>ein</a:t>
            </a:r>
            <a:r>
              <a:rPr sz="1650" b="1" dirty="0">
                <a:solidFill>
                  <a:srgbClr val="26323B"/>
                </a:solidFill>
              </a:rPr>
              <a:t> </a:t>
            </a:r>
            <a:r>
              <a:rPr sz="1650" b="1" dirty="0" err="1">
                <a:solidFill>
                  <a:srgbClr val="26323B"/>
                </a:solidFill>
              </a:rPr>
              <a:t>lernendes</a:t>
            </a:r>
            <a:r>
              <a:rPr sz="1650" b="1" dirty="0">
                <a:solidFill>
                  <a:srgbClr val="26323B"/>
                </a:solidFill>
              </a:rPr>
              <a:t> System: </a:t>
            </a:r>
            <a:r>
              <a:rPr sz="1650" b="1" dirty="0" err="1">
                <a:solidFill>
                  <a:srgbClr val="26323B"/>
                </a:solidFill>
              </a:rPr>
              <a:t>methodisch</a:t>
            </a:r>
            <a:r>
              <a:rPr sz="1650" b="1" dirty="0">
                <a:solidFill>
                  <a:srgbClr val="26323B"/>
                </a:solidFill>
              </a:rPr>
              <a:t> transparent, </a:t>
            </a:r>
            <a:r>
              <a:rPr sz="1650" b="1" dirty="0" err="1">
                <a:solidFill>
                  <a:srgbClr val="26323B"/>
                </a:solidFill>
              </a:rPr>
              <a:t>evidenzorientiert</a:t>
            </a:r>
            <a:r>
              <a:rPr sz="1650" b="1" dirty="0">
                <a:solidFill>
                  <a:srgbClr val="26323B"/>
                </a:solidFill>
              </a:rPr>
              <a:t> und </a:t>
            </a:r>
            <a:r>
              <a:rPr sz="1650" b="1" dirty="0" err="1">
                <a:solidFill>
                  <a:srgbClr val="26323B"/>
                </a:solidFill>
              </a:rPr>
              <a:t>erweiterbar</a:t>
            </a:r>
            <a:r>
              <a:rPr sz="1650" b="1" dirty="0">
                <a:solidFill>
                  <a:srgbClr val="26323B"/>
                </a:solidFill>
              </a:rPr>
              <a:t>.</a:t>
            </a:r>
          </a:p>
        </p:txBody>
      </p:sp>
    </p:spTree>
    <p:extLst>
      <p:ext uri="{BB962C8B-B14F-4D97-AF65-F5344CB8AC3E}">
        <p14:creationId xmlns:p14="http://schemas.microsoft.com/office/powerpoint/2010/main" val="10734075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2847</Words>
  <Application>Microsoft Macintosh PowerPoint</Application>
  <DocSecurity>0</DocSecurity>
  <PresentationFormat>Breitbild</PresentationFormat>
  <Paragraphs>330</Paragraphs>
  <Slides>23</Slides>
  <Notes>22</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23</vt:i4>
      </vt:variant>
    </vt:vector>
  </HeadingPairs>
  <TitlesOfParts>
    <vt:vector size="28" baseType="lpstr">
      <vt:lpstr>Aptos</vt:lpstr>
      <vt:lpstr>Calibri</vt:lpstr>
      <vt:lpstr>Google Sans</vt:lpstr>
      <vt:lpstr>Symbol</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Kalle Aurich [ROMICO]</cp:lastModifiedBy>
  <cp:revision>78</cp:revision>
  <cp:lastPrinted>2026-07-24T14:10:26Z</cp:lastPrinted>
  <dcterms:created xsi:type="dcterms:W3CDTF">2026-07-20T20:57:51Z</dcterms:created>
  <dcterms:modified xsi:type="dcterms:W3CDTF">2026-07-30T05:59:43Z</dcterms:modified>
</cp:coreProperties>
</file>